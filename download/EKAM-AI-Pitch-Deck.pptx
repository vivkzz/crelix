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EKAM AI. We're an AI platform built by EKAM INNOVATIONS LLP that helps founders launch their sites and scan them for security issues before going live. Today I'll walk you through our three suites — Flow, Pentest, and Search — our architecture, traction, and how we're building the execution layer for AI-powered product launches. The thesis is simple: launching a product should not require a fragmented toolchain, and security should never be an afterthought. We turn a single prompt into a deployed, scannable, shippable product — all inside one workflow. Let's start with the problem we see in the market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clear. Founders today face three major challenges when launching. First, development is slow — building a launch page takes days or weeks, time that should go to user conversations. Second, security is always an afterthought — most pages go live without any scan, and vulnerabilities are found too late. Third, the toolchain is fragmented — founders juggle four or five separate tools for design, copy, code, deploy, and security. Each adds cost, learning curve, and integration headaches. EKAM AI solves all three with a single platform: you prompt, we generate, we deploy, and we scan — before traffic ever arrives. The next slide shows exactly how that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EKAM AI is one platform that solves the entire launch problem. You describe your project in a prompt, and our agent team generates the design, copy, code, and deploys it live. Then, without leaving the workflow, you run a pre-launch security scan with 12 specialist agents covering 11 vulnerability classes. No coding, no DevOps, no waitlist. It's not another AI wrapper — it's the execution layer that orchestrates specialized agents as one coordinated team. The terminal mock on the right shows a typical Flow run: a single prompt, four agents coordinating in sequence, and a live URL in under a minute. From there, Pentest takes over before you announce.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 is our first suite. You describe what you want — a launch page, a SaaS app, a dashboard — and the agent team takes over. The Planner creates the spec, the Designer handles layout and copy, the Engineer generates frontend and backend code, and the Deployer publishes a live URL. The whole process takes about 47 seconds for a launch page. You can iterate with natural language, bring your own domain, and redeploy with one click. No coding required. Flow supports launch pages, full SaaS apps, dashboards, portfolios, and APIs — all from the same prompt interface. SSL and hosting are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Pentest is our second suite. Before you announce your launch, you run a pre-launch security scan. We spawn 12 specialist agents — one per vulnerability class — in parallel. They cover the OWASP Top 10 plus business logic errors, race conditions, and SSRF. Every finding comes with request/response evidence, severity rating, and remediation guidance. It's authorized targets only, and aligned with SOC 2 and GDPR controls. This is not a replacement for a full audit, but it catches the obvious issues before you drive traffic. The card on the right shows a typical scan: one high, two mediums, and three classes clean — all in 12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our third suite, and it's free for all paid users. Before you build anything, you can run market research — audience signals from real forums, competitor maps, pricing research, and three positioning drafts ranked by strength. The output is page-ready: a headline, subhead, and feature bullets you can hand directly to Flow as your starting prompt. It bridges the gap between research and execution. The card on the right shows a typical output: 127 audience sources, 8 competitors mapped, a $4–12 pricing range, and the strongest positioning angle — "Notes that find themselves." That output becomes the seed prompt for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suites form a launch stack. You can start with Search to validate your angle and audience, feed the output to Flow to generate your launch page, deploy with one click, then run Pentest to scan before you announce. The entire workflow happens inside EKAM AI — no tool-switching, no context loss. Each suite can also be used independently. Search is free, Flow is the core product, and Pentest is included on Enterprise plans. We orchestrate frontier models from OpenAI, Anthropic, and Google under the hood, so you get the best of every model without the integration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EKAM AI is not a model. We don't train our own LLM. Instead, we're an execution layer that sits between frontier AI models and running systems. At the bottom, we orchestrate the best models from OpenAI, Anthropic, and Google. In the middle, the EKAM Execution Layer coordinates specialized agents — planner, designer, engineer, tester, deployer, security — as one team. At the top, running systems: deployed pages, apps, and scans that you can actually use. This is what sets us apart. We're not another chatbot wrapper. We're the infrastructure that turns AI intelligence into real business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four steps. First, describe your project — what you're building, who it's for, the angle. Second, add references — screenshots, brand colors, Figma links. The agents match your vision. Third, pair launch and security — create the page, iterate on copy and visuals, then run a pre-launch scan without leaving the EKAM AI workflow. Fourth, go live with one click — publish, redeploy edits, and hand the live URL to Pentest. Hosting is included. The entire process takes an afternoon, not a sprint, and every step happens inside one cohesive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traction speaks for itself. We've shipped over 12,400 pages through Flow. The average time from prompt to live URL is 47 minutes — that includes design, code, and hosting. We've run over 3,200 pre-launch security scans through Pentest. And 99.2% of sites that went through a Pentest scan before launch shipped with zero critical findings. We have a 4.9 out of 5 rating from over 320 founders. These numbers reflect real production usage, not pilot projects, and they grow every week as more founders choose EKAM AI for their public launch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real projects shipped by founders using EKAM AI. Northwind Labs built their launch page and waitlist in an afternoon and got 1,200 signups in the first week. Hushnote — a consumer SaaS — went from prompt to live with auth and billing in 47 minutes. Sentinel Ops ran a Pentest scan before launch, found three high-severity findings, fixed them, and shipped with zero criticals. Mira Health built their marketing site and patient portal, scanned it, and achieved a HIPAA-aligned security posture. Each of these took hours, not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pricing is simple and scales with you. A 14-day free trial gives you full access to every suite with 5 generations — no credit card required. Starter is 29 euros per month for founders shipping one landing page or small MVP, with 75 credits and two team seats. Pro is 99 euros — our most popular plan — with 350 credits, 10 team members, and production deploys. Enterprise is 299 euros and includes all three suites, 1,200 credits, unlimited seats, pre-launch scans, and dedicated support. You can also top up with one-time credit packs at 25, 100, or 400 credits. Monthly credits don't roll over, but one-time packs stay until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set EKAM AI apart. First, we're orchestrated, not chat — multiple specialized agents coordinate as a team across planning, coding, design, testing, and deployment, so you don't have to glue pieces together. Second, structured workflows — every run produces real evidence: deploy logs, scan findings, file diffs, not just prose. Third, real business outcomes — you get a live URL you can share, scan, and iterate on, built for the launch moment, not the demo moment. Fourth, scale from day one — we're built on enterprise patterns from Kubernetes to distributed systems, because startups deserve enterprise-grade infrastructure from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EKAM AI is operated by EKAM INNOVATIONS LLP, a registered entity. We're a team of experienced engineers and entrepreneurs who have shipped products across fintech, AI, and enterprise systems. Our domain is ekamai.in, and you can reach us at contact@ekamai.in or on social at @ekam_ai. We operate with four core values: ship to production, not demos; AI as infrastructure, not a wrapper; trust by default as a registered company with a real team; and enterprise-grade tools for startups from day one. All systems are operational today, and we hold a 4.9 out of 5 rating from over 320 founders who have shipped with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is clear and disciplined. Q1 2026 — that's now — all three suites are live: Flow, Pentest, and Search. Public signup is open and our Discord community is launched. Q2, we're shipping custom integrations, an agency partner program, and advanced Pentest vulnerability classes. Q3, we're adding a mobile app builder through Flow, plus advanced pentest for APIs and staging environments. Q4, we're targeting enterprise features: SSO, SLAs, audit logs, custom onboarding, and dedicated success engineers. We ship every week — check our changelog for the latest.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EKAM AI. One platform, three suites, zero waitlist. You can create your account today at ekamai.in, spin up a launch page with Flow in minutes, run a pre-launch scan with Pentest, and ship — all in one workflow without leaving the platform. If you want to talk to us, email contact@ekamai.in or find us at @ekam_ai on social. We are EKAM INNOVATIONS LLP, a registered entity, and we are building the execution layer for AI-powered product launches. Thank you for your time today — we look forward to seeing what you 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572125" y="-1571625"/>
            <a:ext cx="5143500" cy="5143500"/>
          </a:xfrm>
          <a:prstGeom prst="ellipse">
            <a:avLst/>
          </a:prstGeom>
          <a:solidFill>
            <a:srgbClr val="2F44FF">
              <a:alpha val="9000"/>
            </a:srgbClr>
          </a:solidFill>
          <a:ln/>
        </p:spPr>
        <p:txBody>
          <a:bodyPr wrap="square" rtlCol="0" anchor="ctr"/>
          <a:lstStyle/>
          <a:p>
            <a:pPr indent="0" marL="0">
              <a:buNone/>
            </a:pPr>
            <a:endParaRPr lang="en-US" dirty="0"/>
          </a:p>
        </p:txBody>
      </p:sp>
      <p:sp>
        <p:nvSpPr>
          <p:cNvPr id="4" name="Text 1"/>
          <p:cNvSpPr/>
          <p:nvPr/>
        </p:nvSpPr>
        <p:spPr>
          <a:xfrm>
            <a:off x="-1285875" y="3000375"/>
            <a:ext cx="4000500" cy="4000500"/>
          </a:xfrm>
          <a:prstGeom prst="ellipse">
            <a:avLst/>
          </a:prstGeom>
          <a:solidFill>
            <a:srgbClr val="2F44FF">
              <a:alpha val="10000"/>
            </a:srgbClr>
          </a:solidFill>
          <a:ln/>
        </p:spPr>
        <p:txBody>
          <a:bodyPr wrap="square" rtlCol="0" anchor="ctr"/>
          <a:lstStyle/>
          <a:p>
            <a:pPr indent="0" marL="0">
              <a:buNone/>
            </a:pPr>
            <a:endParaRPr lang="en-US" dirty="0"/>
          </a:p>
        </p:txBody>
      </p:sp>
      <p:sp>
        <p:nvSpPr>
          <p:cNvPr id="5"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6"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01 / 16</a:t>
            </a:r>
            <a:endParaRPr lang="en-US" sz="800" dirty="0"/>
          </a:p>
        </p:txBody>
      </p:sp>
      <p:sp>
        <p:nvSpPr>
          <p:cNvPr id="7" name="Text 4"/>
          <p:cNvSpPr/>
          <p:nvPr/>
        </p:nvSpPr>
        <p:spPr>
          <a:xfrm>
            <a:off x="434340" y="1201413"/>
            <a:ext cx="1438416"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8" name="Text 5"/>
          <p:cNvSpPr/>
          <p:nvPr/>
        </p:nvSpPr>
        <p:spPr>
          <a:xfrm>
            <a:off x="564356" y="1294581"/>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9" name="Text 6"/>
          <p:cNvSpPr/>
          <p:nvPr/>
        </p:nvSpPr>
        <p:spPr>
          <a:xfrm>
            <a:off x="457200" y="1214214"/>
            <a:ext cx="1392696"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EKAM AI — AI PLATFORM</a:t>
            </a:r>
            <a:endParaRPr lang="en-US" sz="800" dirty="0"/>
          </a:p>
        </p:txBody>
      </p:sp>
      <p:sp>
        <p:nvSpPr>
          <p:cNvPr id="10" name="Text 7"/>
          <p:cNvSpPr/>
          <p:nvPr/>
        </p:nvSpPr>
        <p:spPr>
          <a:xfrm>
            <a:off x="457200" y="1632124"/>
            <a:ext cx="6915150" cy="1209607"/>
          </a:xfrm>
          <a:prstGeom prst="rect">
            <a:avLst/>
          </a:prstGeom>
          <a:noFill/>
          <a:ln/>
        </p:spPr>
        <p:txBody>
          <a:bodyPr wrap="none" lIns="0" tIns="0" rIns="0" bIns="0" rtlCol="0" anchor="t"/>
          <a:lstStyle/>
          <a:p>
            <a:pPr algn="l" indent="0" marL="0">
              <a:lnSpc>
                <a:spcPts val="4410"/>
              </a:lnSpc>
              <a:buNone/>
            </a:pPr>
            <a:r>
              <a:rPr lang="en-US" sz="4500" b="1" spc="-157" kern="0" dirty="0">
                <a:solidFill>
                  <a:srgbClr val="F2F1F1"/>
                </a:solidFill>
                <a:latin typeface="Carlito" pitchFamily="34" charset="0"/>
                <a:ea typeface="Carlito" pitchFamily="34" charset="-122"/>
                <a:cs typeface="Carlito" pitchFamily="34" charset="-120"/>
              </a:rPr>
              <a:t>Launch your site.</a:t>
            </a:r>
            <a:endParaRPr lang="en-US" sz="4500" dirty="0"/>
          </a:p>
          <a:p>
            <a:pPr algn="l" indent="0" marL="0">
              <a:lnSpc>
                <a:spcPts val="4410"/>
              </a:lnSpc>
              <a:buNone/>
            </a:pPr>
            <a:r>
              <a:rPr lang="en-US" sz="4500" b="1" spc="-157" kern="0" dirty="0">
                <a:solidFill>
                  <a:srgbClr val="2F44FF"/>
                </a:solidFill>
                <a:latin typeface="Carlito" pitchFamily="34" charset="0"/>
                <a:ea typeface="Carlito" pitchFamily="34" charset="-122"/>
                <a:cs typeface="Carlito" pitchFamily="34" charset="-120"/>
              </a:rPr>
              <a:t>Scan before go-live.</a:t>
            </a:r>
            <a:endParaRPr lang="en-US" sz="4500" dirty="0"/>
          </a:p>
        </p:txBody>
      </p:sp>
      <p:pic>
        <p:nvPicPr>
          <p:cNvPr id="11" name="Image 1" descr="preencoded.png">    </p:cNvPr>
          <p:cNvPicPr>
            <a:picLocks noChangeAspect="1"/>
          </p:cNvPicPr>
          <p:nvPr/>
        </p:nvPicPr>
        <p:blipFill>
          <a:blip r:embed="rId2"/>
          <a:stretch>
            <a:fillRect/>
          </a:stretch>
        </p:blipFill>
        <p:spPr>
          <a:xfrm>
            <a:off x="457200" y="2980730"/>
            <a:ext cx="400050" cy="21431"/>
          </a:xfrm>
          <a:prstGeom prst="rect">
            <a:avLst/>
          </a:prstGeom>
        </p:spPr>
      </p:pic>
      <p:sp>
        <p:nvSpPr>
          <p:cNvPr id="12" name="Text 8"/>
          <p:cNvSpPr/>
          <p:nvPr/>
        </p:nvSpPr>
        <p:spPr>
          <a:xfrm>
            <a:off x="457200" y="3173611"/>
            <a:ext cx="5143500" cy="430366"/>
          </a:xfrm>
          <a:prstGeom prst="rect">
            <a:avLst/>
          </a:prstGeom>
          <a:noFill/>
          <a:ln/>
        </p:spPr>
        <p:txBody>
          <a:bodyPr wrap="square" lIns="0" tIns="0" rIns="0" bIns="0" rtlCol="0" anchor="t"/>
          <a:lstStyle/>
          <a:p>
            <a:pPr algn="l" indent="0" marL="0">
              <a:lnSpc>
                <a:spcPts val="1569"/>
              </a:lnSpc>
              <a:buNone/>
            </a:pPr>
            <a:r>
              <a:rPr lang="en-US" sz="1013" dirty="0">
                <a:solidFill>
                  <a:srgbClr val="F2F1F1">
                    <a:alpha val="60000"/>
                  </a:srgbClr>
                </a:solidFill>
                <a:latin typeface="Carlito" pitchFamily="34" charset="0"/>
                <a:ea typeface="Carlito" pitchFamily="34" charset="-122"/>
                <a:cs typeface="Carlito" pitchFamily="34" charset="-120"/>
              </a:rPr>
              <a:t>The AI platform that turns a prompt into a deployed launch page — then runs an authorized pre-launch security scan.</a:t>
            </a:r>
            <a:endParaRPr lang="en-US" sz="1013" dirty="0"/>
          </a:p>
        </p:txBody>
      </p:sp>
      <p:sp>
        <p:nvSpPr>
          <p:cNvPr id="13" name="Text 9"/>
          <p:cNvSpPr/>
          <p:nvPr/>
        </p:nvSpPr>
        <p:spPr>
          <a:xfrm>
            <a:off x="457200" y="3972148"/>
            <a:ext cx="1357458" cy="164592"/>
          </a:xfrm>
          <a:prstGeom prst="rect">
            <a:avLst/>
          </a:prstGeom>
          <a:noFill/>
          <a:ln/>
        </p:spPr>
        <p:txBody>
          <a:bodyPr wrap="none" lIns="0" tIns="0" rIns="0" bIns="0" rtlCol="0" anchor="t"/>
          <a:lstStyle/>
          <a:p>
            <a:pPr algn="l" indent="0" marL="0">
              <a:lnSpc>
                <a:spcPts val="1013"/>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EKAM INNOVATIONS LLP</a:t>
            </a:r>
            <a:endParaRPr lang="en-US" sz="800" dirty="0"/>
          </a:p>
        </p:txBody>
      </p:sp>
      <p:sp>
        <p:nvSpPr>
          <p:cNvPr id="14" name="Text 10"/>
          <p:cNvSpPr/>
          <p:nvPr/>
        </p:nvSpPr>
        <p:spPr>
          <a:xfrm>
            <a:off x="1675209" y="3972148"/>
            <a:ext cx="105928" cy="164592"/>
          </a:xfrm>
          <a:prstGeom prst="rect">
            <a:avLst/>
          </a:prstGeom>
          <a:noFill/>
          <a:ln/>
        </p:spPr>
        <p:txBody>
          <a:bodyPr wrap="none" lIns="0" tIns="0" rIns="0" bIns="0" rtlCol="0" anchor="t"/>
          <a:lstStyle/>
          <a:p>
            <a:pPr algn="l" indent="0" marL="0">
              <a:lnSpc>
                <a:spcPts val="1013"/>
              </a:lnSpc>
              <a:buNone/>
            </a:pPr>
            <a:r>
              <a:rPr lang="en-US" sz="800" spc="34" kern="0" dirty="0">
                <a:solidFill>
                  <a:srgbClr val="F2F1F1">
                    <a:alpha val="40000"/>
                  </a:srgbClr>
                </a:solidFill>
                <a:latin typeface="Courier New" pitchFamily="34" charset="0"/>
                <a:ea typeface="Courier New" pitchFamily="34" charset="-122"/>
                <a:cs typeface="Courier New" pitchFamily="34" charset="-120"/>
              </a:rPr>
              <a:t>·</a:t>
            </a:r>
            <a:endParaRPr lang="en-US" sz="800" dirty="0"/>
          </a:p>
        </p:txBody>
      </p:sp>
      <p:sp>
        <p:nvSpPr>
          <p:cNvPr id="15" name="Text 11"/>
          <p:cNvSpPr/>
          <p:nvPr/>
        </p:nvSpPr>
        <p:spPr>
          <a:xfrm>
            <a:off x="1831144" y="3972148"/>
            <a:ext cx="4912556" cy="164592"/>
          </a:xfrm>
          <a:prstGeom prst="rect">
            <a:avLst/>
          </a:prstGeom>
          <a:noFill/>
          <a:ln/>
        </p:spPr>
        <p:txBody>
          <a:bodyPr wrap="none" lIns="0" tIns="0" rIns="0" bIns="0" rtlCol="0" anchor="t"/>
          <a:lstStyle/>
          <a:p>
            <a:pPr algn="l" indent="0" marL="0">
              <a:lnSpc>
                <a:spcPts val="1013"/>
              </a:lnSpc>
              <a:buNone/>
            </a:pPr>
            <a:r>
              <a:rPr lang="en-US" sz="800" spc="34" kern="0" dirty="0">
                <a:solidFill>
                  <a:srgbClr val="91E500"/>
                </a:solidFill>
                <a:latin typeface="Courier New" pitchFamily="34" charset="0"/>
                <a:ea typeface="Courier New" pitchFamily="34" charset="-122"/>
                <a:cs typeface="Courier New" pitchFamily="34" charset="-120"/>
              </a:rPr>
              <a:t>EKAMAI.IN</a:t>
            </a:r>
            <a:endParaRPr lang="en-US" sz="800" dirty="0"/>
          </a:p>
        </p:txBody>
      </p:sp>
      <p:sp>
        <p:nvSpPr>
          <p:cNvPr id="16" name="Text 12"/>
          <p:cNvSpPr/>
          <p:nvPr/>
        </p:nvSpPr>
        <p:spPr>
          <a:xfrm>
            <a:off x="457200" y="4797028"/>
            <a:ext cx="1124261"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F2F1F1">
                    <a:alpha val="40000"/>
                  </a:srgbClr>
                </a:solidFill>
                <a:latin typeface="Liberation Sans Narrow" pitchFamily="34" charset="0"/>
                <a:ea typeface="Liberation Sans Narrow" pitchFamily="34" charset="-122"/>
                <a:cs typeface="Liberation Sans Narrow" pitchFamily="34" charset="-120"/>
              </a:rPr>
              <a:t>PITCH DECK ·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7000875" y="-1428750"/>
            <a:ext cx="4000500" cy="4000500"/>
          </a:xfrm>
          <a:prstGeom prst="ellipse">
            <a:avLst/>
          </a:prstGeom>
          <a:solidFill>
            <a:srgbClr val="FF5722">
              <a:alpha val="6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02 / 16</a:t>
            </a:r>
            <a:endParaRPr lang="en-US" sz="800" dirty="0"/>
          </a:p>
        </p:txBody>
      </p:sp>
      <p:sp>
        <p:nvSpPr>
          <p:cNvPr id="5" name="Text 3"/>
          <p:cNvSpPr/>
          <p:nvPr/>
        </p:nvSpPr>
        <p:spPr>
          <a:xfrm>
            <a:off x="434340" y="672998"/>
            <a:ext cx="1026758"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707231" y="750094"/>
            <a:ext cx="623850" cy="91440"/>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THE PROBLEM</a:t>
            </a:r>
            <a:endParaRPr lang="en-US" sz="800" dirty="0"/>
          </a:p>
        </p:txBody>
      </p:sp>
      <p:sp>
        <p:nvSpPr>
          <p:cNvPr id="7" name="Text 5"/>
          <p:cNvSpPr/>
          <p:nvPr/>
        </p:nvSpPr>
        <p:spPr>
          <a:xfrm>
            <a:off x="564356" y="744736"/>
            <a:ext cx="100013" cy="100013"/>
          </a:xfrm>
          <a:prstGeom prst="rect">
            <a:avLst/>
          </a:prstGeom>
          <a:noFill/>
          <a:ln/>
        </p:spPr>
        <p:txBody>
          <a:bodyPr wrap="none" lIns="0" tIns="0" rIns="0" bIns="0" rtlCol="0" anchor="ctr"/>
          <a:lstStyle/>
          <a:p>
            <a:pPr algn="ctr" indent="0" marL="0">
              <a:buNone/>
            </a:pPr>
            <a:r>
              <a:rPr lang="en-US" sz="984" dirty="0">
                <a:solidFill>
                  <a:srgbClr val="FF6B6B"/>
                </a:solidFill>
                <a:latin typeface="Segoe UI Symbol" pitchFamily="34" charset="0"/>
                <a:ea typeface="Segoe UI Symbol" pitchFamily="34" charset="-122"/>
                <a:cs typeface="Segoe UI Symbol" pitchFamily="34" charset="-120"/>
              </a:rPr>
              <a:t>⊗</a:t>
            </a:r>
            <a:endParaRPr lang="en-US" sz="984" dirty="0"/>
          </a:p>
        </p:txBody>
      </p:sp>
      <p:sp>
        <p:nvSpPr>
          <p:cNvPr id="8" name="Text 6"/>
          <p:cNvSpPr/>
          <p:nvPr/>
        </p:nvSpPr>
        <p:spPr>
          <a:xfrm>
            <a:off x="457200" y="1046559"/>
            <a:ext cx="6286500" cy="339471"/>
          </a:xfrm>
          <a:prstGeom prst="rect">
            <a:avLst/>
          </a:prstGeom>
          <a:noFill/>
          <a:ln/>
        </p:spPr>
        <p:txBody>
          <a:bodyPr wrap="square" lIns="0" tIns="0" rIns="0" bIns="0" rtlCol="0" anchor="t"/>
          <a:lstStyle/>
          <a:p>
            <a:pPr algn="l" indent="0" marL="0">
              <a:lnSpc>
                <a:spcPts val="2475"/>
              </a:lnSpc>
              <a:buNone/>
            </a:pPr>
            <a:r>
              <a:rPr lang="en-US" sz="2250" b="1" spc="-45" kern="0" dirty="0">
                <a:solidFill>
                  <a:srgbClr val="F2F1F1"/>
                </a:solidFill>
                <a:latin typeface="Carlito" pitchFamily="34" charset="0"/>
                <a:ea typeface="Carlito" pitchFamily="34" charset="-122"/>
                <a:cs typeface="Carlito" pitchFamily="34" charset="-120"/>
              </a:rPr>
              <a:t>Launching is slow. </a:t>
            </a:r>
            <a:pPr algn="l" indent="0" marL="0">
              <a:lnSpc>
                <a:spcPts val="2475"/>
              </a:lnSpc>
              <a:buNone/>
            </a:pPr>
            <a:r>
              <a:rPr lang="en-US" sz="2250" b="1" spc="-45" kern="0" dirty="0">
                <a:solidFill>
                  <a:srgbClr val="F2F1F1">
                    <a:alpha val="60000"/>
                  </a:srgbClr>
                </a:solidFill>
                <a:latin typeface="Carlito" pitchFamily="34" charset="0"/>
                <a:ea typeface="Carlito" pitchFamily="34" charset="-122"/>
                <a:cs typeface="Carlito" pitchFamily="34" charset="-120"/>
              </a:rPr>
              <a:t>Security is an afterthought.</a:t>
            </a:r>
            <a:endParaRPr lang="en-US" sz="2250" dirty="0"/>
          </a:p>
        </p:txBody>
      </p:sp>
      <p:sp>
        <p:nvSpPr>
          <p:cNvPr id="9" name="Text 7"/>
          <p:cNvSpPr/>
          <p:nvPr/>
        </p:nvSpPr>
        <p:spPr>
          <a:xfrm>
            <a:off x="457200" y="1460897"/>
            <a:ext cx="4857750" cy="347186"/>
          </a:xfrm>
          <a:prstGeom prst="rect">
            <a:avLst/>
          </a:prstGeom>
          <a:noFill/>
          <a:ln/>
        </p:spPr>
        <p:txBody>
          <a:bodyPr wrap="square" lIns="0" tIns="0" rIns="0" bIns="0" rtlCol="0" anchor="t"/>
          <a:lstStyle/>
          <a:p>
            <a:pPr algn="l" indent="0" marL="0">
              <a:lnSpc>
                <a:spcPts val="1266"/>
              </a:lnSpc>
              <a:buNone/>
            </a:pPr>
            <a:r>
              <a:rPr lang="en-US" sz="844" dirty="0">
                <a:solidFill>
                  <a:srgbClr val="F2F1F1">
                    <a:alpha val="60000"/>
                  </a:srgbClr>
                </a:solidFill>
                <a:latin typeface="Carlito" pitchFamily="34" charset="0"/>
                <a:ea typeface="Carlito" pitchFamily="34" charset="-122"/>
                <a:cs typeface="Carlito" pitchFamily="34" charset="-120"/>
              </a:rPr>
              <a:t>Founders ship late, ship insecure, and stitch together a stack that was never designed to work together.</a:t>
            </a:r>
            <a:endParaRPr lang="en-US" sz="844" dirty="0"/>
          </a:p>
        </p:txBody>
      </p:sp>
      <p:sp>
        <p:nvSpPr>
          <p:cNvPr id="10" name="Text 8"/>
          <p:cNvSpPr/>
          <p:nvPr/>
        </p:nvSpPr>
        <p:spPr>
          <a:xfrm>
            <a:off x="460772" y="2043113"/>
            <a:ext cx="2631244" cy="1673535"/>
          </a:xfrm>
          <a:prstGeom prst="roundRect">
            <a:avLst>
              <a:gd name="adj" fmla="val 1024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1" name="Text 9"/>
          <p:cNvSpPr/>
          <p:nvPr/>
        </p:nvSpPr>
        <p:spPr>
          <a:xfrm>
            <a:off x="2771440" y="2218134"/>
            <a:ext cx="116979"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F2F1F1">
                    <a:alpha val="40000"/>
                  </a:srgbClr>
                </a:solidFill>
                <a:latin typeface="Liberation Sans Narrow" pitchFamily="34" charset="0"/>
                <a:ea typeface="Liberation Sans Narrow" pitchFamily="34" charset="-122"/>
                <a:cs typeface="Liberation Sans Narrow" pitchFamily="34" charset="-120"/>
              </a:rPr>
              <a:t>01</a:t>
            </a:r>
            <a:endParaRPr lang="en-US" sz="800" dirty="0"/>
          </a:p>
        </p:txBody>
      </p:sp>
      <p:sp>
        <p:nvSpPr>
          <p:cNvPr id="12" name="Text 10"/>
          <p:cNvSpPr/>
          <p:nvPr/>
        </p:nvSpPr>
        <p:spPr>
          <a:xfrm>
            <a:off x="667941" y="2250281"/>
            <a:ext cx="392906" cy="392906"/>
          </a:xfrm>
          <a:prstGeom prst="roundRect">
            <a:avLst>
              <a:gd name="adj" fmla="val 33939"/>
            </a:avLst>
          </a:prstGeom>
          <a:solidFill>
            <a:srgbClr val="FF6B3D">
              <a:alpha val="12000"/>
            </a:srgbClr>
          </a:solidFill>
          <a:ln w="7144">
            <a:solidFill>
              <a:srgbClr val="FFFFFF"/>
            </a:solidFill>
            <a:prstDash val="solid"/>
          </a:ln>
        </p:spPr>
        <p:txBody>
          <a:bodyPr wrap="square" rtlCol="0" anchor="ctr"/>
          <a:lstStyle/>
          <a:p>
            <a:pPr indent="0" marL="0">
              <a:buNone/>
            </a:pPr>
            <a:endParaRPr lang="en-US" dirty="0"/>
          </a:p>
        </p:txBody>
      </p:sp>
      <p:sp>
        <p:nvSpPr>
          <p:cNvPr id="13" name="Text 11"/>
          <p:cNvSpPr/>
          <p:nvPr/>
        </p:nvSpPr>
        <p:spPr>
          <a:xfrm>
            <a:off x="740093" y="2322433"/>
            <a:ext cx="248602" cy="248602"/>
          </a:xfrm>
          <a:prstGeom prst="rect">
            <a:avLst/>
          </a:prstGeom>
          <a:noFill/>
          <a:ln/>
        </p:spPr>
        <p:txBody>
          <a:bodyPr wrap="none" lIns="0" tIns="0" rIns="0" bIns="0" rtlCol="0" anchor="ctr"/>
          <a:lstStyle/>
          <a:p>
            <a:pPr algn="ctr" indent="0" marL="0">
              <a:buNone/>
            </a:pPr>
            <a:r>
              <a:rPr lang="en-US" sz="1688" dirty="0">
                <a:solidFill>
                  <a:srgbClr val="FF8A5C"/>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664369" y="2789634"/>
            <a:ext cx="2224050" cy="219885"/>
          </a:xfrm>
          <a:prstGeom prst="rect">
            <a:avLst/>
          </a:prstGeom>
          <a:noFill/>
          <a:ln/>
        </p:spPr>
        <p:txBody>
          <a:bodyPr wrap="none" lIns="0" tIns="0" rIns="0" bIns="0" rtlCol="0" anchor="t"/>
          <a:lstStyle/>
          <a:p>
            <a:pPr algn="l" indent="0" marL="0">
              <a:lnSpc>
                <a:spcPts val="1603"/>
              </a:lnSpc>
              <a:buNone/>
            </a:pPr>
            <a:r>
              <a:rPr lang="en-US" sz="1069" spc="-11" kern="0" dirty="0">
                <a:solidFill>
                  <a:srgbClr val="F2F1F1"/>
                </a:solidFill>
                <a:latin typeface="Carlito" pitchFamily="34" charset="0"/>
                <a:ea typeface="Carlito" pitchFamily="34" charset="-122"/>
                <a:cs typeface="Carlito" pitchFamily="34" charset="-120"/>
              </a:rPr>
              <a:t>Slow Development</a:t>
            </a:r>
            <a:endParaRPr lang="en-US" sz="1069" dirty="0"/>
          </a:p>
        </p:txBody>
      </p:sp>
      <p:sp>
        <p:nvSpPr>
          <p:cNvPr id="15" name="Text 13"/>
          <p:cNvSpPr/>
          <p:nvPr/>
        </p:nvSpPr>
        <p:spPr>
          <a:xfrm>
            <a:off x="664369" y="3064669"/>
            <a:ext cx="2224050" cy="448382"/>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Building a launch page takes days to weeks. Founders waste time on setup, design, copy, and deployment instead of talking to users.</a:t>
            </a:r>
            <a:endParaRPr lang="en-US" sz="800" dirty="0"/>
          </a:p>
        </p:txBody>
      </p:sp>
      <p:sp>
        <p:nvSpPr>
          <p:cNvPr id="16" name="Text 14"/>
          <p:cNvSpPr/>
          <p:nvPr/>
        </p:nvSpPr>
        <p:spPr>
          <a:xfrm>
            <a:off x="3256322" y="2043113"/>
            <a:ext cx="2631244" cy="1673535"/>
          </a:xfrm>
          <a:prstGeom prst="roundRect">
            <a:avLst>
              <a:gd name="adj" fmla="val 1024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7" name="Text 15"/>
          <p:cNvSpPr/>
          <p:nvPr/>
        </p:nvSpPr>
        <p:spPr>
          <a:xfrm>
            <a:off x="5566990" y="2218134"/>
            <a:ext cx="116979"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F2F1F1">
                    <a:alpha val="40000"/>
                  </a:srgbClr>
                </a:solidFill>
                <a:latin typeface="Liberation Sans Narrow" pitchFamily="34" charset="0"/>
                <a:ea typeface="Liberation Sans Narrow" pitchFamily="34" charset="-122"/>
                <a:cs typeface="Liberation Sans Narrow" pitchFamily="34" charset="-120"/>
              </a:rPr>
              <a:t>02</a:t>
            </a:r>
            <a:endParaRPr lang="en-US" sz="800" dirty="0"/>
          </a:p>
        </p:txBody>
      </p:sp>
      <p:sp>
        <p:nvSpPr>
          <p:cNvPr id="18" name="Text 16"/>
          <p:cNvSpPr/>
          <p:nvPr/>
        </p:nvSpPr>
        <p:spPr>
          <a:xfrm>
            <a:off x="3463491" y="2250281"/>
            <a:ext cx="392906" cy="392906"/>
          </a:xfrm>
          <a:prstGeom prst="roundRect">
            <a:avLst>
              <a:gd name="adj" fmla="val 33939"/>
            </a:avLst>
          </a:prstGeom>
          <a:solidFill>
            <a:srgbClr val="DF3B3B">
              <a:alpha val="12000"/>
            </a:srgbClr>
          </a:solidFill>
          <a:ln w="7144">
            <a:solidFill>
              <a:srgbClr val="FFFFFF"/>
            </a:solidFill>
            <a:prstDash val="solid"/>
          </a:ln>
        </p:spPr>
        <p:txBody>
          <a:bodyPr wrap="square" rtlCol="0" anchor="ctr"/>
          <a:lstStyle/>
          <a:p>
            <a:pPr indent="0" marL="0">
              <a:buNone/>
            </a:pPr>
            <a:endParaRPr lang="en-US" dirty="0"/>
          </a:p>
        </p:txBody>
      </p:sp>
      <p:sp>
        <p:nvSpPr>
          <p:cNvPr id="19" name="Text 17"/>
          <p:cNvSpPr/>
          <p:nvPr/>
        </p:nvSpPr>
        <p:spPr>
          <a:xfrm>
            <a:off x="3535643" y="2322433"/>
            <a:ext cx="248602" cy="248602"/>
          </a:xfrm>
          <a:prstGeom prst="rect">
            <a:avLst/>
          </a:prstGeom>
          <a:noFill/>
          <a:ln/>
        </p:spPr>
        <p:txBody>
          <a:bodyPr wrap="none" lIns="0" tIns="0" rIns="0" bIns="0" rtlCol="0" anchor="ctr"/>
          <a:lstStyle/>
          <a:p>
            <a:pPr algn="ctr" indent="0" marL="0">
              <a:buNone/>
            </a:pPr>
            <a:r>
              <a:rPr lang="en-US" sz="1688" dirty="0">
                <a:solidFill>
                  <a:srgbClr val="FF6B6B"/>
                </a:solidFill>
                <a:latin typeface="Segoe UI Symbol" pitchFamily="34" charset="0"/>
                <a:ea typeface="Segoe UI Symbol" pitchFamily="34" charset="-122"/>
                <a:cs typeface="Segoe UI Symbol" pitchFamily="34" charset="-120"/>
              </a:rPr>
              <a:t>⛨</a:t>
            </a:r>
            <a:endParaRPr lang="en-US" sz="1688" dirty="0"/>
          </a:p>
        </p:txBody>
      </p:sp>
      <p:sp>
        <p:nvSpPr>
          <p:cNvPr id="20" name="Text 18"/>
          <p:cNvSpPr/>
          <p:nvPr/>
        </p:nvSpPr>
        <p:spPr>
          <a:xfrm>
            <a:off x="3459919" y="2789634"/>
            <a:ext cx="2224050" cy="219885"/>
          </a:xfrm>
          <a:prstGeom prst="rect">
            <a:avLst/>
          </a:prstGeom>
          <a:noFill/>
          <a:ln/>
        </p:spPr>
        <p:txBody>
          <a:bodyPr wrap="none" lIns="0" tIns="0" rIns="0" bIns="0" rtlCol="0" anchor="t"/>
          <a:lstStyle/>
          <a:p>
            <a:pPr algn="l" indent="0" marL="0">
              <a:lnSpc>
                <a:spcPts val="1603"/>
              </a:lnSpc>
              <a:buNone/>
            </a:pPr>
            <a:r>
              <a:rPr lang="en-US" sz="1069" spc="-11" kern="0" dirty="0">
                <a:solidFill>
                  <a:srgbClr val="F2F1F1"/>
                </a:solidFill>
                <a:latin typeface="Carlito" pitchFamily="34" charset="0"/>
                <a:ea typeface="Carlito" pitchFamily="34" charset="-122"/>
                <a:cs typeface="Carlito" pitchFamily="34" charset="-120"/>
              </a:rPr>
              <a:t>Security Blind Spots</a:t>
            </a:r>
            <a:endParaRPr lang="en-US" sz="1069" dirty="0"/>
          </a:p>
        </p:txBody>
      </p:sp>
      <p:sp>
        <p:nvSpPr>
          <p:cNvPr id="21" name="Text 19"/>
          <p:cNvSpPr/>
          <p:nvPr/>
        </p:nvSpPr>
        <p:spPr>
          <a:xfrm>
            <a:off x="3459919" y="3064669"/>
            <a:ext cx="2224050" cy="448382"/>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Most launch pages go live without a security scan. Vulnerabilities are discovered after traffic arrives — too late to prevent damage.</a:t>
            </a:r>
            <a:endParaRPr lang="en-US" sz="800" dirty="0"/>
          </a:p>
        </p:txBody>
      </p:sp>
      <p:sp>
        <p:nvSpPr>
          <p:cNvPr id="22" name="Text 20"/>
          <p:cNvSpPr/>
          <p:nvPr/>
        </p:nvSpPr>
        <p:spPr>
          <a:xfrm>
            <a:off x="6051872" y="2043113"/>
            <a:ext cx="2631356" cy="1673535"/>
          </a:xfrm>
          <a:prstGeom prst="roundRect">
            <a:avLst>
              <a:gd name="adj" fmla="val 1024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3" name="Text 21"/>
          <p:cNvSpPr/>
          <p:nvPr/>
        </p:nvSpPr>
        <p:spPr>
          <a:xfrm>
            <a:off x="8362652" y="2218134"/>
            <a:ext cx="116979" cy="164592"/>
          </a:xfrm>
          <a:prstGeom prst="rect">
            <a:avLst/>
          </a:prstGeom>
          <a:noFill/>
          <a:ln/>
        </p:spPr>
        <p:txBody>
          <a:bodyPr wrap="none" lIns="0" tIns="0" rIns="0" bIns="0" rtlCol="0" anchor="t"/>
          <a:lstStyle/>
          <a:p>
            <a:pPr algn="l" indent="0" marL="0">
              <a:lnSpc>
                <a:spcPts val="1013"/>
              </a:lnSpc>
              <a:buNone/>
            </a:pPr>
            <a:r>
              <a:rPr lang="en-US" sz="800" spc="54" kern="0" dirty="0">
                <a:solidFill>
                  <a:srgbClr val="F2F1F1">
                    <a:alpha val="40000"/>
                  </a:srgbClr>
                </a:solidFill>
                <a:latin typeface="Liberation Sans Narrow" pitchFamily="34" charset="0"/>
                <a:ea typeface="Liberation Sans Narrow" pitchFamily="34" charset="-122"/>
                <a:cs typeface="Liberation Sans Narrow" pitchFamily="34" charset="-120"/>
              </a:rPr>
              <a:t>03</a:t>
            </a:r>
            <a:endParaRPr lang="en-US" sz="800" dirty="0"/>
          </a:p>
        </p:txBody>
      </p:sp>
      <p:sp>
        <p:nvSpPr>
          <p:cNvPr id="24" name="Text 22"/>
          <p:cNvSpPr/>
          <p:nvPr/>
        </p:nvSpPr>
        <p:spPr>
          <a:xfrm>
            <a:off x="6259041" y="2250281"/>
            <a:ext cx="392906" cy="392906"/>
          </a:xfrm>
          <a:prstGeom prst="roundRect">
            <a:avLst>
              <a:gd name="adj" fmla="val 33939"/>
            </a:avLst>
          </a:prstGeom>
          <a:solidFill>
            <a:srgbClr val="FF9D2E">
              <a:alpha val="12000"/>
            </a:srgbClr>
          </a:solidFill>
          <a:ln w="7144">
            <a:solidFill>
              <a:srgbClr val="FFFFFF"/>
            </a:solidFill>
            <a:prstDash val="solid"/>
          </a:ln>
        </p:spPr>
        <p:txBody>
          <a:bodyPr wrap="square" rtlCol="0" anchor="ctr"/>
          <a:lstStyle/>
          <a:p>
            <a:pPr indent="0" marL="0">
              <a:buNone/>
            </a:pPr>
            <a:endParaRPr lang="en-US" dirty="0"/>
          </a:p>
        </p:txBody>
      </p:sp>
      <p:sp>
        <p:nvSpPr>
          <p:cNvPr id="25" name="Text 23"/>
          <p:cNvSpPr/>
          <p:nvPr/>
        </p:nvSpPr>
        <p:spPr>
          <a:xfrm>
            <a:off x="6331193" y="2322433"/>
            <a:ext cx="248602" cy="248602"/>
          </a:xfrm>
          <a:prstGeom prst="rect">
            <a:avLst/>
          </a:prstGeom>
          <a:noFill/>
          <a:ln/>
        </p:spPr>
        <p:txBody>
          <a:bodyPr wrap="none" lIns="0" tIns="0" rIns="0" bIns="0" rtlCol="0" anchor="ctr"/>
          <a:lstStyle/>
          <a:p>
            <a:pPr algn="ctr" indent="0" marL="0">
              <a:buNone/>
            </a:pPr>
            <a:r>
              <a:rPr lang="en-US" sz="1688" dirty="0">
                <a:solidFill>
                  <a:srgbClr val="FFB35C"/>
                </a:solidFill>
                <a:latin typeface="Segoe UI Symbol" pitchFamily="34" charset="0"/>
                <a:ea typeface="Segoe UI Symbol" pitchFamily="34" charset="-122"/>
                <a:cs typeface="Segoe UI Symbol" pitchFamily="34" charset="-120"/>
              </a:rPr>
              <a:t>✦</a:t>
            </a:r>
            <a:endParaRPr lang="en-US" sz="1688" dirty="0"/>
          </a:p>
        </p:txBody>
      </p:sp>
      <p:sp>
        <p:nvSpPr>
          <p:cNvPr id="26" name="Text 24"/>
          <p:cNvSpPr/>
          <p:nvPr/>
        </p:nvSpPr>
        <p:spPr>
          <a:xfrm>
            <a:off x="6255469" y="2789634"/>
            <a:ext cx="2224162" cy="219885"/>
          </a:xfrm>
          <a:prstGeom prst="rect">
            <a:avLst/>
          </a:prstGeom>
          <a:noFill/>
          <a:ln/>
        </p:spPr>
        <p:txBody>
          <a:bodyPr wrap="none" lIns="0" tIns="0" rIns="0" bIns="0" rtlCol="0" anchor="t"/>
          <a:lstStyle/>
          <a:p>
            <a:pPr algn="l" indent="0" marL="0">
              <a:lnSpc>
                <a:spcPts val="1603"/>
              </a:lnSpc>
              <a:buNone/>
            </a:pPr>
            <a:r>
              <a:rPr lang="en-US" sz="1069" spc="-11" kern="0" dirty="0">
                <a:solidFill>
                  <a:srgbClr val="F2F1F1"/>
                </a:solidFill>
                <a:latin typeface="Carlito" pitchFamily="34" charset="0"/>
                <a:ea typeface="Carlito" pitchFamily="34" charset="-122"/>
                <a:cs typeface="Carlito" pitchFamily="34" charset="-120"/>
              </a:rPr>
              <a:t>Fragmented Tools</a:t>
            </a:r>
            <a:endParaRPr lang="en-US" sz="1069" dirty="0"/>
          </a:p>
        </p:txBody>
      </p:sp>
      <p:sp>
        <p:nvSpPr>
          <p:cNvPr id="27" name="Text 25"/>
          <p:cNvSpPr/>
          <p:nvPr/>
        </p:nvSpPr>
        <p:spPr>
          <a:xfrm>
            <a:off x="6255469" y="3064669"/>
            <a:ext cx="2224162" cy="448382"/>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Founders juggle 4–5 tools: design, copy, code, deploy, security. Each has its own learning curve, cost, and integration headaches.</a:t>
            </a:r>
            <a:endParaRPr lang="en-US" sz="800" dirty="0"/>
          </a:p>
        </p:txBody>
      </p:sp>
      <p:sp>
        <p:nvSpPr>
          <p:cNvPr id="28" name="Text 26"/>
          <p:cNvSpPr/>
          <p:nvPr/>
        </p:nvSpPr>
        <p:spPr>
          <a:xfrm>
            <a:off x="457200" y="4552355"/>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29" name="Text 27"/>
          <p:cNvSpPr/>
          <p:nvPr/>
        </p:nvSpPr>
        <p:spPr>
          <a:xfrm>
            <a:off x="700088" y="4546997"/>
            <a:ext cx="7986713" cy="164592"/>
          </a:xfrm>
          <a:prstGeom prst="rect">
            <a:avLst/>
          </a:prstGeom>
          <a:noFill/>
          <a:ln/>
        </p:spPr>
        <p:txBody>
          <a:bodyPr wrap="square" lIns="0" tIns="0" rIns="0" bIns="0" rtlCol="0" anchor="t"/>
          <a:lstStyle/>
          <a:p>
            <a:pPr algn="l" indent="0" marL="0">
              <a:lnSpc>
                <a:spcPts val="1097"/>
              </a:lnSpc>
              <a:buNone/>
            </a:pPr>
            <a:r>
              <a:rPr lang="en-US" sz="800" spc="29" kern="0" dirty="0">
                <a:solidFill>
                  <a:srgbClr val="F2F1F1">
                    <a:alpha val="60000"/>
                  </a:srgbClr>
                </a:solidFill>
                <a:latin typeface="Courier New" pitchFamily="34" charset="0"/>
                <a:ea typeface="Courier New" pitchFamily="34" charset="-122"/>
                <a:cs typeface="Courier New" pitchFamily="34" charset="-120"/>
              </a:rPr>
              <a:t>EKAM AI collapses all three into one prompt-to-deployed workflow — with a pre-launch scan built in.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1428750" y="3000375"/>
            <a:ext cx="3714750" cy="3714750"/>
          </a:xfrm>
          <a:prstGeom prst="ellipse">
            <a:avLst/>
          </a:prstGeom>
          <a:solidFill>
            <a:srgbClr val="12BCFF">
              <a:alpha val="6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03 / 16</a:t>
            </a:r>
            <a:endParaRPr lang="en-US" sz="800" dirty="0"/>
          </a:p>
        </p:txBody>
      </p:sp>
      <p:sp>
        <p:nvSpPr>
          <p:cNvPr id="5" name="Text 3"/>
          <p:cNvSpPr/>
          <p:nvPr/>
        </p:nvSpPr>
        <p:spPr>
          <a:xfrm>
            <a:off x="434340" y="962209"/>
            <a:ext cx="1001643"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105537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975010"/>
            <a:ext cx="955923"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THE SOLUTION</a:t>
            </a:r>
            <a:endParaRPr lang="en-US" sz="800" dirty="0"/>
          </a:p>
        </p:txBody>
      </p:sp>
      <p:sp>
        <p:nvSpPr>
          <p:cNvPr id="8" name="Text 6"/>
          <p:cNvSpPr/>
          <p:nvPr/>
        </p:nvSpPr>
        <p:spPr>
          <a:xfrm>
            <a:off x="457200" y="1321482"/>
            <a:ext cx="5431438" cy="666405"/>
          </a:xfrm>
          <a:prstGeom prst="rect">
            <a:avLst/>
          </a:prstGeom>
          <a:noFill/>
          <a:ln/>
        </p:spPr>
        <p:txBody>
          <a:bodyPr wrap="none" lIns="0" tIns="0" rIns="0" bIns="0" rtlCol="0" anchor="t"/>
          <a:lstStyle/>
          <a:p>
            <a:pPr algn="l" indent="0" marL="0">
              <a:lnSpc>
                <a:spcPts val="2430"/>
              </a:lnSpc>
              <a:buNone/>
            </a:pPr>
            <a:r>
              <a:rPr lang="en-US" sz="2250" b="1" spc="-56" kern="0" dirty="0">
                <a:solidFill>
                  <a:srgbClr val="F2F1F1"/>
                </a:solidFill>
                <a:latin typeface="Carlito" pitchFamily="34" charset="0"/>
                <a:ea typeface="Carlito" pitchFamily="34" charset="-122"/>
                <a:cs typeface="Carlito" pitchFamily="34" charset="-120"/>
              </a:rPr>
              <a:t>One platform. Prompt to live.</a:t>
            </a:r>
            <a:endParaRPr lang="en-US" sz="2250" dirty="0"/>
          </a:p>
          <a:p>
            <a:pPr algn="l" indent="0" marL="0">
              <a:lnSpc>
                <a:spcPts val="2430"/>
              </a:lnSpc>
              <a:buNone/>
            </a:pPr>
            <a:r>
              <a:rPr lang="en-US" sz="2250" b="1" spc="-56" kern="0" dirty="0">
                <a:solidFill>
                  <a:srgbClr val="2F44FF"/>
                </a:solidFill>
                <a:latin typeface="Carlito" pitchFamily="34" charset="0"/>
                <a:ea typeface="Carlito" pitchFamily="34" charset="-122"/>
                <a:cs typeface="Carlito" pitchFamily="34" charset="-120"/>
              </a:rPr>
              <a:t>Scan before go-live.</a:t>
            </a:r>
            <a:endParaRPr lang="en-US" sz="2250" dirty="0"/>
          </a:p>
        </p:txBody>
      </p:sp>
      <p:sp>
        <p:nvSpPr>
          <p:cNvPr id="9" name="Text 7"/>
          <p:cNvSpPr/>
          <p:nvPr/>
        </p:nvSpPr>
        <p:spPr>
          <a:xfrm>
            <a:off x="457200" y="2067111"/>
            <a:ext cx="4286250" cy="573942"/>
          </a:xfrm>
          <a:prstGeom prst="rect">
            <a:avLst/>
          </a:prstGeom>
          <a:noFill/>
          <a:ln/>
        </p:spPr>
        <p:txBody>
          <a:bodyPr wrap="square" lIns="0" tIns="0" rIns="0" bIns="0" rtlCol="0" anchor="t"/>
          <a:lstStyle/>
          <a:p>
            <a:pPr algn="l" indent="0" marL="0">
              <a:lnSpc>
                <a:spcPts val="1395"/>
              </a:lnSpc>
              <a:buNone/>
            </a:pPr>
            <a:r>
              <a:rPr lang="en-US" sz="872" dirty="0">
                <a:solidFill>
                  <a:srgbClr val="F2F1F1">
                    <a:alpha val="60000"/>
                  </a:srgbClr>
                </a:solidFill>
                <a:latin typeface="Carlito" pitchFamily="34" charset="0"/>
                <a:ea typeface="Carlito" pitchFamily="34" charset="-122"/>
                <a:cs typeface="Carlito" pitchFamily="34" charset="-120"/>
              </a:rPr>
              <a:t>EKAM AI is the AI platform that turns a prompt into a deployed launch page — then runs an authorized pre-launch security scan so you ship with confidence. No coding, no DevOps, no waitlist.</a:t>
            </a:r>
            <a:endParaRPr lang="en-US" sz="872" dirty="0"/>
          </a:p>
        </p:txBody>
      </p:sp>
      <p:sp>
        <p:nvSpPr>
          <p:cNvPr id="10" name="Shape 8"/>
          <p:cNvSpPr/>
          <p:nvPr/>
        </p:nvSpPr>
        <p:spPr>
          <a:xfrm>
            <a:off x="457200" y="3311128"/>
            <a:ext cx="4937671" cy="0"/>
          </a:xfrm>
          <a:prstGeom prst="line">
            <a:avLst/>
          </a:prstGeom>
          <a:noFill/>
          <a:ln w="7144">
            <a:solidFill>
              <a:srgbClr val="FFFFFF"/>
            </a:solidFill>
            <a:prstDash val="solid"/>
          </a:ln>
        </p:spPr>
      </p:sp>
      <p:sp>
        <p:nvSpPr>
          <p:cNvPr id="11" name="Text 9"/>
          <p:cNvSpPr/>
          <p:nvPr/>
        </p:nvSpPr>
        <p:spPr>
          <a:xfrm>
            <a:off x="457200" y="2941439"/>
            <a:ext cx="71438" cy="71438"/>
          </a:xfrm>
          <a:prstGeom prst="ellipse">
            <a:avLst/>
          </a:prstGeom>
          <a:solidFill>
            <a:srgbClr val="91E500"/>
          </a:solidFill>
          <a:ln/>
          <a:effectLst>
            <a:outerShdw sx="100000" sy="100000" kx="0" ky="0" algn="bl" rotWithShape="0" blurRad="101600" dist="50800" dir="16200000">
              <a:srgbClr val="FFFFFF">
                <a:alpha val="4000"/>
              </a:srgbClr>
            </a:outerShdw>
          </a:effectLst>
        </p:spPr>
        <p:txBody>
          <a:bodyPr wrap="square" rtlCol="0" anchor="ctr"/>
          <a:lstStyle/>
          <a:p>
            <a:pPr indent="0" marL="0">
              <a:buNone/>
            </a:pPr>
            <a:endParaRPr lang="en-US" dirty="0"/>
          </a:p>
        </p:txBody>
      </p:sp>
      <p:sp>
        <p:nvSpPr>
          <p:cNvPr id="12" name="Text 10"/>
          <p:cNvSpPr/>
          <p:nvPr/>
        </p:nvSpPr>
        <p:spPr>
          <a:xfrm>
            <a:off x="628650" y="2898577"/>
            <a:ext cx="1739983" cy="142232"/>
          </a:xfrm>
          <a:prstGeom prst="rect">
            <a:avLst/>
          </a:prstGeom>
          <a:noFill/>
          <a:ln/>
        </p:spPr>
        <p:txBody>
          <a:bodyPr wrap="none" lIns="0" tIns="0" rIns="0" bIns="0" rtlCol="0" anchor="t">
            <a:normAutofit/>
          </a:bodyPr>
          <a:lstStyle/>
          <a:p>
            <a:pPr algn="l" indent="0" marL="0">
              <a:lnSpc>
                <a:spcPts val="1223"/>
              </a:lnSpc>
              <a:buNone/>
            </a:pPr>
            <a:r>
              <a:rPr lang="en-US" sz="816" dirty="0">
                <a:solidFill>
                  <a:srgbClr val="F2F1F1"/>
                </a:solidFill>
                <a:latin typeface="Carlito" pitchFamily="34" charset="0"/>
                <a:ea typeface="Carlito" pitchFamily="34" charset="-122"/>
                <a:cs typeface="Carlito" pitchFamily="34" charset="-120"/>
              </a:rPr>
              <a:t>Prompt-based generation</a:t>
            </a:r>
            <a:endParaRPr lang="en-US" sz="816" dirty="0"/>
          </a:p>
        </p:txBody>
      </p:sp>
      <p:sp>
        <p:nvSpPr>
          <p:cNvPr id="13" name="Text 11"/>
          <p:cNvSpPr/>
          <p:nvPr/>
        </p:nvSpPr>
        <p:spPr>
          <a:xfrm>
            <a:off x="628650" y="3068241"/>
            <a:ext cx="1789697" cy="139303"/>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Describe what you need, get a live URL.</a:t>
            </a:r>
            <a:endParaRPr lang="en-US" sz="800" dirty="0"/>
          </a:p>
        </p:txBody>
      </p:sp>
      <p:sp>
        <p:nvSpPr>
          <p:cNvPr id="14" name="Shape 12"/>
          <p:cNvSpPr/>
          <p:nvPr/>
        </p:nvSpPr>
        <p:spPr>
          <a:xfrm>
            <a:off x="457200" y="3827264"/>
            <a:ext cx="4937671" cy="0"/>
          </a:xfrm>
          <a:prstGeom prst="line">
            <a:avLst/>
          </a:prstGeom>
          <a:noFill/>
          <a:ln w="7144">
            <a:solidFill>
              <a:srgbClr val="FFFFFF"/>
            </a:solidFill>
            <a:prstDash val="solid"/>
          </a:ln>
        </p:spPr>
      </p:sp>
      <p:sp>
        <p:nvSpPr>
          <p:cNvPr id="15" name="Text 13"/>
          <p:cNvSpPr/>
          <p:nvPr/>
        </p:nvSpPr>
        <p:spPr>
          <a:xfrm>
            <a:off x="457200" y="3457575"/>
            <a:ext cx="71438" cy="71438"/>
          </a:xfrm>
          <a:prstGeom prst="ellipse">
            <a:avLst/>
          </a:prstGeom>
          <a:solidFill>
            <a:srgbClr val="12BCFF"/>
          </a:solidFill>
          <a:ln/>
          <a:effectLst>
            <a:outerShdw sx="100000" sy="100000" kx="0" ky="0" algn="bl" rotWithShape="0" blurRad="101600" dist="50800" dir="16200000">
              <a:srgbClr val="FFFFFF">
                <a:alpha val="4000"/>
              </a:srgbClr>
            </a:outerShdw>
          </a:effectLst>
        </p:spPr>
        <p:txBody>
          <a:bodyPr wrap="square" rtlCol="0" anchor="ctr"/>
          <a:lstStyle/>
          <a:p>
            <a:pPr indent="0" marL="0">
              <a:buNone/>
            </a:pPr>
            <a:endParaRPr lang="en-US" dirty="0"/>
          </a:p>
        </p:txBody>
      </p:sp>
      <p:sp>
        <p:nvSpPr>
          <p:cNvPr id="16" name="Text 14"/>
          <p:cNvSpPr/>
          <p:nvPr/>
        </p:nvSpPr>
        <p:spPr>
          <a:xfrm>
            <a:off x="628650" y="3414713"/>
            <a:ext cx="1933249" cy="142232"/>
          </a:xfrm>
          <a:prstGeom prst="rect">
            <a:avLst/>
          </a:prstGeom>
          <a:noFill/>
          <a:ln/>
        </p:spPr>
        <p:txBody>
          <a:bodyPr wrap="none" lIns="0" tIns="0" rIns="0" bIns="0" rtlCol="0" anchor="t">
            <a:normAutofit/>
          </a:bodyPr>
          <a:lstStyle/>
          <a:p>
            <a:pPr algn="l" indent="0" marL="0">
              <a:lnSpc>
                <a:spcPts val="1223"/>
              </a:lnSpc>
              <a:buNone/>
            </a:pPr>
            <a:r>
              <a:rPr lang="en-US" sz="816" dirty="0">
                <a:solidFill>
                  <a:srgbClr val="F2F1F1"/>
                </a:solidFill>
                <a:latin typeface="Carlito" pitchFamily="34" charset="0"/>
                <a:ea typeface="Carlito" pitchFamily="34" charset="-122"/>
                <a:cs typeface="Carlito" pitchFamily="34" charset="-120"/>
              </a:rPr>
              <a:t>Pre-launch security scan</a:t>
            </a:r>
            <a:endParaRPr lang="en-US" sz="816" dirty="0"/>
          </a:p>
        </p:txBody>
      </p:sp>
      <p:sp>
        <p:nvSpPr>
          <p:cNvPr id="17" name="Text 15"/>
          <p:cNvSpPr/>
          <p:nvPr/>
        </p:nvSpPr>
        <p:spPr>
          <a:xfrm>
            <a:off x="628650" y="3584377"/>
            <a:ext cx="1988485" cy="139303"/>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12 specialist agents, 11 vulnerability classes.</a:t>
            </a:r>
            <a:endParaRPr lang="en-US" sz="800" dirty="0"/>
          </a:p>
        </p:txBody>
      </p:sp>
      <p:sp>
        <p:nvSpPr>
          <p:cNvPr id="18" name="Text 16"/>
          <p:cNvSpPr/>
          <p:nvPr/>
        </p:nvSpPr>
        <p:spPr>
          <a:xfrm>
            <a:off x="457200" y="3973711"/>
            <a:ext cx="71438" cy="71438"/>
          </a:xfrm>
          <a:prstGeom prst="ellipse">
            <a:avLst/>
          </a:prstGeom>
          <a:solidFill>
            <a:srgbClr val="2F44FF"/>
          </a:solidFill>
          <a:ln/>
          <a:effectLst>
            <a:outerShdw sx="100000" sy="100000" kx="0" ky="0" algn="bl" rotWithShape="0" blurRad="101600" dist="50800" dir="16200000">
              <a:srgbClr val="FFFFFF">
                <a:alpha val="4000"/>
              </a:srgbClr>
            </a:outerShdw>
          </a:effectLst>
        </p:spPr>
        <p:txBody>
          <a:bodyPr wrap="square" rtlCol="0" anchor="ctr"/>
          <a:lstStyle/>
          <a:p>
            <a:pPr indent="0" marL="0">
              <a:buNone/>
            </a:pPr>
            <a:endParaRPr lang="en-US" dirty="0"/>
          </a:p>
        </p:txBody>
      </p:sp>
      <p:sp>
        <p:nvSpPr>
          <p:cNvPr id="19" name="Text 17"/>
          <p:cNvSpPr/>
          <p:nvPr/>
        </p:nvSpPr>
        <p:spPr>
          <a:xfrm>
            <a:off x="628650" y="3930848"/>
            <a:ext cx="1645584" cy="142232"/>
          </a:xfrm>
          <a:prstGeom prst="rect">
            <a:avLst/>
          </a:prstGeom>
          <a:noFill/>
          <a:ln/>
        </p:spPr>
        <p:txBody>
          <a:bodyPr wrap="none" lIns="0" tIns="0" rIns="0" bIns="0" rtlCol="0" anchor="t">
            <a:normAutofit/>
          </a:bodyPr>
          <a:lstStyle/>
          <a:p>
            <a:pPr algn="l" indent="0" marL="0">
              <a:lnSpc>
                <a:spcPts val="1223"/>
              </a:lnSpc>
              <a:buNone/>
            </a:pPr>
            <a:r>
              <a:rPr lang="en-US" sz="816" dirty="0">
                <a:solidFill>
                  <a:srgbClr val="F2F1F1"/>
                </a:solidFill>
                <a:latin typeface="Carlito" pitchFamily="34" charset="0"/>
                <a:ea typeface="Carlito" pitchFamily="34" charset="-122"/>
                <a:cs typeface="Carlito" pitchFamily="34" charset="-120"/>
              </a:rPr>
              <a:t>One workflow</a:t>
            </a:r>
            <a:endParaRPr lang="en-US" sz="816" dirty="0"/>
          </a:p>
        </p:txBody>
      </p:sp>
      <p:sp>
        <p:nvSpPr>
          <p:cNvPr id="20" name="Text 18"/>
          <p:cNvSpPr/>
          <p:nvPr/>
        </p:nvSpPr>
        <p:spPr>
          <a:xfrm>
            <a:off x="628650" y="4100513"/>
            <a:ext cx="1488327" cy="164592"/>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No tool-switching, no context loss.</a:t>
            </a:r>
            <a:endParaRPr lang="en-US" sz="800" dirty="0"/>
          </a:p>
        </p:txBody>
      </p:sp>
      <p:pic>
        <p:nvPicPr>
          <p:cNvPr id="21" name="Image 0" descr="preencoded.png">    </p:cNvPr>
          <p:cNvPicPr>
            <a:picLocks noChangeAspect="1"/>
          </p:cNvPicPr>
          <p:nvPr/>
        </p:nvPicPr>
        <p:blipFill>
          <a:blip r:embed="rId1"/>
          <a:stretch>
            <a:fillRect/>
          </a:stretch>
        </p:blipFill>
        <p:spPr>
          <a:xfrm>
            <a:off x="5680621" y="1525749"/>
            <a:ext cx="3291818" cy="2263453"/>
          </a:xfrm>
          <a:prstGeom prst="rect">
            <a:avLst/>
          </a:prstGeom>
        </p:spPr>
      </p:pic>
      <p:sp>
        <p:nvSpPr>
          <p:cNvPr id="22" name="Text 19"/>
          <p:cNvSpPr/>
          <p:nvPr/>
        </p:nvSpPr>
        <p:spPr>
          <a:xfrm>
            <a:off x="5684193" y="1529321"/>
            <a:ext cx="3284674" cy="2256309"/>
          </a:xfrm>
          <a:prstGeom prst="roundRect">
            <a:avLst>
              <a:gd name="adj" fmla="val 7599"/>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23" name="Text 20"/>
          <p:cNvSpPr/>
          <p:nvPr/>
        </p:nvSpPr>
        <p:spPr>
          <a:xfrm>
            <a:off x="5687764" y="1532892"/>
            <a:ext cx="3277530"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24" name="Shape 21"/>
          <p:cNvSpPr/>
          <p:nvPr/>
        </p:nvSpPr>
        <p:spPr>
          <a:xfrm>
            <a:off x="5687764" y="1854361"/>
            <a:ext cx="3277530" cy="0"/>
          </a:xfrm>
          <a:prstGeom prst="line">
            <a:avLst/>
          </a:prstGeom>
          <a:noFill/>
          <a:ln w="7144">
            <a:solidFill>
              <a:srgbClr val="FFFFFF"/>
            </a:solidFill>
            <a:prstDash val="solid"/>
          </a:ln>
        </p:spPr>
      </p:sp>
      <p:sp>
        <p:nvSpPr>
          <p:cNvPr id="25" name="Text 22"/>
          <p:cNvSpPr/>
          <p:nvPr/>
        </p:nvSpPr>
        <p:spPr>
          <a:xfrm>
            <a:off x="5816352" y="1656122"/>
            <a:ext cx="71438" cy="71438"/>
          </a:xfrm>
          <a:prstGeom prst="ellipse">
            <a:avLst/>
          </a:prstGeom>
          <a:solidFill>
            <a:srgbClr val="FF5F57"/>
          </a:solidFill>
          <a:ln/>
        </p:spPr>
        <p:txBody>
          <a:bodyPr wrap="square" rtlCol="0" anchor="ctr"/>
          <a:lstStyle/>
          <a:p>
            <a:pPr indent="0" marL="0">
              <a:buNone/>
            </a:pPr>
            <a:endParaRPr lang="en-US" dirty="0"/>
          </a:p>
        </p:txBody>
      </p:sp>
      <p:sp>
        <p:nvSpPr>
          <p:cNvPr id="26" name="Text 23"/>
          <p:cNvSpPr/>
          <p:nvPr/>
        </p:nvSpPr>
        <p:spPr>
          <a:xfrm>
            <a:off x="5944939" y="1656122"/>
            <a:ext cx="71438" cy="71438"/>
          </a:xfrm>
          <a:prstGeom prst="ellipse">
            <a:avLst/>
          </a:prstGeom>
          <a:solidFill>
            <a:srgbClr val="FEBC2E"/>
          </a:solidFill>
          <a:ln/>
        </p:spPr>
        <p:txBody>
          <a:bodyPr wrap="square" rtlCol="0" anchor="ctr"/>
          <a:lstStyle/>
          <a:p>
            <a:pPr indent="0" marL="0">
              <a:buNone/>
            </a:pPr>
            <a:endParaRPr lang="en-US" dirty="0"/>
          </a:p>
        </p:txBody>
      </p:sp>
      <p:sp>
        <p:nvSpPr>
          <p:cNvPr id="27" name="Text 24"/>
          <p:cNvSpPr/>
          <p:nvPr/>
        </p:nvSpPr>
        <p:spPr>
          <a:xfrm>
            <a:off x="6073527" y="1656122"/>
            <a:ext cx="71438" cy="71438"/>
          </a:xfrm>
          <a:prstGeom prst="ellipse">
            <a:avLst/>
          </a:prstGeom>
          <a:solidFill>
            <a:srgbClr val="28C840"/>
          </a:solidFill>
          <a:ln/>
        </p:spPr>
        <p:txBody>
          <a:bodyPr wrap="square" rtlCol="0" anchor="ctr"/>
          <a:lstStyle/>
          <a:p>
            <a:pPr indent="0" marL="0">
              <a:buNone/>
            </a:pPr>
            <a:endParaRPr lang="en-US" dirty="0"/>
          </a:p>
        </p:txBody>
      </p:sp>
      <p:sp>
        <p:nvSpPr>
          <p:cNvPr id="28" name="Text 25"/>
          <p:cNvSpPr/>
          <p:nvPr/>
        </p:nvSpPr>
        <p:spPr>
          <a:xfrm>
            <a:off x="6259264" y="1632905"/>
            <a:ext cx="2577443"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EKAM — FLOW</a:t>
            </a:r>
            <a:endParaRPr lang="en-US" sz="800" dirty="0"/>
          </a:p>
        </p:txBody>
      </p:sp>
      <p:sp>
        <p:nvSpPr>
          <p:cNvPr id="29" name="Text 26"/>
          <p:cNvSpPr/>
          <p:nvPr/>
        </p:nvSpPr>
        <p:spPr>
          <a:xfrm>
            <a:off x="5844927" y="2015096"/>
            <a:ext cx="3120368" cy="161877"/>
          </a:xfrm>
          <a:prstGeom prst="rect">
            <a:avLst/>
          </a:prstGeom>
          <a:noFill/>
          <a:ln/>
        </p:spPr>
        <p:txBody>
          <a:bodyPr wrap="none" lIns="0" tIns="0" rIns="0" bIns="0" rtlCol="0" anchor="t">
            <a:normAutofit/>
          </a:bodyPr>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PROMPT</a:t>
            </a:r>
            <a:endParaRPr lang="en-US" sz="800" dirty="0"/>
          </a:p>
        </p:txBody>
      </p:sp>
      <p:sp>
        <p:nvSpPr>
          <p:cNvPr id="30" name="Text 27"/>
          <p:cNvSpPr/>
          <p:nvPr/>
        </p:nvSpPr>
        <p:spPr>
          <a:xfrm>
            <a:off x="5844927" y="2204405"/>
            <a:ext cx="3200262" cy="175514"/>
          </a:xfrm>
          <a:prstGeom prst="rect">
            <a:avLst/>
          </a:prstGeom>
          <a:noFill/>
          <a:ln/>
        </p:spPr>
        <p:txBody>
          <a:bodyPr wrap="square" lIns="0" tIns="0" rIns="0" bIns="0" rtlCol="0" anchor="t"/>
          <a:lstStyle/>
          <a:p>
            <a:pPr algn="l" indent="0" marL="0">
              <a:lnSpc>
                <a:spcPts val="1215"/>
              </a:lnSpc>
              <a:buNone/>
            </a:pPr>
            <a:r>
              <a:rPr lang="en-US" sz="800" dirty="0">
                <a:solidFill>
                  <a:srgbClr val="91E500"/>
                </a:solidFill>
                <a:latin typeface="Courier New" pitchFamily="34" charset="0"/>
                <a:ea typeface="Courier New" pitchFamily="34" charset="-122"/>
                <a:cs typeface="Courier New" pitchFamily="34" charset="-120"/>
              </a:rPr>
              <a:t>$</a:t>
            </a:r>
            <a:pPr algn="l" indent="0" marL="0">
              <a:lnSpc>
                <a:spcPts val="1215"/>
              </a:lnSpc>
              <a:buNone/>
            </a:pPr>
            <a:r>
              <a:rPr lang="en-US" sz="800" dirty="0">
                <a:solidFill>
                  <a:srgbClr val="F2F1F1"/>
                </a:solidFill>
                <a:latin typeface="Courier New" pitchFamily="34" charset="0"/>
                <a:ea typeface="Courier New" pitchFamily="34" charset="-122"/>
                <a:cs typeface="Courier New" pitchFamily="34" charset="-120"/>
              </a:rPr>
              <a:t> Build a launch page for an AI note-taking app</a:t>
            </a:r>
            <a:pPr algn="l" indent="0" marL="0">
              <a:lnSpc>
                <a:spcPts val="1215"/>
              </a:lnSpc>
              <a:buNone/>
            </a:pPr>
            <a:r>
              <a:rPr lang="en-US" sz="800" dirty="0">
                <a:solidFill>
                  <a:srgbClr val="91E500">
                    <a:alpha val="0"/>
                  </a:srgbClr>
                </a:solidFill>
                <a:latin typeface="Courier New" pitchFamily="34" charset="0"/>
                <a:ea typeface="Courier New" pitchFamily="34" charset="-122"/>
                <a:cs typeface="Courier New" pitchFamily="34" charset="-120"/>
              </a:rPr>
              <a:t>_</a:t>
            </a:r>
            <a:endParaRPr lang="en-US" sz="800" dirty="0"/>
          </a:p>
        </p:txBody>
      </p:sp>
      <p:sp>
        <p:nvSpPr>
          <p:cNvPr id="31" name="Text 28"/>
          <p:cNvSpPr/>
          <p:nvPr/>
        </p:nvSpPr>
        <p:spPr>
          <a:xfrm>
            <a:off x="5844927" y="2430103"/>
            <a:ext cx="3200262" cy="164592"/>
          </a:xfrm>
          <a:prstGeom prst="rect">
            <a:avLst/>
          </a:prstGeom>
          <a:noFill/>
          <a:ln/>
        </p:spPr>
        <p:txBody>
          <a:bodyPr wrap="square" lIns="0" tIns="0" rIns="0" bIns="0" rtlCol="0" anchor="t"/>
          <a:lstStyle/>
          <a:p>
            <a:pPr algn="l" indent="0" marL="0">
              <a:lnSpc>
                <a:spcPts val="1013"/>
              </a:lnSpc>
              <a:buNone/>
            </a:pPr>
            <a:r>
              <a:rPr lang="en-US" sz="800" dirty="0">
                <a:solidFill>
                  <a:srgbClr val="F2F1F1">
                    <a:alpha val="40000"/>
                  </a:srgbClr>
                </a:solidFill>
                <a:latin typeface="Courier New" pitchFamily="34" charset="0"/>
                <a:ea typeface="Courier New" pitchFamily="34" charset="-122"/>
                <a:cs typeface="Courier New" pitchFamily="34" charset="-120"/>
              </a:rPr>
              <a:t>→ planner · designer · engineer · deployer</a:t>
            </a:r>
            <a:endParaRPr lang="en-US" sz="800" dirty="0"/>
          </a:p>
        </p:txBody>
      </p:sp>
      <p:sp>
        <p:nvSpPr>
          <p:cNvPr id="32" name="Text 29"/>
          <p:cNvSpPr/>
          <p:nvPr/>
        </p:nvSpPr>
        <p:spPr>
          <a:xfrm>
            <a:off x="6002089" y="2694422"/>
            <a:ext cx="827949" cy="129679"/>
          </a:xfrm>
          <a:prstGeom prst="rect">
            <a:avLst/>
          </a:prstGeom>
          <a:noFill/>
          <a:ln/>
        </p:spPr>
        <p:txBody>
          <a:bodyPr wrap="none" lIns="0" tIns="0" rIns="0" bIns="0" rtlCol="0" anchor="t"/>
          <a:lstStyle/>
          <a:p>
            <a:pPr algn="l" indent="0" marL="0">
              <a:lnSpc>
                <a:spcPts val="928"/>
              </a:lnSpc>
              <a:buNone/>
            </a:pPr>
            <a:r>
              <a:rPr lang="en-US" sz="800" dirty="0">
                <a:solidFill>
                  <a:srgbClr val="F2F1F1">
                    <a:alpha val="60000"/>
                  </a:srgbClr>
                </a:solidFill>
                <a:latin typeface="Courier New" pitchFamily="34" charset="0"/>
                <a:ea typeface="Courier New" pitchFamily="34" charset="-122"/>
                <a:cs typeface="Courier New" pitchFamily="34" charset="-120"/>
              </a:rPr>
              <a:t>spec generated</a:t>
            </a:r>
            <a:endParaRPr lang="en-US" sz="800" dirty="0"/>
          </a:p>
        </p:txBody>
      </p:sp>
      <p:sp>
        <p:nvSpPr>
          <p:cNvPr id="33" name="Text 30"/>
          <p:cNvSpPr/>
          <p:nvPr/>
        </p:nvSpPr>
        <p:spPr>
          <a:xfrm>
            <a:off x="5844927" y="2703351"/>
            <a:ext cx="91440" cy="91440"/>
          </a:xfrm>
          <a:prstGeom prst="rect">
            <a:avLst/>
          </a:prstGeom>
          <a:noFill/>
          <a:ln/>
        </p:spPr>
        <p:txBody>
          <a:bodyPr wrap="none" lIns="0" tIns="0" rIns="0" bIns="0" rtlCol="0" anchor="ctr"/>
          <a:lstStyle/>
          <a:p>
            <a:pPr algn="ctr" indent="0" marL="0">
              <a:buNone/>
            </a:pPr>
            <a:r>
              <a:rPr lang="en-US" sz="844" dirty="0">
                <a:solidFill>
                  <a:srgbClr val="91E500"/>
                </a:solidFill>
                <a:latin typeface="Segoe UI Symbol" pitchFamily="34" charset="0"/>
                <a:ea typeface="Segoe UI Symbol" pitchFamily="34" charset="-122"/>
                <a:cs typeface="Segoe UI Symbol" pitchFamily="34" charset="-120"/>
              </a:rPr>
              <a:t>✓</a:t>
            </a:r>
            <a:endParaRPr lang="en-US" sz="844" dirty="0"/>
          </a:p>
        </p:txBody>
      </p:sp>
      <p:sp>
        <p:nvSpPr>
          <p:cNvPr id="34" name="Text 31"/>
          <p:cNvSpPr/>
          <p:nvPr/>
        </p:nvSpPr>
        <p:spPr>
          <a:xfrm>
            <a:off x="6002089" y="2869443"/>
            <a:ext cx="768790" cy="129679"/>
          </a:xfrm>
          <a:prstGeom prst="rect">
            <a:avLst/>
          </a:prstGeom>
          <a:noFill/>
          <a:ln/>
        </p:spPr>
        <p:txBody>
          <a:bodyPr wrap="none" lIns="0" tIns="0" rIns="0" bIns="0" rtlCol="0" anchor="t"/>
          <a:lstStyle/>
          <a:p>
            <a:pPr algn="l" indent="0" marL="0">
              <a:lnSpc>
                <a:spcPts val="928"/>
              </a:lnSpc>
              <a:buNone/>
            </a:pPr>
            <a:r>
              <a:rPr lang="en-US" sz="800" dirty="0">
                <a:solidFill>
                  <a:srgbClr val="F2F1F1">
                    <a:alpha val="60000"/>
                  </a:srgbClr>
                </a:solidFill>
                <a:latin typeface="Courier New" pitchFamily="34" charset="0"/>
                <a:ea typeface="Courier New" pitchFamily="34" charset="-122"/>
                <a:cs typeface="Courier New" pitchFamily="34" charset="-120"/>
              </a:rPr>
              <a:t>design + copy</a:t>
            </a:r>
            <a:endParaRPr lang="en-US" sz="800" dirty="0"/>
          </a:p>
        </p:txBody>
      </p:sp>
      <p:sp>
        <p:nvSpPr>
          <p:cNvPr id="35" name="Text 32"/>
          <p:cNvSpPr/>
          <p:nvPr/>
        </p:nvSpPr>
        <p:spPr>
          <a:xfrm>
            <a:off x="5844927" y="2878373"/>
            <a:ext cx="91440" cy="91440"/>
          </a:xfrm>
          <a:prstGeom prst="rect">
            <a:avLst/>
          </a:prstGeom>
          <a:noFill/>
          <a:ln/>
        </p:spPr>
        <p:txBody>
          <a:bodyPr wrap="none" lIns="0" tIns="0" rIns="0" bIns="0" rtlCol="0" anchor="ctr"/>
          <a:lstStyle/>
          <a:p>
            <a:pPr algn="ctr" indent="0" marL="0">
              <a:buNone/>
            </a:pPr>
            <a:r>
              <a:rPr lang="en-US" sz="844" dirty="0">
                <a:solidFill>
                  <a:srgbClr val="91E500"/>
                </a:solidFill>
                <a:latin typeface="Segoe UI Symbol" pitchFamily="34" charset="0"/>
                <a:ea typeface="Segoe UI Symbol" pitchFamily="34" charset="-122"/>
                <a:cs typeface="Segoe UI Symbol" pitchFamily="34" charset="-120"/>
              </a:rPr>
              <a:t>✓</a:t>
            </a:r>
            <a:endParaRPr lang="en-US" sz="844" dirty="0"/>
          </a:p>
        </p:txBody>
      </p:sp>
      <p:sp>
        <p:nvSpPr>
          <p:cNvPr id="36" name="Text 33"/>
          <p:cNvSpPr/>
          <p:nvPr/>
        </p:nvSpPr>
        <p:spPr>
          <a:xfrm>
            <a:off x="6002089" y="3044465"/>
            <a:ext cx="1064586" cy="129679"/>
          </a:xfrm>
          <a:prstGeom prst="rect">
            <a:avLst/>
          </a:prstGeom>
          <a:noFill/>
          <a:ln/>
        </p:spPr>
        <p:txBody>
          <a:bodyPr wrap="none" lIns="0" tIns="0" rIns="0" bIns="0" rtlCol="0" anchor="t"/>
          <a:lstStyle/>
          <a:p>
            <a:pPr algn="l" indent="0" marL="0">
              <a:lnSpc>
                <a:spcPts val="928"/>
              </a:lnSpc>
              <a:buNone/>
            </a:pPr>
            <a:r>
              <a:rPr lang="en-US" sz="800" dirty="0">
                <a:solidFill>
                  <a:srgbClr val="F2F1F1">
                    <a:alpha val="60000"/>
                  </a:srgbClr>
                </a:solidFill>
                <a:latin typeface="Courier New" pitchFamily="34" charset="0"/>
                <a:ea typeface="Courier New" pitchFamily="34" charset="-122"/>
                <a:cs typeface="Courier New" pitchFamily="34" charset="-120"/>
              </a:rPr>
              <a:t>frontend + backend</a:t>
            </a:r>
            <a:endParaRPr lang="en-US" sz="800" dirty="0"/>
          </a:p>
        </p:txBody>
      </p:sp>
      <p:sp>
        <p:nvSpPr>
          <p:cNvPr id="37" name="Text 34"/>
          <p:cNvSpPr/>
          <p:nvPr/>
        </p:nvSpPr>
        <p:spPr>
          <a:xfrm>
            <a:off x="5844927" y="3053395"/>
            <a:ext cx="91440" cy="91440"/>
          </a:xfrm>
          <a:prstGeom prst="rect">
            <a:avLst/>
          </a:prstGeom>
          <a:noFill/>
          <a:ln/>
        </p:spPr>
        <p:txBody>
          <a:bodyPr wrap="none" lIns="0" tIns="0" rIns="0" bIns="0" rtlCol="0" anchor="ctr"/>
          <a:lstStyle/>
          <a:p>
            <a:pPr algn="ctr" indent="0" marL="0">
              <a:buNone/>
            </a:pPr>
            <a:r>
              <a:rPr lang="en-US" sz="844" dirty="0">
                <a:solidFill>
                  <a:srgbClr val="91E500"/>
                </a:solidFill>
                <a:latin typeface="Segoe UI Symbol" pitchFamily="34" charset="0"/>
                <a:ea typeface="Segoe UI Symbol" pitchFamily="34" charset="-122"/>
                <a:cs typeface="Segoe UI Symbol" pitchFamily="34" charset="-120"/>
              </a:rPr>
              <a:t>✓</a:t>
            </a:r>
            <a:endParaRPr lang="en-US" sz="844" dirty="0"/>
          </a:p>
        </p:txBody>
      </p:sp>
      <p:sp>
        <p:nvSpPr>
          <p:cNvPr id="38" name="Text 35"/>
          <p:cNvSpPr/>
          <p:nvPr/>
        </p:nvSpPr>
        <p:spPr>
          <a:xfrm>
            <a:off x="5848499" y="3287353"/>
            <a:ext cx="2956061" cy="312539"/>
          </a:xfrm>
          <a:prstGeom prst="roundRect">
            <a:avLst>
              <a:gd name="adj" fmla="val 3047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39" name="Text 36"/>
          <p:cNvSpPr/>
          <p:nvPr/>
        </p:nvSpPr>
        <p:spPr>
          <a:xfrm>
            <a:off x="5952083" y="3386472"/>
            <a:ext cx="114300" cy="114300"/>
          </a:xfrm>
          <a:prstGeom prst="rect">
            <a:avLst/>
          </a:prstGeom>
          <a:noFill/>
          <a:ln/>
        </p:spPr>
        <p:txBody>
          <a:bodyPr wrap="none" lIns="0" tIns="0" rIns="0" bIns="0" rtlCol="0" anchor="ctr"/>
          <a:lstStyle/>
          <a:p>
            <a:pPr algn="ctr" indent="0" marL="0">
              <a:buNone/>
            </a:pPr>
            <a:r>
              <a:rPr lang="en-US" sz="1125" dirty="0">
                <a:solidFill>
                  <a:srgbClr val="91E500"/>
                </a:solidFill>
                <a:latin typeface="Segoe UI Symbol" pitchFamily="34" charset="0"/>
                <a:ea typeface="Segoe UI Symbol" pitchFamily="34" charset="-122"/>
                <a:cs typeface="Segoe UI Symbol" pitchFamily="34" charset="-120"/>
              </a:rPr>
              <a:t>➤</a:t>
            </a:r>
            <a:endParaRPr lang="en-US" sz="1125" dirty="0"/>
          </a:p>
        </p:txBody>
      </p:sp>
      <p:sp>
        <p:nvSpPr>
          <p:cNvPr id="40" name="Text 37"/>
          <p:cNvSpPr/>
          <p:nvPr/>
        </p:nvSpPr>
        <p:spPr>
          <a:xfrm>
            <a:off x="6137821" y="3376650"/>
            <a:ext cx="2563155" cy="133945"/>
          </a:xfrm>
          <a:prstGeom prst="rect">
            <a:avLst/>
          </a:prstGeom>
          <a:noFill/>
          <a:ln/>
        </p:spPr>
        <p:txBody>
          <a:bodyPr wrap="none" lIns="0" tIns="0" rIns="0" bIns="0" rtlCol="0" anchor="t"/>
          <a:lstStyle/>
          <a:p>
            <a:pPr algn="l" indent="0" marL="0">
              <a:lnSpc>
                <a:spcPts val="1055"/>
              </a:lnSpc>
              <a:buNone/>
            </a:pPr>
            <a:r>
              <a:rPr lang="en-US" sz="800" dirty="0">
                <a:solidFill>
                  <a:srgbClr val="91E500"/>
                </a:solidFill>
                <a:latin typeface="Liberation Sans Narrow" pitchFamily="34" charset="0"/>
                <a:ea typeface="Liberation Sans Narrow" pitchFamily="34" charset="-122"/>
                <a:cs typeface="Liberation Sans Narrow" pitchFamily="34" charset="-120"/>
              </a:rPr>
              <a:t>live URL ready — 47 seconds</a:t>
            </a:r>
            <a:endParaRPr lang="en-US" sz="800" dirty="0"/>
          </a:p>
        </p:txBody>
      </p:sp>
      <p:pic>
        <p:nvPicPr>
          <p:cNvPr id="41" name="Image 1" descr="preencoded.png">    </p:cNvPr>
          <p:cNvPicPr>
            <a:picLocks noChangeAspect="1"/>
          </p:cNvPicPr>
          <p:nvPr/>
        </p:nvPicPr>
        <p:blipFill>
          <a:blip r:embed="rId2"/>
          <a:stretch>
            <a:fillRect/>
          </a:stretch>
        </p:blipFill>
        <p:spPr>
          <a:xfrm>
            <a:off x="5687764" y="3760626"/>
            <a:ext cx="3277530" cy="2143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6572250" y="428625"/>
            <a:ext cx="3714750" cy="3714750"/>
          </a:xfrm>
          <a:prstGeom prst="ellipse">
            <a:avLst/>
          </a:prstGeom>
          <a:solidFill>
            <a:srgbClr val="2F44FF">
              <a:alpha val="10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04 / 16</a:t>
            </a:r>
            <a:endParaRPr lang="en-US" sz="800" dirty="0"/>
          </a:p>
        </p:txBody>
      </p:sp>
      <p:sp>
        <p:nvSpPr>
          <p:cNvPr id="5" name="Text 3"/>
          <p:cNvSpPr/>
          <p:nvPr/>
        </p:nvSpPr>
        <p:spPr>
          <a:xfrm>
            <a:off x="434340" y="558698"/>
            <a:ext cx="1124984" cy="243488"/>
          </a:xfrm>
          <a:prstGeom prst="roundRect">
            <a:avLst>
              <a:gd name="adj" fmla="val 39115059"/>
            </a:avLst>
          </a:prstGeom>
          <a:solidFill>
            <a:srgbClr val="12BCFF">
              <a:alpha val="8000"/>
            </a:srgbClr>
          </a:solidFill>
          <a:ln w="7144">
            <a:solidFill>
              <a:srgbClr val="12BCFF"/>
            </a:solidFill>
            <a:prstDash val="solid"/>
          </a:ln>
        </p:spPr>
        <p:txBody>
          <a:bodyPr wrap="square" rtlCol="0" anchor="ctr"/>
          <a:lstStyle/>
          <a:p>
            <a:pPr indent="0" marL="0">
              <a:buNone/>
            </a:pPr>
            <a:endParaRPr lang="en-US" dirty="0"/>
          </a:p>
        </p:txBody>
      </p:sp>
      <p:sp>
        <p:nvSpPr>
          <p:cNvPr id="6" name="Text 4"/>
          <p:cNvSpPr/>
          <p:nvPr/>
        </p:nvSpPr>
        <p:spPr>
          <a:xfrm>
            <a:off x="564356" y="651867"/>
            <a:ext cx="57150" cy="57150"/>
          </a:xfrm>
          <a:prstGeom prst="roundRect">
            <a:avLst>
              <a:gd name="adj" fmla="val 66667"/>
            </a:avLst>
          </a:prstGeom>
          <a:solidFill>
            <a:srgbClr val="12BCFF"/>
          </a:solidFill>
          <a:ln/>
        </p:spPr>
        <p:txBody>
          <a:bodyPr wrap="square" rtlCol="0" anchor="ctr"/>
          <a:lstStyle/>
          <a:p>
            <a:pPr indent="0" marL="0">
              <a:buNone/>
            </a:pPr>
            <a:endParaRPr lang="en-US" dirty="0"/>
          </a:p>
        </p:txBody>
      </p:sp>
      <p:sp>
        <p:nvSpPr>
          <p:cNvPr id="7" name="Text 5"/>
          <p:cNvSpPr/>
          <p:nvPr/>
        </p:nvSpPr>
        <p:spPr>
          <a:xfrm>
            <a:off x="457200" y="571500"/>
            <a:ext cx="1079264"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12BCFF"/>
                </a:solidFill>
                <a:latin typeface="Liberation Sans Narrow" pitchFamily="34" charset="0"/>
                <a:ea typeface="Liberation Sans Narrow" pitchFamily="34" charset="-122"/>
                <a:cs typeface="Liberation Sans Narrow" pitchFamily="34" charset="-120"/>
              </a:rPr>
              <a:t> SUITE 01 — FLOW</a:t>
            </a:r>
            <a:endParaRPr lang="en-US" sz="800" dirty="0"/>
          </a:p>
        </p:txBody>
      </p:sp>
      <p:sp>
        <p:nvSpPr>
          <p:cNvPr id="8" name="Text 6"/>
          <p:cNvSpPr/>
          <p:nvPr/>
        </p:nvSpPr>
        <p:spPr>
          <a:xfrm>
            <a:off x="457200" y="889397"/>
            <a:ext cx="8229600" cy="305476"/>
          </a:xfrm>
          <a:prstGeom prst="rect">
            <a:avLst/>
          </a:prstGeom>
          <a:noFill/>
          <a:ln/>
        </p:spPr>
        <p:txBody>
          <a:bodyPr wrap="square" lIns="0" tIns="0" rIns="0" bIns="0" rtlCol="0" anchor="t"/>
          <a:lstStyle/>
          <a:p>
            <a:pPr algn="l" indent="0" marL="0">
              <a:lnSpc>
                <a:spcPts val="2228"/>
              </a:lnSpc>
              <a:buNone/>
            </a:pPr>
            <a:r>
              <a:rPr lang="en-US" sz="2025" b="1" spc="-51" kern="0" dirty="0">
                <a:solidFill>
                  <a:srgbClr val="F2F1F1"/>
                </a:solidFill>
                <a:latin typeface="Carlito" pitchFamily="34" charset="0"/>
                <a:ea typeface="Carlito" pitchFamily="34" charset="-122"/>
                <a:cs typeface="Carlito" pitchFamily="34" charset="-120"/>
              </a:rPr>
              <a:t>From prompt to live page in </a:t>
            </a:r>
            <a:pPr algn="l" indent="0" marL="0">
              <a:lnSpc>
                <a:spcPts val="2228"/>
              </a:lnSpc>
              <a:buNone/>
            </a:pPr>
            <a:r>
              <a:rPr lang="en-US" sz="2025" b="1" spc="-51" kern="0" dirty="0">
                <a:solidFill>
                  <a:srgbClr val="12BCFF"/>
                </a:solidFill>
                <a:latin typeface="Carlito" pitchFamily="34" charset="0"/>
                <a:ea typeface="Carlito" pitchFamily="34" charset="-122"/>
                <a:cs typeface="Carlito" pitchFamily="34" charset="-120"/>
              </a:rPr>
              <a:t>minutes</a:t>
            </a:r>
            <a:endParaRPr lang="en-US" sz="2025" dirty="0"/>
          </a:p>
        </p:txBody>
      </p:sp>
      <p:sp>
        <p:nvSpPr>
          <p:cNvPr id="9" name="Text 7"/>
          <p:cNvSpPr/>
          <p:nvPr/>
        </p:nvSpPr>
        <p:spPr>
          <a:xfrm>
            <a:off x="457200" y="1357982"/>
            <a:ext cx="4526235" cy="357795"/>
          </a:xfrm>
          <a:prstGeom prst="rect">
            <a:avLst/>
          </a:prstGeom>
          <a:noFill/>
          <a:ln/>
        </p:spPr>
        <p:txBody>
          <a:bodyPr wrap="square" lIns="0" tIns="0" rIns="0" bIns="0" rtlCol="0" anchor="t"/>
          <a:lstStyle/>
          <a:p>
            <a:pPr algn="l" indent="0" marL="0">
              <a:lnSpc>
                <a:spcPts val="1305"/>
              </a:lnSpc>
              <a:buNone/>
            </a:pPr>
            <a:r>
              <a:rPr lang="en-US" sz="816" dirty="0">
                <a:solidFill>
                  <a:srgbClr val="F2F1F1">
                    <a:alpha val="60000"/>
                  </a:srgbClr>
                </a:solidFill>
                <a:latin typeface="Carlito" pitchFamily="34" charset="0"/>
                <a:ea typeface="Carlito" pitchFamily="34" charset="-122"/>
                <a:cs typeface="Carlito" pitchFamily="34" charset="-120"/>
              </a:rPr>
              <a:t>Describe a launch page, dashboard, or SaaS. Flow plans the structure, generates the site, previews it, and deploys a live URL.</a:t>
            </a:r>
            <a:endParaRPr lang="en-US" sz="816" dirty="0"/>
          </a:p>
        </p:txBody>
      </p:sp>
      <p:sp>
        <p:nvSpPr>
          <p:cNvPr id="10" name="Text 8"/>
          <p:cNvSpPr/>
          <p:nvPr/>
        </p:nvSpPr>
        <p:spPr>
          <a:xfrm>
            <a:off x="457200" y="1903586"/>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700088" y="1896442"/>
            <a:ext cx="4283348" cy="159081"/>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Prompt → live page or full app</a:t>
            </a:r>
            <a:endParaRPr lang="en-US" sz="800" dirty="0"/>
          </a:p>
        </p:txBody>
      </p:sp>
      <p:sp>
        <p:nvSpPr>
          <p:cNvPr id="12" name="Shape 10"/>
          <p:cNvSpPr/>
          <p:nvPr/>
        </p:nvSpPr>
        <p:spPr>
          <a:xfrm>
            <a:off x="457200" y="2128614"/>
            <a:ext cx="4526235" cy="0"/>
          </a:xfrm>
          <a:prstGeom prst="line">
            <a:avLst/>
          </a:prstGeom>
          <a:noFill/>
          <a:ln w="7144">
            <a:solidFill>
              <a:srgbClr val="FFFFFF"/>
            </a:solidFill>
            <a:prstDash val="solid"/>
          </a:ln>
        </p:spPr>
      </p:sp>
      <p:sp>
        <p:nvSpPr>
          <p:cNvPr id="13" name="Text 11"/>
          <p:cNvSpPr/>
          <p:nvPr/>
        </p:nvSpPr>
        <p:spPr>
          <a:xfrm>
            <a:off x="457200" y="2217911"/>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14" name="Text 12"/>
          <p:cNvSpPr/>
          <p:nvPr/>
        </p:nvSpPr>
        <p:spPr>
          <a:xfrm>
            <a:off x="700088" y="221076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Design, copy, frontend, backend, deploy included</a:t>
            </a:r>
            <a:endParaRPr lang="en-US" sz="800" dirty="0"/>
          </a:p>
        </p:txBody>
      </p:sp>
      <p:sp>
        <p:nvSpPr>
          <p:cNvPr id="15" name="Shape 13"/>
          <p:cNvSpPr/>
          <p:nvPr/>
        </p:nvSpPr>
        <p:spPr>
          <a:xfrm>
            <a:off x="457200" y="2442939"/>
            <a:ext cx="4526235" cy="0"/>
          </a:xfrm>
          <a:prstGeom prst="line">
            <a:avLst/>
          </a:prstGeom>
          <a:noFill/>
          <a:ln w="7144">
            <a:solidFill>
              <a:srgbClr val="FFFFFF"/>
            </a:solidFill>
            <a:prstDash val="solid"/>
          </a:ln>
        </p:spPr>
      </p:sp>
      <p:sp>
        <p:nvSpPr>
          <p:cNvPr id="16" name="Text 14"/>
          <p:cNvSpPr/>
          <p:nvPr/>
        </p:nvSpPr>
        <p:spPr>
          <a:xfrm>
            <a:off x="457200" y="2532236"/>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700088" y="2525092"/>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Custom domains + SSL, one-click redeploy</a:t>
            </a:r>
            <a:endParaRPr lang="en-US" sz="800" dirty="0"/>
          </a:p>
        </p:txBody>
      </p:sp>
      <p:sp>
        <p:nvSpPr>
          <p:cNvPr id="18" name="Shape 16"/>
          <p:cNvSpPr/>
          <p:nvPr/>
        </p:nvSpPr>
        <p:spPr>
          <a:xfrm>
            <a:off x="457200" y="2757264"/>
            <a:ext cx="4526235" cy="0"/>
          </a:xfrm>
          <a:prstGeom prst="line">
            <a:avLst/>
          </a:prstGeom>
          <a:noFill/>
          <a:ln w="7144">
            <a:solidFill>
              <a:srgbClr val="FFFFFF"/>
            </a:solidFill>
            <a:prstDash val="solid"/>
          </a:ln>
        </p:spPr>
      </p:sp>
      <p:sp>
        <p:nvSpPr>
          <p:cNvPr id="19" name="Text 17"/>
          <p:cNvSpPr/>
          <p:nvPr/>
        </p:nvSpPr>
        <p:spPr>
          <a:xfrm>
            <a:off x="457200" y="2846561"/>
            <a:ext cx="142875" cy="142875"/>
          </a:xfrm>
          <a:prstGeom prst="rect">
            <a:avLst/>
          </a:prstGeom>
          <a:noFill/>
          <a:ln/>
        </p:spPr>
        <p:txBody>
          <a:bodyPr wrap="none" lIns="0" tIns="0" rIns="0" bIns="0" rtlCol="0" anchor="ctr"/>
          <a:lstStyle/>
          <a:p>
            <a:pPr algn="ctr" indent="0" marL="0">
              <a:buNone/>
            </a:pPr>
            <a:r>
              <a:rPr lang="en-US" sz="1406" dirty="0">
                <a:solidFill>
                  <a:srgbClr val="12BCFF"/>
                </a:solidFill>
                <a:latin typeface="Segoe UI Symbol" pitchFamily="34" charset="0"/>
                <a:ea typeface="Segoe UI Symbol" pitchFamily="34" charset="-122"/>
                <a:cs typeface="Segoe UI Symbol" pitchFamily="34" charset="-120"/>
              </a:rPr>
              <a:t>✓</a:t>
            </a:r>
            <a:endParaRPr lang="en-US" sz="1406" dirty="0"/>
          </a:p>
        </p:txBody>
      </p:sp>
      <p:sp>
        <p:nvSpPr>
          <p:cNvPr id="20" name="Text 18"/>
          <p:cNvSpPr/>
          <p:nvPr/>
        </p:nvSpPr>
        <p:spPr>
          <a:xfrm>
            <a:off x="700088" y="283941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Iterate with natural language edits</a:t>
            </a:r>
            <a:endParaRPr lang="en-US" sz="800" dirty="0"/>
          </a:p>
        </p:txBody>
      </p:sp>
      <p:sp>
        <p:nvSpPr>
          <p:cNvPr id="21" name="Text 19"/>
          <p:cNvSpPr/>
          <p:nvPr/>
        </p:nvSpPr>
        <p:spPr>
          <a:xfrm>
            <a:off x="457200" y="3225180"/>
            <a:ext cx="5584809" cy="161877"/>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F2F1F1">
                    <a:alpha val="40000"/>
                  </a:srgbClr>
                </a:solidFill>
                <a:latin typeface="Courier New" pitchFamily="34" charset="0"/>
                <a:ea typeface="Courier New" pitchFamily="34" charset="-122"/>
                <a:cs typeface="Courier New" pitchFamily="34" charset="-120"/>
              </a:rPr>
              <a:t>PROJECT TYPES</a:t>
            </a:r>
            <a:endParaRPr lang="en-US" sz="800" dirty="0"/>
          </a:p>
        </p:txBody>
      </p:sp>
      <p:sp>
        <p:nvSpPr>
          <p:cNvPr id="22" name="Text 20"/>
          <p:cNvSpPr/>
          <p:nvPr/>
        </p:nvSpPr>
        <p:spPr>
          <a:xfrm>
            <a:off x="434340" y="3401688"/>
            <a:ext cx="83700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3" name="Text 21"/>
          <p:cNvSpPr/>
          <p:nvPr/>
        </p:nvSpPr>
        <p:spPr>
          <a:xfrm>
            <a:off x="457200" y="3414489"/>
            <a:ext cx="791282"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Launch page</a:t>
            </a:r>
            <a:endParaRPr lang="en-US" sz="800" dirty="0"/>
          </a:p>
        </p:txBody>
      </p:sp>
      <p:sp>
        <p:nvSpPr>
          <p:cNvPr id="24" name="Text 22"/>
          <p:cNvSpPr/>
          <p:nvPr/>
        </p:nvSpPr>
        <p:spPr>
          <a:xfrm>
            <a:off x="1282772" y="3401688"/>
            <a:ext cx="671803"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5" name="Text 23"/>
          <p:cNvSpPr/>
          <p:nvPr/>
        </p:nvSpPr>
        <p:spPr>
          <a:xfrm>
            <a:off x="1305632" y="3414489"/>
            <a:ext cx="626083"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SaaS app</a:t>
            </a:r>
            <a:endParaRPr lang="en-US" sz="800" dirty="0"/>
          </a:p>
        </p:txBody>
      </p:sp>
      <p:sp>
        <p:nvSpPr>
          <p:cNvPr id="26" name="Text 24"/>
          <p:cNvSpPr/>
          <p:nvPr/>
        </p:nvSpPr>
        <p:spPr>
          <a:xfrm>
            <a:off x="1966005" y="3401688"/>
            <a:ext cx="72683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7" name="Text 25"/>
          <p:cNvSpPr/>
          <p:nvPr/>
        </p:nvSpPr>
        <p:spPr>
          <a:xfrm>
            <a:off x="1988865" y="3414489"/>
            <a:ext cx="681112"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Dashboard</a:t>
            </a:r>
            <a:endParaRPr lang="en-US" sz="800" dirty="0"/>
          </a:p>
        </p:txBody>
      </p:sp>
      <p:sp>
        <p:nvSpPr>
          <p:cNvPr id="28" name="Text 26"/>
          <p:cNvSpPr/>
          <p:nvPr/>
        </p:nvSpPr>
        <p:spPr>
          <a:xfrm>
            <a:off x="2704267" y="3401688"/>
            <a:ext cx="72683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29" name="Text 27"/>
          <p:cNvSpPr/>
          <p:nvPr/>
        </p:nvSpPr>
        <p:spPr>
          <a:xfrm>
            <a:off x="2727127" y="3414489"/>
            <a:ext cx="681112"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Portfolio</a:t>
            </a:r>
            <a:endParaRPr lang="en-US" sz="800" dirty="0"/>
          </a:p>
        </p:txBody>
      </p:sp>
      <p:sp>
        <p:nvSpPr>
          <p:cNvPr id="30" name="Text 28"/>
          <p:cNvSpPr/>
          <p:nvPr/>
        </p:nvSpPr>
        <p:spPr>
          <a:xfrm>
            <a:off x="3451351" y="3401688"/>
            <a:ext cx="379012" cy="254203"/>
          </a:xfrm>
          <a:prstGeom prst="roundRect">
            <a:avLst>
              <a:gd name="adj" fmla="val 37466306"/>
            </a:avLst>
          </a:prstGeom>
          <a:solidFill>
            <a:srgbClr val="12BCFF">
              <a:alpha val="6000"/>
            </a:srgbClr>
          </a:solidFill>
          <a:ln w="7144">
            <a:solidFill>
              <a:srgbClr val="12BCFF"/>
            </a:solidFill>
            <a:prstDash val="solid"/>
          </a:ln>
        </p:spPr>
        <p:txBody>
          <a:bodyPr wrap="square" rtlCol="0" anchor="ctr"/>
          <a:lstStyle/>
          <a:p>
            <a:pPr indent="0" marL="0">
              <a:buNone/>
            </a:pPr>
            <a:endParaRPr lang="en-US" dirty="0"/>
          </a:p>
        </p:txBody>
      </p:sp>
      <p:sp>
        <p:nvSpPr>
          <p:cNvPr id="31" name="Text 29"/>
          <p:cNvSpPr/>
          <p:nvPr/>
        </p:nvSpPr>
        <p:spPr>
          <a:xfrm>
            <a:off x="3465388" y="3414489"/>
            <a:ext cx="350937"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12BCFF"/>
                </a:solidFill>
                <a:latin typeface="Courier New" pitchFamily="34" charset="0"/>
                <a:ea typeface="Courier New" pitchFamily="34" charset="-122"/>
                <a:cs typeface="Courier New" pitchFamily="34" charset="-120"/>
              </a:rPr>
              <a:t>API</a:t>
            </a:r>
            <a:endParaRPr lang="en-US" sz="800" dirty="0"/>
          </a:p>
        </p:txBody>
      </p:sp>
      <p:pic>
        <p:nvPicPr>
          <p:cNvPr id="32" name="Image 0" descr="preencoded.png">    </p:cNvPr>
          <p:cNvPicPr>
            <a:picLocks noChangeAspect="1"/>
          </p:cNvPicPr>
          <p:nvPr/>
        </p:nvPicPr>
        <p:blipFill>
          <a:blip r:embed="rId1"/>
          <a:stretch>
            <a:fillRect/>
          </a:stretch>
        </p:blipFill>
        <p:spPr>
          <a:xfrm>
            <a:off x="5240610" y="1357982"/>
            <a:ext cx="3703253" cy="2285107"/>
          </a:xfrm>
          <a:prstGeom prst="rect">
            <a:avLst/>
          </a:prstGeom>
        </p:spPr>
      </p:pic>
      <p:sp>
        <p:nvSpPr>
          <p:cNvPr id="33" name="Text 30"/>
          <p:cNvSpPr/>
          <p:nvPr/>
        </p:nvSpPr>
        <p:spPr>
          <a:xfrm>
            <a:off x="5244182" y="1361554"/>
            <a:ext cx="3696109" cy="2277963"/>
          </a:xfrm>
          <a:prstGeom prst="roundRect">
            <a:avLst>
              <a:gd name="adj" fmla="val 7526"/>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34" name="Text 31"/>
          <p:cNvSpPr/>
          <p:nvPr/>
        </p:nvSpPr>
        <p:spPr>
          <a:xfrm>
            <a:off x="5247754" y="1365126"/>
            <a:ext cx="3688966"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35" name="Shape 32"/>
          <p:cNvSpPr/>
          <p:nvPr/>
        </p:nvSpPr>
        <p:spPr>
          <a:xfrm>
            <a:off x="5247754" y="1686595"/>
            <a:ext cx="3688966" cy="0"/>
          </a:xfrm>
          <a:prstGeom prst="line">
            <a:avLst/>
          </a:prstGeom>
          <a:noFill/>
          <a:ln w="7144">
            <a:solidFill>
              <a:srgbClr val="FFFFFF"/>
            </a:solidFill>
            <a:prstDash val="solid"/>
          </a:ln>
        </p:spPr>
      </p:sp>
      <p:sp>
        <p:nvSpPr>
          <p:cNvPr id="36" name="Text 33"/>
          <p:cNvSpPr/>
          <p:nvPr/>
        </p:nvSpPr>
        <p:spPr>
          <a:xfrm>
            <a:off x="5376342" y="1495499"/>
            <a:ext cx="57150" cy="57150"/>
          </a:xfrm>
          <a:prstGeom prst="ellipse">
            <a:avLst/>
          </a:prstGeom>
          <a:solidFill>
            <a:srgbClr val="FF5F57"/>
          </a:solidFill>
          <a:ln/>
        </p:spPr>
        <p:txBody>
          <a:bodyPr wrap="square" rtlCol="0" anchor="ctr"/>
          <a:lstStyle/>
          <a:p>
            <a:pPr indent="0" marL="0">
              <a:buNone/>
            </a:pPr>
            <a:endParaRPr lang="en-US" dirty="0"/>
          </a:p>
        </p:txBody>
      </p:sp>
      <p:sp>
        <p:nvSpPr>
          <p:cNvPr id="37" name="Text 34"/>
          <p:cNvSpPr/>
          <p:nvPr/>
        </p:nvSpPr>
        <p:spPr>
          <a:xfrm>
            <a:off x="5490642" y="1495499"/>
            <a:ext cx="57150" cy="57150"/>
          </a:xfrm>
          <a:prstGeom prst="ellipse">
            <a:avLst/>
          </a:prstGeom>
          <a:solidFill>
            <a:srgbClr val="FEBC2E"/>
          </a:solidFill>
          <a:ln/>
        </p:spPr>
        <p:txBody>
          <a:bodyPr wrap="square" rtlCol="0" anchor="ctr"/>
          <a:lstStyle/>
          <a:p>
            <a:pPr indent="0" marL="0">
              <a:buNone/>
            </a:pPr>
            <a:endParaRPr lang="en-US" dirty="0"/>
          </a:p>
        </p:txBody>
      </p:sp>
      <p:sp>
        <p:nvSpPr>
          <p:cNvPr id="38" name="Text 35"/>
          <p:cNvSpPr/>
          <p:nvPr/>
        </p:nvSpPr>
        <p:spPr>
          <a:xfrm>
            <a:off x="5604942" y="1495499"/>
            <a:ext cx="57150" cy="57150"/>
          </a:xfrm>
          <a:prstGeom prst="ellipse">
            <a:avLst/>
          </a:prstGeom>
          <a:solidFill>
            <a:srgbClr val="28C840"/>
          </a:solidFill>
          <a:ln/>
        </p:spPr>
        <p:txBody>
          <a:bodyPr wrap="square" rtlCol="0" anchor="ctr"/>
          <a:lstStyle/>
          <a:p>
            <a:pPr indent="0" marL="0">
              <a:buNone/>
            </a:pPr>
            <a:endParaRPr lang="en-US" dirty="0"/>
          </a:p>
        </p:txBody>
      </p:sp>
      <p:sp>
        <p:nvSpPr>
          <p:cNvPr id="39" name="Text 36"/>
          <p:cNvSpPr/>
          <p:nvPr/>
        </p:nvSpPr>
        <p:spPr>
          <a:xfrm>
            <a:off x="5776392" y="1465138"/>
            <a:ext cx="2571973"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EKAM — FLOW</a:t>
            </a:r>
            <a:endParaRPr lang="en-US" sz="800" dirty="0"/>
          </a:p>
        </p:txBody>
      </p:sp>
      <p:sp>
        <p:nvSpPr>
          <p:cNvPr id="40" name="Text 37"/>
          <p:cNvSpPr/>
          <p:nvPr/>
        </p:nvSpPr>
        <p:spPr>
          <a:xfrm>
            <a:off x="8376940" y="1495499"/>
            <a:ext cx="57150" cy="57150"/>
          </a:xfrm>
          <a:prstGeom prst="roundRect">
            <a:avLst>
              <a:gd name="adj" fmla="val 66667"/>
            </a:avLst>
          </a:prstGeom>
          <a:solidFill>
            <a:srgbClr val="12BCFF"/>
          </a:solidFill>
          <a:ln/>
        </p:spPr>
        <p:txBody>
          <a:bodyPr wrap="square" rtlCol="0" anchor="ctr"/>
          <a:lstStyle/>
          <a:p>
            <a:pPr indent="0" marL="0">
              <a:buNone/>
            </a:pPr>
            <a:endParaRPr lang="en-US" dirty="0"/>
          </a:p>
        </p:txBody>
      </p:sp>
      <p:sp>
        <p:nvSpPr>
          <p:cNvPr id="41" name="Text 38"/>
          <p:cNvSpPr/>
          <p:nvPr/>
        </p:nvSpPr>
        <p:spPr>
          <a:xfrm>
            <a:off x="8376940" y="1465138"/>
            <a:ext cx="431192" cy="117872"/>
          </a:xfrm>
          <a:prstGeom prst="rect">
            <a:avLst/>
          </a:prstGeom>
          <a:noFill/>
          <a:ln/>
        </p:spPr>
        <p:txBody>
          <a:bodyPr wrap="none" lIns="0" tIns="0" rIns="0" bIns="0" rtlCol="0" anchor="t"/>
          <a:lstStyle/>
          <a:p>
            <a:pPr algn="l" indent="0" marL="0">
              <a:lnSpc>
                <a:spcPts val="928"/>
              </a:lnSpc>
              <a:buNone/>
            </a:pPr>
            <a:r>
              <a:rPr lang="en-US" sz="800" dirty="0">
                <a:solidFill>
                  <a:srgbClr val="12BCFF"/>
                </a:solidFill>
                <a:latin typeface="Courier New" pitchFamily="34" charset="0"/>
                <a:ea typeface="Courier New" pitchFamily="34" charset="-122"/>
                <a:cs typeface="Courier New" pitchFamily="34" charset="-120"/>
              </a:rPr>
              <a:t>running</a:t>
            </a:r>
            <a:endParaRPr lang="en-US" sz="800" dirty="0"/>
          </a:p>
        </p:txBody>
      </p:sp>
      <p:sp>
        <p:nvSpPr>
          <p:cNvPr id="42" name="Text 39"/>
          <p:cNvSpPr/>
          <p:nvPr/>
        </p:nvSpPr>
        <p:spPr>
          <a:xfrm>
            <a:off x="5376342" y="1885727"/>
            <a:ext cx="57150" cy="57150"/>
          </a:xfrm>
          <a:prstGeom prst="ellipse">
            <a:avLst/>
          </a:prstGeom>
          <a:solidFill>
            <a:srgbClr val="12BCFF"/>
          </a:solidFill>
          <a:ln/>
        </p:spPr>
        <p:txBody>
          <a:bodyPr wrap="square" rtlCol="0" anchor="ctr"/>
          <a:lstStyle/>
          <a:p>
            <a:pPr indent="0" marL="0">
              <a:buNone/>
            </a:pPr>
            <a:endParaRPr lang="en-US" dirty="0"/>
          </a:p>
        </p:txBody>
      </p:sp>
      <p:sp>
        <p:nvSpPr>
          <p:cNvPr id="43" name="Text 40"/>
          <p:cNvSpPr/>
          <p:nvPr/>
        </p:nvSpPr>
        <p:spPr>
          <a:xfrm>
            <a:off x="5533504" y="1847329"/>
            <a:ext cx="2779477"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Planner</a:t>
            </a:r>
            <a:endParaRPr lang="en-US" sz="800" dirty="0"/>
          </a:p>
        </p:txBody>
      </p:sp>
      <p:sp>
        <p:nvSpPr>
          <p:cNvPr id="44" name="Text 41"/>
          <p:cNvSpPr/>
          <p:nvPr/>
        </p:nvSpPr>
        <p:spPr>
          <a:xfrm>
            <a:off x="8362987" y="1852687"/>
            <a:ext cx="569786" cy="164592"/>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Liberation Sans Narrow" pitchFamily="34" charset="0"/>
                <a:ea typeface="Liberation Sans Narrow" pitchFamily="34" charset="-122"/>
                <a:cs typeface="Liberation Sans Narrow" pitchFamily="34" charset="-120"/>
              </a:rPr>
              <a:t>spec · 8s</a:t>
            </a:r>
            <a:endParaRPr lang="en-US" sz="800" dirty="0"/>
          </a:p>
        </p:txBody>
      </p:sp>
      <p:sp>
        <p:nvSpPr>
          <p:cNvPr id="45" name="Shape 42"/>
          <p:cNvSpPr/>
          <p:nvPr/>
        </p:nvSpPr>
        <p:spPr>
          <a:xfrm>
            <a:off x="5247754" y="2070571"/>
            <a:ext cx="3688966" cy="0"/>
          </a:xfrm>
          <a:prstGeom prst="line">
            <a:avLst/>
          </a:prstGeom>
          <a:noFill/>
          <a:ln w="7144">
            <a:solidFill>
              <a:srgbClr val="FFFFFF"/>
            </a:solidFill>
            <a:prstDash val="solid"/>
          </a:ln>
        </p:spPr>
      </p:sp>
      <p:sp>
        <p:nvSpPr>
          <p:cNvPr id="46" name="Text 43"/>
          <p:cNvSpPr/>
          <p:nvPr/>
        </p:nvSpPr>
        <p:spPr>
          <a:xfrm>
            <a:off x="5376342" y="2198266"/>
            <a:ext cx="57150" cy="57150"/>
          </a:xfrm>
          <a:prstGeom prst="ellipse">
            <a:avLst/>
          </a:prstGeom>
          <a:solidFill>
            <a:srgbClr val="12BCFF"/>
          </a:solidFill>
          <a:ln/>
        </p:spPr>
        <p:txBody>
          <a:bodyPr wrap="square" rtlCol="0" anchor="ctr"/>
          <a:lstStyle/>
          <a:p>
            <a:pPr indent="0" marL="0">
              <a:buNone/>
            </a:pPr>
            <a:endParaRPr lang="en-US" dirty="0"/>
          </a:p>
        </p:txBody>
      </p:sp>
      <p:sp>
        <p:nvSpPr>
          <p:cNvPr id="47" name="Text 44"/>
          <p:cNvSpPr/>
          <p:nvPr/>
        </p:nvSpPr>
        <p:spPr>
          <a:xfrm>
            <a:off x="5533504" y="2159868"/>
            <a:ext cx="2581573"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Designer</a:t>
            </a:r>
            <a:endParaRPr lang="en-US" sz="800" dirty="0"/>
          </a:p>
        </p:txBody>
      </p:sp>
      <p:sp>
        <p:nvSpPr>
          <p:cNvPr id="48" name="Text 45"/>
          <p:cNvSpPr/>
          <p:nvPr/>
        </p:nvSpPr>
        <p:spPr>
          <a:xfrm>
            <a:off x="8165083" y="2165226"/>
            <a:ext cx="643049" cy="128588"/>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Courier New" pitchFamily="34" charset="0"/>
                <a:ea typeface="Courier New" pitchFamily="34" charset="-122"/>
                <a:cs typeface="Courier New" pitchFamily="34" charset="-120"/>
              </a:rPr>
              <a:t>layout + copy</a:t>
            </a:r>
            <a:endParaRPr lang="en-US" sz="800" dirty="0"/>
          </a:p>
        </p:txBody>
      </p:sp>
      <p:sp>
        <p:nvSpPr>
          <p:cNvPr id="49" name="Shape 46"/>
          <p:cNvSpPr/>
          <p:nvPr/>
        </p:nvSpPr>
        <p:spPr>
          <a:xfrm>
            <a:off x="5247754" y="2383110"/>
            <a:ext cx="3688966" cy="0"/>
          </a:xfrm>
          <a:prstGeom prst="line">
            <a:avLst/>
          </a:prstGeom>
          <a:noFill/>
          <a:ln w="7144">
            <a:solidFill>
              <a:srgbClr val="FFFFFF"/>
            </a:solidFill>
            <a:prstDash val="solid"/>
          </a:ln>
        </p:spPr>
      </p:sp>
      <p:sp>
        <p:nvSpPr>
          <p:cNvPr id="50" name="Text 47"/>
          <p:cNvSpPr/>
          <p:nvPr/>
        </p:nvSpPr>
        <p:spPr>
          <a:xfrm>
            <a:off x="5376342" y="2510805"/>
            <a:ext cx="57150" cy="57150"/>
          </a:xfrm>
          <a:prstGeom prst="ellipse">
            <a:avLst/>
          </a:prstGeom>
          <a:solidFill>
            <a:srgbClr val="12BCFF"/>
          </a:solidFill>
          <a:ln/>
        </p:spPr>
        <p:txBody>
          <a:bodyPr wrap="square" rtlCol="0" anchor="ctr"/>
          <a:lstStyle/>
          <a:p>
            <a:pPr indent="0" marL="0">
              <a:buNone/>
            </a:pPr>
            <a:endParaRPr lang="en-US" dirty="0"/>
          </a:p>
        </p:txBody>
      </p:sp>
      <p:sp>
        <p:nvSpPr>
          <p:cNvPr id="51" name="Text 48"/>
          <p:cNvSpPr/>
          <p:nvPr/>
        </p:nvSpPr>
        <p:spPr>
          <a:xfrm>
            <a:off x="5533504" y="2472407"/>
            <a:ext cx="2334332"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Engineer</a:t>
            </a:r>
            <a:endParaRPr lang="en-US" sz="800" dirty="0"/>
          </a:p>
        </p:txBody>
      </p:sp>
      <p:sp>
        <p:nvSpPr>
          <p:cNvPr id="52" name="Text 49"/>
          <p:cNvSpPr/>
          <p:nvPr/>
        </p:nvSpPr>
        <p:spPr>
          <a:xfrm>
            <a:off x="7917842" y="2477765"/>
            <a:ext cx="890290" cy="128588"/>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Courier New" pitchFamily="34" charset="0"/>
                <a:ea typeface="Courier New" pitchFamily="34" charset="-122"/>
                <a:cs typeface="Courier New" pitchFamily="34" charset="-120"/>
              </a:rPr>
              <a:t>frontend + backend</a:t>
            </a:r>
            <a:endParaRPr lang="en-US" sz="800" dirty="0"/>
          </a:p>
        </p:txBody>
      </p:sp>
      <p:sp>
        <p:nvSpPr>
          <p:cNvPr id="53" name="Shape 50"/>
          <p:cNvSpPr/>
          <p:nvPr/>
        </p:nvSpPr>
        <p:spPr>
          <a:xfrm>
            <a:off x="5247754" y="2695649"/>
            <a:ext cx="3688966" cy="0"/>
          </a:xfrm>
          <a:prstGeom prst="line">
            <a:avLst/>
          </a:prstGeom>
          <a:noFill/>
          <a:ln w="7144">
            <a:solidFill>
              <a:srgbClr val="FFFFFF"/>
            </a:solidFill>
            <a:prstDash val="solid"/>
          </a:ln>
        </p:spPr>
      </p:sp>
      <p:sp>
        <p:nvSpPr>
          <p:cNvPr id="54" name="Text 51"/>
          <p:cNvSpPr/>
          <p:nvPr/>
        </p:nvSpPr>
        <p:spPr>
          <a:xfrm>
            <a:off x="5376342" y="2823344"/>
            <a:ext cx="57150" cy="57150"/>
          </a:xfrm>
          <a:prstGeom prst="ellipse">
            <a:avLst/>
          </a:prstGeom>
          <a:solidFill>
            <a:srgbClr val="12BCFF"/>
          </a:solidFill>
          <a:ln/>
        </p:spPr>
        <p:txBody>
          <a:bodyPr wrap="square" rtlCol="0" anchor="ctr"/>
          <a:lstStyle/>
          <a:p>
            <a:pPr indent="0" marL="0">
              <a:buNone/>
            </a:pPr>
            <a:endParaRPr lang="en-US" dirty="0"/>
          </a:p>
        </p:txBody>
      </p:sp>
      <p:sp>
        <p:nvSpPr>
          <p:cNvPr id="55" name="Text 52"/>
          <p:cNvSpPr/>
          <p:nvPr/>
        </p:nvSpPr>
        <p:spPr>
          <a:xfrm>
            <a:off x="5533504" y="2784946"/>
            <a:ext cx="2680469"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Deployer</a:t>
            </a:r>
            <a:endParaRPr lang="en-US" sz="800" dirty="0"/>
          </a:p>
        </p:txBody>
      </p:sp>
      <p:sp>
        <p:nvSpPr>
          <p:cNvPr id="56" name="Text 53"/>
          <p:cNvSpPr/>
          <p:nvPr/>
        </p:nvSpPr>
        <p:spPr>
          <a:xfrm>
            <a:off x="8263979" y="2790304"/>
            <a:ext cx="544153" cy="128588"/>
          </a:xfrm>
          <a:prstGeom prst="rect">
            <a:avLst/>
          </a:prstGeom>
          <a:noFill/>
          <a:ln/>
        </p:spPr>
        <p:txBody>
          <a:bodyPr wrap="none" lIns="0" tIns="0" rIns="0" bIns="0" rtlCol="0" anchor="t"/>
          <a:lstStyle/>
          <a:p>
            <a:pPr algn="l" indent="0" marL="0">
              <a:lnSpc>
                <a:spcPts val="970"/>
              </a:lnSpc>
              <a:buNone/>
            </a:pPr>
            <a:r>
              <a:rPr lang="en-US" sz="800" dirty="0">
                <a:solidFill>
                  <a:srgbClr val="12BCFF"/>
                </a:solidFill>
                <a:latin typeface="Courier New" pitchFamily="34" charset="0"/>
                <a:ea typeface="Courier New" pitchFamily="34" charset="-122"/>
                <a:cs typeface="Courier New" pitchFamily="34" charset="-120"/>
              </a:rPr>
              <a:t>publishing…</a:t>
            </a:r>
            <a:endParaRPr lang="en-US" sz="800" dirty="0"/>
          </a:p>
        </p:txBody>
      </p:sp>
      <p:sp>
        <p:nvSpPr>
          <p:cNvPr id="57" name="Text 54"/>
          <p:cNvSpPr/>
          <p:nvPr/>
        </p:nvSpPr>
        <p:spPr>
          <a:xfrm>
            <a:off x="5247754" y="3076054"/>
            <a:ext cx="3688966" cy="501848"/>
          </a:xfrm>
          <a:prstGeom prst="rect">
            <a:avLst/>
          </a:prstGeom>
          <a:solidFill>
            <a:srgbClr val="12BCFF">
              <a:alpha val="4000"/>
            </a:srgbClr>
          </a:solidFill>
          <a:ln/>
        </p:spPr>
        <p:txBody>
          <a:bodyPr wrap="square" rtlCol="0" anchor="ctr"/>
          <a:lstStyle/>
          <a:p>
            <a:pPr indent="0" marL="0">
              <a:buNone/>
            </a:pPr>
            <a:endParaRPr lang="en-US" dirty="0"/>
          </a:p>
        </p:txBody>
      </p:sp>
      <p:sp>
        <p:nvSpPr>
          <p:cNvPr id="58" name="Shape 55"/>
          <p:cNvSpPr/>
          <p:nvPr/>
        </p:nvSpPr>
        <p:spPr>
          <a:xfrm>
            <a:off x="5247754" y="3079626"/>
            <a:ext cx="3688966" cy="0"/>
          </a:xfrm>
          <a:prstGeom prst="line">
            <a:avLst/>
          </a:prstGeom>
          <a:noFill/>
          <a:ln w="7144">
            <a:solidFill>
              <a:srgbClr val="FFFFFF"/>
            </a:solidFill>
            <a:prstDash val="solid"/>
          </a:ln>
        </p:spPr>
      </p:sp>
      <p:sp>
        <p:nvSpPr>
          <p:cNvPr id="59" name="Text 56"/>
          <p:cNvSpPr/>
          <p:nvPr/>
        </p:nvSpPr>
        <p:spPr>
          <a:xfrm>
            <a:off x="5376342" y="3200177"/>
            <a:ext cx="100013" cy="100013"/>
          </a:xfrm>
          <a:prstGeom prst="rect">
            <a:avLst/>
          </a:prstGeom>
          <a:noFill/>
          <a:ln/>
        </p:spPr>
        <p:txBody>
          <a:bodyPr wrap="none" lIns="0" tIns="0" rIns="0" bIns="0" rtlCol="0" anchor="ctr"/>
          <a:lstStyle/>
          <a:p>
            <a:pPr algn="ctr" indent="0" marL="0">
              <a:buNone/>
            </a:pPr>
            <a:r>
              <a:rPr lang="en-US" sz="984" dirty="0">
                <a:solidFill>
                  <a:srgbClr val="12BCFF"/>
                </a:solidFill>
                <a:latin typeface="Segoe UI Symbol" pitchFamily="34" charset="0"/>
                <a:ea typeface="Segoe UI Symbol" pitchFamily="34" charset="-122"/>
                <a:cs typeface="Segoe UI Symbol" pitchFamily="34" charset="-120"/>
              </a:rPr>
              <a:t>⌘</a:t>
            </a:r>
            <a:endParaRPr lang="en-US" sz="984" dirty="0"/>
          </a:p>
        </p:txBody>
      </p:sp>
      <p:sp>
        <p:nvSpPr>
          <p:cNvPr id="60" name="Text 57"/>
          <p:cNvSpPr/>
          <p:nvPr/>
        </p:nvSpPr>
        <p:spPr>
          <a:xfrm>
            <a:off x="5533504" y="3183210"/>
            <a:ext cx="3274628"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https://notes-app.ekamai.in</a:t>
            </a:r>
            <a:endParaRPr lang="en-US" sz="800" dirty="0"/>
          </a:p>
        </p:txBody>
      </p:sp>
      <p:sp>
        <p:nvSpPr>
          <p:cNvPr id="61" name="Text 58"/>
          <p:cNvSpPr/>
          <p:nvPr/>
        </p:nvSpPr>
        <p:spPr>
          <a:xfrm>
            <a:off x="5376342" y="3360018"/>
            <a:ext cx="3541519" cy="117872"/>
          </a:xfrm>
          <a:prstGeom prst="rect">
            <a:avLst/>
          </a:prstGeom>
          <a:noFill/>
          <a:ln/>
        </p:spPr>
        <p:txBody>
          <a:bodyPr wrap="squar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Generated in 47 seconds · 1 credit</a:t>
            </a:r>
            <a:endParaRPr lang="en-US" sz="800" dirty="0"/>
          </a:p>
        </p:txBody>
      </p:sp>
      <p:pic>
        <p:nvPicPr>
          <p:cNvPr id="62" name="Image 1" descr="preencoded.png">    </p:cNvPr>
          <p:cNvPicPr>
            <a:picLocks noChangeAspect="1"/>
          </p:cNvPicPr>
          <p:nvPr/>
        </p:nvPicPr>
        <p:blipFill>
          <a:blip r:embed="rId2"/>
          <a:stretch>
            <a:fillRect/>
          </a:stretch>
        </p:blipFill>
        <p:spPr>
          <a:xfrm>
            <a:off x="5247754" y="3577903"/>
            <a:ext cx="3688966" cy="2143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6572250" y="428625"/>
            <a:ext cx="3714750" cy="3714750"/>
          </a:xfrm>
          <a:prstGeom prst="ellipse">
            <a:avLst/>
          </a:prstGeom>
          <a:solidFill>
            <a:srgbClr val="12BCFF">
              <a:alpha val="8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05 / 16</a:t>
            </a:r>
            <a:endParaRPr lang="en-US" sz="800" dirty="0"/>
          </a:p>
        </p:txBody>
      </p:sp>
      <p:sp>
        <p:nvSpPr>
          <p:cNvPr id="5" name="Text 3"/>
          <p:cNvSpPr/>
          <p:nvPr/>
        </p:nvSpPr>
        <p:spPr>
          <a:xfrm>
            <a:off x="434340" y="558698"/>
            <a:ext cx="1270315" cy="243488"/>
          </a:xfrm>
          <a:prstGeom prst="roundRect">
            <a:avLst>
              <a:gd name="adj" fmla="val 39115059"/>
            </a:avLst>
          </a:prstGeom>
          <a:solidFill>
            <a:srgbClr val="91E500">
              <a:alpha val="8000"/>
            </a:srgbClr>
          </a:solidFill>
          <a:ln w="7144">
            <a:solidFill>
              <a:srgbClr val="91E500"/>
            </a:solidFill>
            <a:prstDash val="solid"/>
          </a:ln>
        </p:spPr>
        <p:txBody>
          <a:bodyPr wrap="square" rtlCol="0" anchor="ctr"/>
          <a:lstStyle/>
          <a:p>
            <a:pPr indent="0" marL="0">
              <a:buNone/>
            </a:pPr>
            <a:endParaRPr lang="en-US" dirty="0"/>
          </a:p>
        </p:txBody>
      </p:sp>
      <p:sp>
        <p:nvSpPr>
          <p:cNvPr id="6" name="Text 4"/>
          <p:cNvSpPr/>
          <p:nvPr/>
        </p:nvSpPr>
        <p:spPr>
          <a:xfrm>
            <a:off x="564356" y="65186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571500"/>
            <a:ext cx="1224595"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91E500"/>
                </a:solidFill>
                <a:latin typeface="Liberation Sans Narrow" pitchFamily="34" charset="0"/>
                <a:ea typeface="Liberation Sans Narrow" pitchFamily="34" charset="-122"/>
                <a:cs typeface="Liberation Sans Narrow" pitchFamily="34" charset="-120"/>
              </a:rPr>
              <a:t> SUITE 02 — PENTEST</a:t>
            </a:r>
            <a:endParaRPr lang="en-US" sz="800" dirty="0"/>
          </a:p>
        </p:txBody>
      </p:sp>
      <p:sp>
        <p:nvSpPr>
          <p:cNvPr id="8" name="Text 6"/>
          <p:cNvSpPr/>
          <p:nvPr/>
        </p:nvSpPr>
        <p:spPr>
          <a:xfrm>
            <a:off x="457200" y="889397"/>
            <a:ext cx="8229600" cy="305476"/>
          </a:xfrm>
          <a:prstGeom prst="rect">
            <a:avLst/>
          </a:prstGeom>
          <a:noFill/>
          <a:ln/>
        </p:spPr>
        <p:txBody>
          <a:bodyPr wrap="square" lIns="0" tIns="0" rIns="0" bIns="0" rtlCol="0" anchor="t"/>
          <a:lstStyle/>
          <a:p>
            <a:pPr algn="l" indent="0" marL="0">
              <a:lnSpc>
                <a:spcPts val="2228"/>
              </a:lnSpc>
              <a:buNone/>
            </a:pPr>
            <a:r>
              <a:rPr lang="en-US" sz="2025" b="1" spc="-51" kern="0" dirty="0">
                <a:solidFill>
                  <a:srgbClr val="F2F1F1"/>
                </a:solidFill>
                <a:latin typeface="Carlito" pitchFamily="34" charset="0"/>
                <a:ea typeface="Carlito" pitchFamily="34" charset="-122"/>
                <a:cs typeface="Carlito" pitchFamily="34" charset="-120"/>
              </a:rPr>
              <a:t>Pre-launch security scan with </a:t>
            </a:r>
            <a:pPr algn="l" indent="0" marL="0">
              <a:lnSpc>
                <a:spcPts val="2228"/>
              </a:lnSpc>
              <a:buNone/>
            </a:pPr>
            <a:r>
              <a:rPr lang="en-US" sz="2025" b="1" spc="-51" kern="0" dirty="0">
                <a:solidFill>
                  <a:srgbClr val="91E500"/>
                </a:solidFill>
                <a:latin typeface="Carlito" pitchFamily="34" charset="0"/>
                <a:ea typeface="Carlito" pitchFamily="34" charset="-122"/>
                <a:cs typeface="Carlito" pitchFamily="34" charset="-120"/>
              </a:rPr>
              <a:t>evidence</a:t>
            </a:r>
            <a:endParaRPr lang="en-US" sz="2025" dirty="0"/>
          </a:p>
        </p:txBody>
      </p:sp>
      <p:sp>
        <p:nvSpPr>
          <p:cNvPr id="9" name="Text 7"/>
          <p:cNvSpPr/>
          <p:nvPr/>
        </p:nvSpPr>
        <p:spPr>
          <a:xfrm>
            <a:off x="457200" y="1357982"/>
            <a:ext cx="4526235" cy="357795"/>
          </a:xfrm>
          <a:prstGeom prst="rect">
            <a:avLst/>
          </a:prstGeom>
          <a:noFill/>
          <a:ln/>
        </p:spPr>
        <p:txBody>
          <a:bodyPr wrap="square" lIns="0" tIns="0" rIns="0" bIns="0" rtlCol="0" anchor="t"/>
          <a:lstStyle/>
          <a:p>
            <a:pPr algn="l" indent="0" marL="0">
              <a:lnSpc>
                <a:spcPts val="1305"/>
              </a:lnSpc>
              <a:buNone/>
            </a:pPr>
            <a:r>
              <a:rPr lang="en-US" sz="816" dirty="0">
                <a:solidFill>
                  <a:srgbClr val="F2F1F1">
                    <a:alpha val="60000"/>
                  </a:srgbClr>
                </a:solidFill>
                <a:latin typeface="Carlito" pitchFamily="34" charset="0"/>
                <a:ea typeface="Carlito" pitchFamily="34" charset="-122"/>
                <a:cs typeface="Carlito" pitchFamily="34" charset="-120"/>
              </a:rPr>
              <a:t>Run a structured pre-launch security scan on a target you own. Pentest reports findings with evidence, severity, and guidance.</a:t>
            </a:r>
            <a:endParaRPr lang="en-US" sz="816" dirty="0"/>
          </a:p>
        </p:txBody>
      </p:sp>
      <p:sp>
        <p:nvSpPr>
          <p:cNvPr id="10" name="Text 8"/>
          <p:cNvSpPr/>
          <p:nvPr/>
        </p:nvSpPr>
        <p:spPr>
          <a:xfrm>
            <a:off x="457200" y="1903586"/>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11" name="Text 9"/>
          <p:cNvSpPr/>
          <p:nvPr/>
        </p:nvSpPr>
        <p:spPr>
          <a:xfrm>
            <a:off x="700088" y="1896442"/>
            <a:ext cx="4283348" cy="159081"/>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12 specialist agents · 11 vulnerability classes</a:t>
            </a:r>
            <a:endParaRPr lang="en-US" sz="800" dirty="0"/>
          </a:p>
        </p:txBody>
      </p:sp>
      <p:sp>
        <p:nvSpPr>
          <p:cNvPr id="12" name="Shape 10"/>
          <p:cNvSpPr/>
          <p:nvPr/>
        </p:nvSpPr>
        <p:spPr>
          <a:xfrm>
            <a:off x="457200" y="2128614"/>
            <a:ext cx="4526235" cy="0"/>
          </a:xfrm>
          <a:prstGeom prst="line">
            <a:avLst/>
          </a:prstGeom>
          <a:noFill/>
          <a:ln w="7144">
            <a:solidFill>
              <a:srgbClr val="FFFFFF"/>
            </a:solidFill>
            <a:prstDash val="solid"/>
          </a:ln>
        </p:spPr>
      </p:sp>
      <p:sp>
        <p:nvSpPr>
          <p:cNvPr id="13" name="Text 11"/>
          <p:cNvSpPr/>
          <p:nvPr/>
        </p:nvSpPr>
        <p:spPr>
          <a:xfrm>
            <a:off x="457200" y="2217911"/>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14" name="Text 12"/>
          <p:cNvSpPr/>
          <p:nvPr/>
        </p:nvSpPr>
        <p:spPr>
          <a:xfrm>
            <a:off x="700088" y="221076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OWASP Top 10 + business logic + race conditions</a:t>
            </a:r>
            <a:endParaRPr lang="en-US" sz="800" dirty="0"/>
          </a:p>
        </p:txBody>
      </p:sp>
      <p:sp>
        <p:nvSpPr>
          <p:cNvPr id="15" name="Shape 13"/>
          <p:cNvSpPr/>
          <p:nvPr/>
        </p:nvSpPr>
        <p:spPr>
          <a:xfrm>
            <a:off x="457200" y="2442939"/>
            <a:ext cx="4526235" cy="0"/>
          </a:xfrm>
          <a:prstGeom prst="line">
            <a:avLst/>
          </a:prstGeom>
          <a:noFill/>
          <a:ln w="7144">
            <a:solidFill>
              <a:srgbClr val="FFFFFF"/>
            </a:solidFill>
            <a:prstDash val="solid"/>
          </a:ln>
        </p:spPr>
      </p:sp>
      <p:sp>
        <p:nvSpPr>
          <p:cNvPr id="16" name="Text 14"/>
          <p:cNvSpPr/>
          <p:nvPr/>
        </p:nvSpPr>
        <p:spPr>
          <a:xfrm>
            <a:off x="457200" y="2532236"/>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17" name="Text 15"/>
          <p:cNvSpPr/>
          <p:nvPr/>
        </p:nvSpPr>
        <p:spPr>
          <a:xfrm>
            <a:off x="700088" y="2525092"/>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Evidence-backed findings with severity levels</a:t>
            </a:r>
            <a:endParaRPr lang="en-US" sz="800" dirty="0"/>
          </a:p>
        </p:txBody>
      </p:sp>
      <p:sp>
        <p:nvSpPr>
          <p:cNvPr id="18" name="Shape 16"/>
          <p:cNvSpPr/>
          <p:nvPr/>
        </p:nvSpPr>
        <p:spPr>
          <a:xfrm>
            <a:off x="457200" y="2757264"/>
            <a:ext cx="4526235" cy="0"/>
          </a:xfrm>
          <a:prstGeom prst="line">
            <a:avLst/>
          </a:prstGeom>
          <a:noFill/>
          <a:ln w="7144">
            <a:solidFill>
              <a:srgbClr val="FFFFFF"/>
            </a:solidFill>
            <a:prstDash val="solid"/>
          </a:ln>
        </p:spPr>
      </p:sp>
      <p:sp>
        <p:nvSpPr>
          <p:cNvPr id="19" name="Text 17"/>
          <p:cNvSpPr/>
          <p:nvPr/>
        </p:nvSpPr>
        <p:spPr>
          <a:xfrm>
            <a:off x="457200" y="2846561"/>
            <a:ext cx="142875" cy="142875"/>
          </a:xfrm>
          <a:prstGeom prst="rect">
            <a:avLst/>
          </a:prstGeom>
          <a:noFill/>
          <a:ln/>
        </p:spPr>
        <p:txBody>
          <a:bodyPr wrap="none" lIns="0" tIns="0" rIns="0" bIns="0" rtlCol="0" anchor="ctr"/>
          <a:lstStyle/>
          <a:p>
            <a:pPr algn="ctr" indent="0" marL="0">
              <a:buNone/>
            </a:pPr>
            <a:r>
              <a:rPr lang="en-US" sz="1406" dirty="0">
                <a:solidFill>
                  <a:srgbClr val="91E500"/>
                </a:solidFill>
                <a:latin typeface="Segoe UI Symbol" pitchFamily="34" charset="0"/>
                <a:ea typeface="Segoe UI Symbol" pitchFamily="34" charset="-122"/>
                <a:cs typeface="Segoe UI Symbol" pitchFamily="34" charset="-120"/>
              </a:rPr>
              <a:t>⛨</a:t>
            </a:r>
            <a:endParaRPr lang="en-US" sz="1406" dirty="0"/>
          </a:p>
        </p:txBody>
      </p:sp>
      <p:sp>
        <p:nvSpPr>
          <p:cNvPr id="20" name="Text 18"/>
          <p:cNvSpPr/>
          <p:nvPr/>
        </p:nvSpPr>
        <p:spPr>
          <a:xfrm>
            <a:off x="700088" y="283941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Authorized targets only — SOC 2 / GDPR aligned</a:t>
            </a:r>
            <a:endParaRPr lang="en-US" sz="800" dirty="0"/>
          </a:p>
        </p:txBody>
      </p:sp>
      <p:sp>
        <p:nvSpPr>
          <p:cNvPr id="21" name="Text 19"/>
          <p:cNvSpPr/>
          <p:nvPr/>
        </p:nvSpPr>
        <p:spPr>
          <a:xfrm>
            <a:off x="457200" y="3225180"/>
            <a:ext cx="5584809" cy="161877"/>
          </a:xfrm>
          <a:prstGeom prst="rect">
            <a:avLst/>
          </a:prstGeom>
          <a:noFill/>
          <a:ln/>
        </p:spPr>
        <p:txBody>
          <a:bodyPr wrap="none" lIns="0" tIns="0" rIns="0" bIns="0" rtlCol="0" anchor="t">
            <a:normAutofit/>
          </a:bodyPr>
          <a:lstStyle/>
          <a:p>
            <a:pPr algn="l" indent="0" marL="0">
              <a:lnSpc>
                <a:spcPts val="928"/>
              </a:lnSpc>
              <a:buNone/>
            </a:pPr>
            <a:r>
              <a:rPr lang="en-US" sz="800" spc="50" kern="0" dirty="0">
                <a:solidFill>
                  <a:srgbClr val="F2F1F1">
                    <a:alpha val="40000"/>
                  </a:srgbClr>
                </a:solidFill>
                <a:latin typeface="Courier New" pitchFamily="34" charset="0"/>
                <a:ea typeface="Courier New" pitchFamily="34" charset="-122"/>
                <a:cs typeface="Courier New" pitchFamily="34" charset="-120"/>
              </a:rPr>
              <a:t>ALIGNED WITH</a:t>
            </a:r>
            <a:endParaRPr lang="en-US" sz="800" dirty="0"/>
          </a:p>
        </p:txBody>
      </p:sp>
      <p:sp>
        <p:nvSpPr>
          <p:cNvPr id="22" name="Text 20"/>
          <p:cNvSpPr/>
          <p:nvPr/>
        </p:nvSpPr>
        <p:spPr>
          <a:xfrm>
            <a:off x="438760" y="3401688"/>
            <a:ext cx="497875"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3" name="Text 21"/>
          <p:cNvSpPr/>
          <p:nvPr/>
        </p:nvSpPr>
        <p:spPr>
          <a:xfrm>
            <a:off x="457200" y="3414489"/>
            <a:ext cx="460995"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Courier New" pitchFamily="34" charset="0"/>
                <a:ea typeface="Courier New" pitchFamily="34" charset="-122"/>
                <a:cs typeface="Courier New" pitchFamily="34" charset="-120"/>
              </a:rPr>
              <a:t>OWASP</a:t>
            </a:r>
            <a:endParaRPr lang="en-US" sz="800" dirty="0"/>
          </a:p>
        </p:txBody>
      </p:sp>
      <p:sp>
        <p:nvSpPr>
          <p:cNvPr id="24" name="Text 22"/>
          <p:cNvSpPr/>
          <p:nvPr/>
        </p:nvSpPr>
        <p:spPr>
          <a:xfrm>
            <a:off x="956905" y="3401688"/>
            <a:ext cx="497875"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5" name="Text 23"/>
          <p:cNvSpPr/>
          <p:nvPr/>
        </p:nvSpPr>
        <p:spPr>
          <a:xfrm>
            <a:off x="975345" y="3414489"/>
            <a:ext cx="460995"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Liberation Sans Narrow" pitchFamily="34" charset="0"/>
                <a:ea typeface="Liberation Sans Narrow" pitchFamily="34" charset="-122"/>
                <a:cs typeface="Liberation Sans Narrow" pitchFamily="34" charset="-120"/>
              </a:rPr>
              <a:t>SOC 2</a:t>
            </a:r>
            <a:endParaRPr lang="en-US" sz="800" dirty="0"/>
          </a:p>
        </p:txBody>
      </p:sp>
      <p:sp>
        <p:nvSpPr>
          <p:cNvPr id="26" name="Text 24"/>
          <p:cNvSpPr/>
          <p:nvPr/>
        </p:nvSpPr>
        <p:spPr>
          <a:xfrm>
            <a:off x="1477252" y="3401688"/>
            <a:ext cx="438443"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7" name="Text 25"/>
          <p:cNvSpPr/>
          <p:nvPr/>
        </p:nvSpPr>
        <p:spPr>
          <a:xfrm>
            <a:off x="1493490" y="3414489"/>
            <a:ext cx="405966"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Courier New" pitchFamily="34" charset="0"/>
                <a:ea typeface="Courier New" pitchFamily="34" charset="-122"/>
                <a:cs typeface="Courier New" pitchFamily="34" charset="-120"/>
              </a:rPr>
              <a:t>GDPR</a:t>
            </a:r>
            <a:endParaRPr lang="en-US" sz="800" dirty="0"/>
          </a:p>
        </p:txBody>
      </p:sp>
      <p:sp>
        <p:nvSpPr>
          <p:cNvPr id="28" name="Text 26"/>
          <p:cNvSpPr/>
          <p:nvPr/>
        </p:nvSpPr>
        <p:spPr>
          <a:xfrm>
            <a:off x="1933746" y="3401688"/>
            <a:ext cx="892031" cy="254203"/>
          </a:xfrm>
          <a:prstGeom prst="roundRect">
            <a:avLst>
              <a:gd name="adj" fmla="val 37466306"/>
            </a:avLst>
          </a:prstGeom>
          <a:solidFill>
            <a:srgbClr val="91E500">
              <a:alpha val="6000"/>
            </a:srgbClr>
          </a:solidFill>
          <a:ln w="7144">
            <a:solidFill>
              <a:srgbClr val="91E500"/>
            </a:solidFill>
            <a:prstDash val="solid"/>
          </a:ln>
        </p:spPr>
        <p:txBody>
          <a:bodyPr wrap="square" rtlCol="0" anchor="ctr"/>
          <a:lstStyle/>
          <a:p>
            <a:pPr indent="0" marL="0">
              <a:buNone/>
            </a:pPr>
            <a:endParaRPr lang="en-US" dirty="0"/>
          </a:p>
        </p:txBody>
      </p:sp>
      <p:sp>
        <p:nvSpPr>
          <p:cNvPr id="29" name="Text 27"/>
          <p:cNvSpPr/>
          <p:nvPr/>
        </p:nvSpPr>
        <p:spPr>
          <a:xfrm>
            <a:off x="1956606" y="3414489"/>
            <a:ext cx="846311" cy="228600"/>
          </a:xfrm>
          <a:prstGeom prst="rect">
            <a:avLst/>
          </a:prstGeom>
          <a:noFill/>
          <a:ln/>
        </p:spPr>
        <p:txBody>
          <a:bodyPr wrap="none" lIns="0" tIns="0" rIns="0" bIns="0" rtlCol="0" anchor="ctr"/>
          <a:lstStyle/>
          <a:p>
            <a:pPr algn="ctr" indent="0" marL="0">
              <a:lnSpc>
                <a:spcPts val="1013"/>
              </a:lnSpc>
              <a:buNone/>
            </a:pPr>
            <a:r>
              <a:rPr lang="en-US" sz="800" spc="27" kern="0" dirty="0">
                <a:solidFill>
                  <a:srgbClr val="91E500"/>
                </a:solidFill>
                <a:latin typeface="Courier New" pitchFamily="34" charset="0"/>
                <a:ea typeface="Courier New" pitchFamily="34" charset="-122"/>
                <a:cs typeface="Courier New" pitchFamily="34" charset="-120"/>
              </a:rPr>
              <a:t>API Security</a:t>
            </a:r>
            <a:endParaRPr lang="en-US" sz="800" dirty="0"/>
          </a:p>
        </p:txBody>
      </p:sp>
      <p:pic>
        <p:nvPicPr>
          <p:cNvPr id="30" name="Image 0" descr="preencoded.png">    </p:cNvPr>
          <p:cNvPicPr>
            <a:picLocks noChangeAspect="1"/>
          </p:cNvPicPr>
          <p:nvPr/>
        </p:nvPicPr>
        <p:blipFill>
          <a:blip r:embed="rId1"/>
          <a:stretch>
            <a:fillRect/>
          </a:stretch>
        </p:blipFill>
        <p:spPr>
          <a:xfrm>
            <a:off x="5240610" y="1357982"/>
            <a:ext cx="3703253" cy="2484239"/>
          </a:xfrm>
          <a:prstGeom prst="rect">
            <a:avLst/>
          </a:prstGeom>
        </p:spPr>
      </p:pic>
      <p:sp>
        <p:nvSpPr>
          <p:cNvPr id="31" name="Text 28"/>
          <p:cNvSpPr/>
          <p:nvPr/>
        </p:nvSpPr>
        <p:spPr>
          <a:xfrm>
            <a:off x="5244182" y="1361554"/>
            <a:ext cx="3696109" cy="2477095"/>
          </a:xfrm>
          <a:prstGeom prst="roundRect">
            <a:avLst>
              <a:gd name="adj" fmla="val 6921"/>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32" name="Text 29"/>
          <p:cNvSpPr/>
          <p:nvPr/>
        </p:nvSpPr>
        <p:spPr>
          <a:xfrm>
            <a:off x="5247754" y="1365126"/>
            <a:ext cx="3688966"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33" name="Shape 30"/>
          <p:cNvSpPr/>
          <p:nvPr/>
        </p:nvSpPr>
        <p:spPr>
          <a:xfrm>
            <a:off x="5247754" y="1686595"/>
            <a:ext cx="3688966" cy="0"/>
          </a:xfrm>
          <a:prstGeom prst="line">
            <a:avLst/>
          </a:prstGeom>
          <a:noFill/>
          <a:ln w="7144">
            <a:solidFill>
              <a:srgbClr val="FFFFFF"/>
            </a:solidFill>
            <a:prstDash val="solid"/>
          </a:ln>
        </p:spPr>
      </p:sp>
      <p:sp>
        <p:nvSpPr>
          <p:cNvPr id="34" name="Text 31"/>
          <p:cNvSpPr/>
          <p:nvPr/>
        </p:nvSpPr>
        <p:spPr>
          <a:xfrm>
            <a:off x="5376342" y="1495499"/>
            <a:ext cx="57150" cy="57150"/>
          </a:xfrm>
          <a:prstGeom prst="ellipse">
            <a:avLst/>
          </a:prstGeom>
          <a:solidFill>
            <a:srgbClr val="FF5F57"/>
          </a:solidFill>
          <a:ln/>
        </p:spPr>
        <p:txBody>
          <a:bodyPr wrap="square" rtlCol="0" anchor="ctr"/>
          <a:lstStyle/>
          <a:p>
            <a:pPr indent="0" marL="0">
              <a:buNone/>
            </a:pPr>
            <a:endParaRPr lang="en-US" dirty="0"/>
          </a:p>
        </p:txBody>
      </p:sp>
      <p:sp>
        <p:nvSpPr>
          <p:cNvPr id="35" name="Text 32"/>
          <p:cNvSpPr/>
          <p:nvPr/>
        </p:nvSpPr>
        <p:spPr>
          <a:xfrm>
            <a:off x="5490642" y="1495499"/>
            <a:ext cx="57150" cy="57150"/>
          </a:xfrm>
          <a:prstGeom prst="ellipse">
            <a:avLst/>
          </a:prstGeom>
          <a:solidFill>
            <a:srgbClr val="FEBC2E"/>
          </a:solidFill>
          <a:ln/>
        </p:spPr>
        <p:txBody>
          <a:bodyPr wrap="square" rtlCol="0" anchor="ctr"/>
          <a:lstStyle/>
          <a:p>
            <a:pPr indent="0" marL="0">
              <a:buNone/>
            </a:pPr>
            <a:endParaRPr lang="en-US" dirty="0"/>
          </a:p>
        </p:txBody>
      </p:sp>
      <p:sp>
        <p:nvSpPr>
          <p:cNvPr id="36" name="Text 33"/>
          <p:cNvSpPr/>
          <p:nvPr/>
        </p:nvSpPr>
        <p:spPr>
          <a:xfrm>
            <a:off x="5604942" y="1495499"/>
            <a:ext cx="57150" cy="57150"/>
          </a:xfrm>
          <a:prstGeom prst="ellipse">
            <a:avLst/>
          </a:prstGeom>
          <a:solidFill>
            <a:srgbClr val="28C840"/>
          </a:solidFill>
          <a:ln/>
        </p:spPr>
        <p:txBody>
          <a:bodyPr wrap="square" rtlCol="0" anchor="ctr"/>
          <a:lstStyle/>
          <a:p>
            <a:pPr indent="0" marL="0">
              <a:buNone/>
            </a:pPr>
            <a:endParaRPr lang="en-US" dirty="0"/>
          </a:p>
        </p:txBody>
      </p:sp>
      <p:sp>
        <p:nvSpPr>
          <p:cNvPr id="37" name="Text 34"/>
          <p:cNvSpPr/>
          <p:nvPr/>
        </p:nvSpPr>
        <p:spPr>
          <a:xfrm>
            <a:off x="5776392" y="1465138"/>
            <a:ext cx="2524646"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EKAM — PENTEST</a:t>
            </a:r>
            <a:endParaRPr lang="en-US" sz="800" dirty="0"/>
          </a:p>
        </p:txBody>
      </p:sp>
      <p:sp>
        <p:nvSpPr>
          <p:cNvPr id="38" name="Text 35"/>
          <p:cNvSpPr/>
          <p:nvPr/>
        </p:nvSpPr>
        <p:spPr>
          <a:xfrm>
            <a:off x="8329613" y="1495499"/>
            <a:ext cx="57150" cy="57150"/>
          </a:xfrm>
          <a:prstGeom prst="roundRect">
            <a:avLst>
              <a:gd name="adj" fmla="val 66667"/>
            </a:avLst>
          </a:prstGeom>
          <a:solidFill>
            <a:srgbClr val="91E500">
              <a:alpha val="90000"/>
            </a:srgbClr>
          </a:solidFill>
          <a:ln/>
        </p:spPr>
        <p:txBody>
          <a:bodyPr wrap="square" rtlCol="0" anchor="ctr"/>
          <a:lstStyle/>
          <a:p>
            <a:pPr indent="0" marL="0">
              <a:buNone/>
            </a:pPr>
            <a:endParaRPr lang="en-US" dirty="0"/>
          </a:p>
        </p:txBody>
      </p:sp>
      <p:sp>
        <p:nvSpPr>
          <p:cNvPr id="39" name="Text 36"/>
          <p:cNvSpPr/>
          <p:nvPr/>
        </p:nvSpPr>
        <p:spPr>
          <a:xfrm>
            <a:off x="8329613" y="1465138"/>
            <a:ext cx="478520" cy="117872"/>
          </a:xfrm>
          <a:prstGeom prst="rect">
            <a:avLst/>
          </a:prstGeom>
          <a:noFill/>
          <a:ln/>
        </p:spPr>
        <p:txBody>
          <a:bodyPr wrap="none" lIns="0" tIns="0" rIns="0" bIns="0" rtlCol="0" anchor="t"/>
          <a:lstStyle/>
          <a:p>
            <a:pPr algn="l" indent="0" marL="0">
              <a:lnSpc>
                <a:spcPts val="928"/>
              </a:lnSpc>
              <a:buNone/>
            </a:pPr>
            <a:r>
              <a:rPr lang="en-US" sz="800" dirty="0">
                <a:solidFill>
                  <a:srgbClr val="91E500"/>
                </a:solidFill>
                <a:latin typeface="Courier New" pitchFamily="34" charset="0"/>
                <a:ea typeface="Courier New" pitchFamily="34" charset="-122"/>
                <a:cs typeface="Courier New" pitchFamily="34" charset="-120"/>
              </a:rPr>
              <a:t>scanning</a:t>
            </a:r>
            <a:endParaRPr lang="en-US" sz="800" dirty="0"/>
          </a:p>
        </p:txBody>
      </p:sp>
      <p:sp>
        <p:nvSpPr>
          <p:cNvPr id="40" name="Text 37"/>
          <p:cNvSpPr/>
          <p:nvPr/>
        </p:nvSpPr>
        <p:spPr>
          <a:xfrm>
            <a:off x="5247754" y="1690167"/>
            <a:ext cx="3688966" cy="213670"/>
          </a:xfrm>
          <a:prstGeom prst="rect">
            <a:avLst/>
          </a:prstGeom>
          <a:noFill/>
          <a:ln/>
        </p:spPr>
        <p:txBody>
          <a:bodyPr wrap="none" lIns="128588" tIns="85725" rIns="128588" bIns="42863" rtlCol="0" anchor="t">
            <a:normAutofit/>
          </a:bodyPr>
          <a:lstStyle/>
          <a:p>
            <a:pPr algn="l" indent="0" marL="0">
              <a:lnSpc>
                <a:spcPts val="886"/>
              </a:lnSpc>
              <a:buNone/>
            </a:pPr>
            <a:r>
              <a:rPr lang="en-US" sz="800" spc="47" kern="0" dirty="0">
                <a:solidFill>
                  <a:srgbClr val="F2F1F1">
                    <a:alpha val="40000"/>
                  </a:srgbClr>
                </a:solidFill>
                <a:latin typeface="Courier New" pitchFamily="34" charset="0"/>
                <a:ea typeface="Courier New" pitchFamily="34" charset="-122"/>
                <a:cs typeface="Courier New" pitchFamily="34" charset="-120"/>
              </a:rPr>
              <a:t>VULNERABILITY CLASSES</a:t>
            </a:r>
            <a:endParaRPr lang="en-US" sz="800" dirty="0"/>
          </a:p>
        </p:txBody>
      </p:sp>
      <p:sp>
        <p:nvSpPr>
          <p:cNvPr id="41" name="Text 38"/>
          <p:cNvSpPr/>
          <p:nvPr/>
        </p:nvSpPr>
        <p:spPr>
          <a:xfrm>
            <a:off x="5376342" y="2041103"/>
            <a:ext cx="128588" cy="128588"/>
          </a:xfrm>
          <a:prstGeom prst="rect">
            <a:avLst/>
          </a:prstGeom>
          <a:noFill/>
          <a:ln/>
        </p:spPr>
        <p:txBody>
          <a:bodyPr wrap="none" lIns="0" tIns="0" rIns="0" bIns="0" rtlCol="0" anchor="ctr"/>
          <a:lstStyle/>
          <a:p>
            <a:pPr algn="ctr" indent="0" marL="0">
              <a:buNone/>
            </a:pPr>
            <a:r>
              <a:rPr lang="en-US" sz="1266" dirty="0">
                <a:solidFill>
                  <a:srgbClr val="FF6B6B"/>
                </a:solidFill>
                <a:latin typeface="Segoe UI Symbol" pitchFamily="34" charset="0"/>
                <a:ea typeface="Segoe UI Symbol" pitchFamily="34" charset="-122"/>
                <a:cs typeface="Segoe UI Symbol" pitchFamily="34" charset="-120"/>
              </a:rPr>
              <a:t>⚠</a:t>
            </a:r>
            <a:endParaRPr lang="en-US" sz="1266" dirty="0"/>
          </a:p>
        </p:txBody>
      </p:sp>
      <p:sp>
        <p:nvSpPr>
          <p:cNvPr id="42" name="Text 39"/>
          <p:cNvSpPr/>
          <p:nvPr/>
        </p:nvSpPr>
        <p:spPr>
          <a:xfrm>
            <a:off x="5590654" y="2038424"/>
            <a:ext cx="2482118"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Broken Access Control</a:t>
            </a:r>
            <a:endParaRPr lang="en-US" sz="800" dirty="0"/>
          </a:p>
        </p:txBody>
      </p:sp>
      <p:sp>
        <p:nvSpPr>
          <p:cNvPr id="43" name="Text 40"/>
          <p:cNvSpPr/>
          <p:nvPr/>
        </p:nvSpPr>
        <p:spPr>
          <a:xfrm>
            <a:off x="8115635" y="2043782"/>
            <a:ext cx="811607" cy="164592"/>
          </a:xfrm>
          <a:prstGeom prst="rect">
            <a:avLst/>
          </a:prstGeom>
          <a:noFill/>
          <a:ln/>
        </p:spPr>
        <p:txBody>
          <a:bodyPr wrap="none" lIns="0" tIns="0" rIns="0" bIns="0" rtlCol="0" anchor="t"/>
          <a:lstStyle/>
          <a:p>
            <a:pPr algn="l" indent="0" marL="0">
              <a:lnSpc>
                <a:spcPts val="970"/>
              </a:lnSpc>
              <a:buNone/>
            </a:pPr>
            <a:r>
              <a:rPr lang="en-US" sz="800" dirty="0">
                <a:solidFill>
                  <a:srgbClr val="FF6B6B"/>
                </a:solidFill>
                <a:latin typeface="Liberation Sans Narrow" pitchFamily="34" charset="0"/>
                <a:ea typeface="Liberation Sans Narrow" pitchFamily="34" charset="-122"/>
                <a:cs typeface="Liberation Sans Narrow" pitchFamily="34" charset="-120"/>
              </a:rPr>
              <a:t>1 high finding</a:t>
            </a:r>
            <a:endParaRPr lang="en-US" sz="800" dirty="0"/>
          </a:p>
        </p:txBody>
      </p:sp>
      <p:sp>
        <p:nvSpPr>
          <p:cNvPr id="44" name="Shape 41"/>
          <p:cNvSpPr/>
          <p:nvPr/>
        </p:nvSpPr>
        <p:spPr>
          <a:xfrm>
            <a:off x="5247754" y="2254523"/>
            <a:ext cx="3688966" cy="0"/>
          </a:xfrm>
          <a:prstGeom prst="line">
            <a:avLst/>
          </a:prstGeom>
          <a:noFill/>
          <a:ln w="7144">
            <a:solidFill>
              <a:srgbClr val="FFFFFF"/>
            </a:solidFill>
            <a:prstDash val="solid"/>
          </a:ln>
        </p:spPr>
      </p:sp>
      <p:sp>
        <p:nvSpPr>
          <p:cNvPr id="45" name="Text 42"/>
          <p:cNvSpPr/>
          <p:nvPr/>
        </p:nvSpPr>
        <p:spPr>
          <a:xfrm>
            <a:off x="5376342" y="2339355"/>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46" name="Text 43"/>
          <p:cNvSpPr/>
          <p:nvPr/>
        </p:nvSpPr>
        <p:spPr>
          <a:xfrm>
            <a:off x="5590654" y="2336676"/>
            <a:ext cx="2927263"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Injection</a:t>
            </a:r>
            <a:endParaRPr lang="en-US" sz="800" dirty="0"/>
          </a:p>
        </p:txBody>
      </p:sp>
      <p:sp>
        <p:nvSpPr>
          <p:cNvPr id="47" name="Text 44"/>
          <p:cNvSpPr/>
          <p:nvPr/>
        </p:nvSpPr>
        <p:spPr>
          <a:xfrm>
            <a:off x="8560780" y="2342034"/>
            <a:ext cx="247352" cy="128588"/>
          </a:xfrm>
          <a:prstGeom prst="rect">
            <a:avLst/>
          </a:prstGeom>
          <a:noFill/>
          <a:ln/>
        </p:spPr>
        <p:txBody>
          <a:bodyPr wrap="none" lIns="0" tIns="0" rIns="0" bIns="0" rtlCol="0" anchor="t"/>
          <a:lstStyle/>
          <a:p>
            <a:pPr algn="l" indent="0" marL="0">
              <a:lnSpc>
                <a:spcPts val="970"/>
              </a:lnSpc>
              <a:buNone/>
            </a:pPr>
            <a:r>
              <a:rPr lang="en-US" sz="800" dirty="0">
                <a:solidFill>
                  <a:srgbClr val="91E500"/>
                </a:solidFill>
                <a:latin typeface="Courier New" pitchFamily="34" charset="0"/>
                <a:ea typeface="Courier New" pitchFamily="34" charset="-122"/>
                <a:cs typeface="Courier New" pitchFamily="34" charset="-120"/>
              </a:rPr>
              <a:t>clean</a:t>
            </a:r>
            <a:endParaRPr lang="en-US" sz="800" dirty="0"/>
          </a:p>
        </p:txBody>
      </p:sp>
      <p:sp>
        <p:nvSpPr>
          <p:cNvPr id="48" name="Shape 45"/>
          <p:cNvSpPr/>
          <p:nvPr/>
        </p:nvSpPr>
        <p:spPr>
          <a:xfrm>
            <a:off x="5247754" y="2552774"/>
            <a:ext cx="3688966" cy="0"/>
          </a:xfrm>
          <a:prstGeom prst="line">
            <a:avLst/>
          </a:prstGeom>
          <a:noFill/>
          <a:ln w="7144">
            <a:solidFill>
              <a:srgbClr val="FFFFFF"/>
            </a:solidFill>
            <a:prstDash val="solid"/>
          </a:ln>
        </p:spPr>
      </p:sp>
      <p:sp>
        <p:nvSpPr>
          <p:cNvPr id="49" name="Text 46"/>
          <p:cNvSpPr/>
          <p:nvPr/>
        </p:nvSpPr>
        <p:spPr>
          <a:xfrm>
            <a:off x="5376342" y="2637606"/>
            <a:ext cx="128588" cy="128588"/>
          </a:xfrm>
          <a:prstGeom prst="rect">
            <a:avLst/>
          </a:prstGeom>
          <a:noFill/>
          <a:ln/>
        </p:spPr>
        <p:txBody>
          <a:bodyPr wrap="none" lIns="0" tIns="0" rIns="0" bIns="0" rtlCol="0" anchor="ctr"/>
          <a:lstStyle/>
          <a:p>
            <a:pPr algn="ctr" indent="0" marL="0">
              <a:buNone/>
            </a:pPr>
            <a:r>
              <a:rPr lang="en-US" sz="1266" dirty="0">
                <a:solidFill>
                  <a:srgbClr val="FFB35C"/>
                </a:solidFill>
                <a:latin typeface="Segoe UI Symbol" pitchFamily="34" charset="0"/>
                <a:ea typeface="Segoe UI Symbol" pitchFamily="34" charset="-122"/>
                <a:cs typeface="Segoe UI Symbol" pitchFamily="34" charset="-120"/>
              </a:rPr>
              <a:t>⚠</a:t>
            </a:r>
            <a:endParaRPr lang="en-US" sz="1266" dirty="0"/>
          </a:p>
        </p:txBody>
      </p:sp>
      <p:sp>
        <p:nvSpPr>
          <p:cNvPr id="50" name="Text 47"/>
          <p:cNvSpPr/>
          <p:nvPr/>
        </p:nvSpPr>
        <p:spPr>
          <a:xfrm>
            <a:off x="5590654" y="2634928"/>
            <a:ext cx="2333774"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Auth Failures</a:t>
            </a:r>
            <a:endParaRPr lang="en-US" sz="800" dirty="0"/>
          </a:p>
        </p:txBody>
      </p:sp>
      <p:sp>
        <p:nvSpPr>
          <p:cNvPr id="51" name="Text 48"/>
          <p:cNvSpPr/>
          <p:nvPr/>
        </p:nvSpPr>
        <p:spPr>
          <a:xfrm>
            <a:off x="7967290" y="2640285"/>
            <a:ext cx="840842" cy="128588"/>
          </a:xfrm>
          <a:prstGeom prst="rect">
            <a:avLst/>
          </a:prstGeom>
          <a:noFill/>
          <a:ln/>
        </p:spPr>
        <p:txBody>
          <a:bodyPr wrap="none" lIns="0" tIns="0" rIns="0" bIns="0" rtlCol="0" anchor="t"/>
          <a:lstStyle/>
          <a:p>
            <a:pPr algn="l" indent="0" marL="0">
              <a:lnSpc>
                <a:spcPts val="970"/>
              </a:lnSpc>
              <a:buNone/>
            </a:pPr>
            <a:r>
              <a:rPr lang="en-US" sz="800" dirty="0">
                <a:solidFill>
                  <a:srgbClr val="FFB35C"/>
                </a:solidFill>
                <a:latin typeface="Liberation Sans Narrow" pitchFamily="34" charset="0"/>
                <a:ea typeface="Liberation Sans Narrow" pitchFamily="34" charset="-122"/>
                <a:cs typeface="Liberation Sans Narrow" pitchFamily="34" charset="-120"/>
              </a:rPr>
              <a:t>2 medium findings</a:t>
            </a:r>
            <a:endParaRPr lang="en-US" sz="800" dirty="0"/>
          </a:p>
        </p:txBody>
      </p:sp>
      <p:sp>
        <p:nvSpPr>
          <p:cNvPr id="52" name="Shape 49"/>
          <p:cNvSpPr/>
          <p:nvPr/>
        </p:nvSpPr>
        <p:spPr>
          <a:xfrm>
            <a:off x="5247754" y="2851026"/>
            <a:ext cx="3688966" cy="0"/>
          </a:xfrm>
          <a:prstGeom prst="line">
            <a:avLst/>
          </a:prstGeom>
          <a:noFill/>
          <a:ln w="7144">
            <a:solidFill>
              <a:srgbClr val="FFFFFF"/>
            </a:solidFill>
            <a:prstDash val="solid"/>
          </a:ln>
        </p:spPr>
      </p:sp>
      <p:sp>
        <p:nvSpPr>
          <p:cNvPr id="53" name="Text 50"/>
          <p:cNvSpPr/>
          <p:nvPr/>
        </p:nvSpPr>
        <p:spPr>
          <a:xfrm>
            <a:off x="5376342" y="2935858"/>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54" name="Text 51"/>
          <p:cNvSpPr/>
          <p:nvPr/>
        </p:nvSpPr>
        <p:spPr>
          <a:xfrm>
            <a:off x="5590654" y="2933179"/>
            <a:ext cx="2927263" cy="133945"/>
          </a:xfrm>
          <a:prstGeom prst="rect">
            <a:avLst/>
          </a:prstGeom>
          <a:noFill/>
          <a:ln/>
        </p:spPr>
        <p:txBody>
          <a:bodyPr wrap="squar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SSRF</a:t>
            </a:r>
            <a:endParaRPr lang="en-US" sz="800" dirty="0"/>
          </a:p>
        </p:txBody>
      </p:sp>
      <p:sp>
        <p:nvSpPr>
          <p:cNvPr id="55" name="Text 52"/>
          <p:cNvSpPr/>
          <p:nvPr/>
        </p:nvSpPr>
        <p:spPr>
          <a:xfrm>
            <a:off x="8560780" y="2938537"/>
            <a:ext cx="247352" cy="128588"/>
          </a:xfrm>
          <a:prstGeom prst="rect">
            <a:avLst/>
          </a:prstGeom>
          <a:noFill/>
          <a:ln/>
        </p:spPr>
        <p:txBody>
          <a:bodyPr wrap="none" lIns="0" tIns="0" rIns="0" bIns="0" rtlCol="0" anchor="t"/>
          <a:lstStyle/>
          <a:p>
            <a:pPr algn="l" indent="0" marL="0">
              <a:lnSpc>
                <a:spcPts val="970"/>
              </a:lnSpc>
              <a:buNone/>
            </a:pPr>
            <a:r>
              <a:rPr lang="en-US" sz="800" dirty="0">
                <a:solidFill>
                  <a:srgbClr val="91E500"/>
                </a:solidFill>
                <a:latin typeface="Courier New" pitchFamily="34" charset="0"/>
                <a:ea typeface="Courier New" pitchFamily="34" charset="-122"/>
                <a:cs typeface="Courier New" pitchFamily="34" charset="-120"/>
              </a:rPr>
              <a:t>clean</a:t>
            </a:r>
            <a:endParaRPr lang="en-US" sz="800" dirty="0"/>
          </a:p>
        </p:txBody>
      </p:sp>
      <p:sp>
        <p:nvSpPr>
          <p:cNvPr id="56" name="Shape 53"/>
          <p:cNvSpPr/>
          <p:nvPr/>
        </p:nvSpPr>
        <p:spPr>
          <a:xfrm>
            <a:off x="5247754" y="3149278"/>
            <a:ext cx="3688966" cy="0"/>
          </a:xfrm>
          <a:prstGeom prst="line">
            <a:avLst/>
          </a:prstGeom>
          <a:noFill/>
          <a:ln w="7144">
            <a:solidFill>
              <a:srgbClr val="FFFFFF"/>
            </a:solidFill>
            <a:prstDash val="solid"/>
          </a:ln>
        </p:spPr>
      </p:sp>
      <p:sp>
        <p:nvSpPr>
          <p:cNvPr id="57" name="Text 54"/>
          <p:cNvSpPr/>
          <p:nvPr/>
        </p:nvSpPr>
        <p:spPr>
          <a:xfrm>
            <a:off x="5376342" y="3234110"/>
            <a:ext cx="128588" cy="128588"/>
          </a:xfrm>
          <a:prstGeom prst="rect">
            <a:avLst/>
          </a:prstGeom>
          <a:noFill/>
          <a:ln/>
        </p:spPr>
        <p:txBody>
          <a:bodyPr wrap="none" lIns="0" tIns="0" rIns="0" bIns="0" rtlCol="0" anchor="ctr"/>
          <a:lstStyle/>
          <a:p>
            <a:pPr algn="ctr" indent="0" marL="0">
              <a:buNone/>
            </a:pPr>
            <a:r>
              <a:rPr lang="en-US" sz="1266" dirty="0">
                <a:solidFill>
                  <a:srgbClr val="91E500"/>
                </a:solidFill>
                <a:latin typeface="Segoe UI Symbol" pitchFamily="34" charset="0"/>
                <a:ea typeface="Segoe UI Symbol" pitchFamily="34" charset="-122"/>
                <a:cs typeface="Segoe UI Symbol" pitchFamily="34" charset="-120"/>
              </a:rPr>
              <a:t>✓</a:t>
            </a:r>
            <a:endParaRPr lang="en-US" sz="1266" dirty="0"/>
          </a:p>
        </p:txBody>
      </p:sp>
      <p:sp>
        <p:nvSpPr>
          <p:cNvPr id="58" name="Text 55"/>
          <p:cNvSpPr/>
          <p:nvPr/>
        </p:nvSpPr>
        <p:spPr>
          <a:xfrm>
            <a:off x="5590654" y="3231431"/>
            <a:ext cx="2927263"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Crypto Failures</a:t>
            </a:r>
            <a:endParaRPr lang="en-US" sz="800" dirty="0"/>
          </a:p>
        </p:txBody>
      </p:sp>
      <p:sp>
        <p:nvSpPr>
          <p:cNvPr id="59" name="Text 56"/>
          <p:cNvSpPr/>
          <p:nvPr/>
        </p:nvSpPr>
        <p:spPr>
          <a:xfrm>
            <a:off x="8560780" y="3236788"/>
            <a:ext cx="247352" cy="128588"/>
          </a:xfrm>
          <a:prstGeom prst="rect">
            <a:avLst/>
          </a:prstGeom>
          <a:noFill/>
          <a:ln/>
        </p:spPr>
        <p:txBody>
          <a:bodyPr wrap="none" lIns="0" tIns="0" rIns="0" bIns="0" rtlCol="0" anchor="t"/>
          <a:lstStyle/>
          <a:p>
            <a:pPr algn="l" indent="0" marL="0">
              <a:lnSpc>
                <a:spcPts val="970"/>
              </a:lnSpc>
              <a:buNone/>
            </a:pPr>
            <a:r>
              <a:rPr lang="en-US" sz="800" dirty="0">
                <a:solidFill>
                  <a:srgbClr val="91E500"/>
                </a:solidFill>
                <a:latin typeface="Courier New" pitchFamily="34" charset="0"/>
                <a:ea typeface="Courier New" pitchFamily="34" charset="-122"/>
                <a:cs typeface="Courier New" pitchFamily="34" charset="-120"/>
              </a:rPr>
              <a:t>clean</a:t>
            </a:r>
            <a:endParaRPr lang="en-US" sz="800" dirty="0"/>
          </a:p>
        </p:txBody>
      </p:sp>
      <p:sp>
        <p:nvSpPr>
          <p:cNvPr id="60" name="Text 57"/>
          <p:cNvSpPr/>
          <p:nvPr/>
        </p:nvSpPr>
        <p:spPr>
          <a:xfrm>
            <a:off x="5247754" y="3501107"/>
            <a:ext cx="3688966" cy="312539"/>
          </a:xfrm>
          <a:prstGeom prst="rect">
            <a:avLst/>
          </a:prstGeom>
          <a:solidFill>
            <a:srgbClr val="91E500">
              <a:alpha val="4000"/>
            </a:srgbClr>
          </a:solidFill>
          <a:ln/>
        </p:spPr>
        <p:txBody>
          <a:bodyPr wrap="square" rtlCol="0" anchor="ctr"/>
          <a:lstStyle/>
          <a:p>
            <a:pPr indent="0" marL="0">
              <a:buNone/>
            </a:pPr>
            <a:endParaRPr lang="en-US" dirty="0"/>
          </a:p>
        </p:txBody>
      </p:sp>
      <p:sp>
        <p:nvSpPr>
          <p:cNvPr id="61" name="Shape 58"/>
          <p:cNvSpPr/>
          <p:nvPr/>
        </p:nvSpPr>
        <p:spPr>
          <a:xfrm>
            <a:off x="5247754" y="3504679"/>
            <a:ext cx="3688966" cy="0"/>
          </a:xfrm>
          <a:prstGeom prst="line">
            <a:avLst/>
          </a:prstGeom>
          <a:noFill/>
          <a:ln w="7144">
            <a:solidFill>
              <a:srgbClr val="FFFFFF"/>
            </a:solidFill>
            <a:prstDash val="solid"/>
          </a:ln>
        </p:spPr>
      </p:sp>
      <p:sp>
        <p:nvSpPr>
          <p:cNvPr id="62" name="Text 59"/>
          <p:cNvSpPr/>
          <p:nvPr/>
        </p:nvSpPr>
        <p:spPr>
          <a:xfrm>
            <a:off x="5376342" y="3603799"/>
            <a:ext cx="114300" cy="114300"/>
          </a:xfrm>
          <a:prstGeom prst="rect">
            <a:avLst/>
          </a:prstGeom>
          <a:noFill/>
          <a:ln/>
        </p:spPr>
        <p:txBody>
          <a:bodyPr wrap="none" lIns="0" tIns="0" rIns="0" bIns="0" rtlCol="0" anchor="ctr"/>
          <a:lstStyle/>
          <a:p>
            <a:pPr algn="ctr" indent="0" marL="0">
              <a:buNone/>
            </a:pPr>
            <a:r>
              <a:rPr lang="en-US" sz="1125" dirty="0">
                <a:solidFill>
                  <a:srgbClr val="91E500"/>
                </a:solidFill>
                <a:latin typeface="Segoe UI Symbol" pitchFamily="34" charset="0"/>
                <a:ea typeface="Segoe UI Symbol" pitchFamily="34" charset="-122"/>
                <a:cs typeface="Segoe UI Symbol" pitchFamily="34" charset="-120"/>
              </a:rPr>
              <a:t>✓</a:t>
            </a:r>
            <a:endParaRPr lang="en-US" sz="1125" dirty="0"/>
          </a:p>
        </p:txBody>
      </p:sp>
      <p:sp>
        <p:nvSpPr>
          <p:cNvPr id="63" name="Text 60"/>
          <p:cNvSpPr/>
          <p:nvPr/>
        </p:nvSpPr>
        <p:spPr>
          <a:xfrm>
            <a:off x="5562079" y="3593976"/>
            <a:ext cx="3246053" cy="133945"/>
          </a:xfrm>
          <a:prstGeom prst="rect">
            <a:avLst/>
          </a:prstGeom>
          <a:noFill/>
          <a:ln/>
        </p:spPr>
        <p:txBody>
          <a:bodyPr wrap="none" lIns="0" tIns="0" rIns="0" bIns="0" rtlCol="0" anchor="t"/>
          <a:lstStyle/>
          <a:p>
            <a:pPr algn="l" indent="0" marL="0">
              <a:lnSpc>
                <a:spcPts val="1055"/>
              </a:lnSpc>
              <a:buNone/>
            </a:pPr>
            <a:r>
              <a:rPr lang="en-US" sz="800" dirty="0">
                <a:solidFill>
                  <a:srgbClr val="91E500"/>
                </a:solidFill>
                <a:latin typeface="Liberation Sans Narrow" pitchFamily="34" charset="0"/>
                <a:ea typeface="Liberation Sans Narrow" pitchFamily="34" charset="-122"/>
                <a:cs typeface="Liberation Sans Narrow" pitchFamily="34" charset="-120"/>
              </a:rPr>
              <a:t>Scan complete — 3 findings · 12s</a:t>
            </a:r>
            <a:endParaRPr lang="en-US" sz="800" dirty="0"/>
          </a:p>
        </p:txBody>
      </p:sp>
      <p:pic>
        <p:nvPicPr>
          <p:cNvPr id="64" name="Image 1" descr="preencoded.png">    </p:cNvPr>
          <p:cNvPicPr>
            <a:picLocks noChangeAspect="1"/>
          </p:cNvPicPr>
          <p:nvPr/>
        </p:nvPicPr>
        <p:blipFill>
          <a:blip r:embed="rId2"/>
          <a:stretch>
            <a:fillRect/>
          </a:stretch>
        </p:blipFill>
        <p:spPr>
          <a:xfrm>
            <a:off x="5247754" y="3813646"/>
            <a:ext cx="3688966" cy="2143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6572250" y="428625"/>
            <a:ext cx="3714750" cy="3714750"/>
          </a:xfrm>
          <a:prstGeom prst="ellipse">
            <a:avLst/>
          </a:prstGeom>
          <a:solidFill>
            <a:srgbClr val="8200DF">
              <a:alpha val="10000"/>
            </a:srgbClr>
          </a:solidFill>
          <a:ln/>
        </p:spPr>
        <p:txBody>
          <a:bodyPr wrap="square" rtlCol="0" anchor="ctr"/>
          <a:lstStyle/>
          <a:p>
            <a:pPr indent="0" marL="0">
              <a:buNone/>
            </a:pPr>
            <a:endParaRPr lang="en-US" dirty="0"/>
          </a:p>
        </p:txBody>
      </p:sp>
      <p:sp>
        <p:nvSpPr>
          <p:cNvPr id="3" name="Text 1"/>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4" name="Text 2"/>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06 / 16</a:t>
            </a:r>
            <a:endParaRPr lang="en-US" sz="800" dirty="0"/>
          </a:p>
        </p:txBody>
      </p:sp>
      <p:sp>
        <p:nvSpPr>
          <p:cNvPr id="5" name="Text 3"/>
          <p:cNvSpPr/>
          <p:nvPr/>
        </p:nvSpPr>
        <p:spPr>
          <a:xfrm>
            <a:off x="434340" y="558698"/>
            <a:ext cx="1234931" cy="243488"/>
          </a:xfrm>
          <a:prstGeom prst="roundRect">
            <a:avLst>
              <a:gd name="adj" fmla="val 39115059"/>
            </a:avLst>
          </a:prstGeom>
          <a:solidFill>
            <a:srgbClr val="2F44FF">
              <a:alpha val="8000"/>
            </a:srgbClr>
          </a:solidFill>
          <a:ln w="7144">
            <a:solidFill>
              <a:srgbClr val="2F44FF"/>
            </a:solidFill>
            <a:prstDash val="solid"/>
          </a:ln>
        </p:spPr>
        <p:txBody>
          <a:bodyPr wrap="square" rtlCol="0" anchor="ctr"/>
          <a:lstStyle/>
          <a:p>
            <a:pPr indent="0" marL="0">
              <a:buNone/>
            </a:pPr>
            <a:endParaRPr lang="en-US" dirty="0"/>
          </a:p>
        </p:txBody>
      </p:sp>
      <p:sp>
        <p:nvSpPr>
          <p:cNvPr id="6" name="Text 4"/>
          <p:cNvSpPr/>
          <p:nvPr/>
        </p:nvSpPr>
        <p:spPr>
          <a:xfrm>
            <a:off x="564356" y="651867"/>
            <a:ext cx="57150" cy="57150"/>
          </a:xfrm>
          <a:prstGeom prst="roundRect">
            <a:avLst>
              <a:gd name="adj" fmla="val 66667"/>
            </a:avLst>
          </a:prstGeom>
          <a:solidFill>
            <a:srgbClr val="2F44FF"/>
          </a:solidFill>
          <a:ln/>
        </p:spPr>
        <p:txBody>
          <a:bodyPr wrap="square" rtlCol="0" anchor="ctr"/>
          <a:lstStyle/>
          <a:p>
            <a:pPr indent="0" marL="0">
              <a:buNone/>
            </a:pPr>
            <a:endParaRPr lang="en-US" dirty="0"/>
          </a:p>
        </p:txBody>
      </p:sp>
      <p:sp>
        <p:nvSpPr>
          <p:cNvPr id="7" name="Text 5"/>
          <p:cNvSpPr/>
          <p:nvPr/>
        </p:nvSpPr>
        <p:spPr>
          <a:xfrm>
            <a:off x="457200" y="571500"/>
            <a:ext cx="118921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6B85FF"/>
                </a:solidFill>
                <a:latin typeface="Liberation Sans Narrow" pitchFamily="34" charset="0"/>
                <a:ea typeface="Liberation Sans Narrow" pitchFamily="34" charset="-122"/>
                <a:cs typeface="Liberation Sans Narrow" pitchFamily="34" charset="-120"/>
              </a:rPr>
              <a:t> SUITE 03 — SEARCH</a:t>
            </a:r>
            <a:endParaRPr lang="en-US" sz="800" dirty="0"/>
          </a:p>
        </p:txBody>
      </p:sp>
      <p:sp>
        <p:nvSpPr>
          <p:cNvPr id="8" name="Text 6"/>
          <p:cNvSpPr/>
          <p:nvPr/>
        </p:nvSpPr>
        <p:spPr>
          <a:xfrm>
            <a:off x="1704905" y="596432"/>
            <a:ext cx="349477" cy="168021"/>
          </a:xfrm>
          <a:prstGeom prst="roundRect">
            <a:avLst>
              <a:gd name="adj" fmla="val 56683673"/>
            </a:avLst>
          </a:prstGeom>
          <a:solidFill>
            <a:srgbClr val="2F44FF"/>
          </a:solidFill>
          <a:ln/>
        </p:spPr>
        <p:txBody>
          <a:bodyPr wrap="square" rtlCol="0" anchor="ctr"/>
          <a:lstStyle/>
          <a:p>
            <a:pPr indent="0" marL="0">
              <a:buNone/>
            </a:pPr>
            <a:endParaRPr lang="en-US" dirty="0"/>
          </a:p>
        </p:txBody>
      </p:sp>
      <p:sp>
        <p:nvSpPr>
          <p:cNvPr id="9" name="Text 7"/>
          <p:cNvSpPr/>
          <p:nvPr/>
        </p:nvSpPr>
        <p:spPr>
          <a:xfrm>
            <a:off x="1717849" y="605433"/>
            <a:ext cx="323590" cy="150019"/>
          </a:xfrm>
          <a:prstGeom prst="rect">
            <a:avLst/>
          </a:prstGeom>
          <a:noFill/>
          <a:ln/>
        </p:spPr>
        <p:txBody>
          <a:bodyPr wrap="none" lIns="0" tIns="0" rIns="0" bIns="0" rtlCol="0" anchor="ctr"/>
          <a:lstStyle/>
          <a:p>
            <a:pPr algn="ctr" indent="0" marL="0">
              <a:lnSpc>
                <a:spcPts val="844"/>
              </a:lnSpc>
              <a:buNone/>
            </a:pPr>
            <a:r>
              <a:rPr lang="en-US" sz="800" b="1" spc="45" kern="0" dirty="0">
                <a:solidFill>
                  <a:srgbClr val="FFFFFF"/>
                </a:solidFill>
                <a:latin typeface="Courier New" pitchFamily="34" charset="0"/>
                <a:ea typeface="Courier New" pitchFamily="34" charset="-122"/>
                <a:cs typeface="Courier New" pitchFamily="34" charset="-120"/>
              </a:rPr>
              <a:t>FREE</a:t>
            </a:r>
            <a:endParaRPr lang="en-US" sz="800" dirty="0"/>
          </a:p>
        </p:txBody>
      </p:sp>
      <p:sp>
        <p:nvSpPr>
          <p:cNvPr id="10" name="Text 8"/>
          <p:cNvSpPr/>
          <p:nvPr/>
        </p:nvSpPr>
        <p:spPr>
          <a:xfrm>
            <a:off x="457200" y="889397"/>
            <a:ext cx="8229600" cy="305476"/>
          </a:xfrm>
          <a:prstGeom prst="rect">
            <a:avLst/>
          </a:prstGeom>
          <a:noFill/>
          <a:ln/>
        </p:spPr>
        <p:txBody>
          <a:bodyPr wrap="square" lIns="0" tIns="0" rIns="0" bIns="0" rtlCol="0" anchor="t"/>
          <a:lstStyle/>
          <a:p>
            <a:pPr algn="l" indent="0" marL="0">
              <a:lnSpc>
                <a:spcPts val="2228"/>
              </a:lnSpc>
              <a:buNone/>
            </a:pPr>
            <a:r>
              <a:rPr lang="en-US" sz="2025" b="1" spc="-51" kern="0" dirty="0">
                <a:solidFill>
                  <a:srgbClr val="F2F1F1"/>
                </a:solidFill>
                <a:latin typeface="Carlito" pitchFamily="34" charset="0"/>
                <a:ea typeface="Carlito" pitchFamily="34" charset="-122"/>
                <a:cs typeface="Carlito" pitchFamily="34" charset="-120"/>
              </a:rPr>
              <a:t>Market research that feeds </a:t>
            </a:r>
            <a:pPr algn="l" indent="0" marL="0">
              <a:lnSpc>
                <a:spcPts val="2228"/>
              </a:lnSpc>
              <a:buNone/>
            </a:pPr>
            <a:r>
              <a:rPr lang="en-US" sz="2025" b="1" spc="-51" kern="0" dirty="0">
                <a:solidFill>
                  <a:srgbClr val="6B85FF"/>
                </a:solidFill>
                <a:latin typeface="Carlito" pitchFamily="34" charset="0"/>
                <a:ea typeface="Carlito" pitchFamily="34" charset="-122"/>
                <a:cs typeface="Carlito" pitchFamily="34" charset="-120"/>
              </a:rPr>
              <a:t>your launch</a:t>
            </a:r>
            <a:endParaRPr lang="en-US" sz="2025" dirty="0"/>
          </a:p>
        </p:txBody>
      </p:sp>
      <p:sp>
        <p:nvSpPr>
          <p:cNvPr id="11" name="Text 9"/>
          <p:cNvSpPr/>
          <p:nvPr/>
        </p:nvSpPr>
        <p:spPr>
          <a:xfrm>
            <a:off x="457200" y="1357982"/>
            <a:ext cx="4526235" cy="357795"/>
          </a:xfrm>
          <a:prstGeom prst="rect">
            <a:avLst/>
          </a:prstGeom>
          <a:noFill/>
          <a:ln/>
        </p:spPr>
        <p:txBody>
          <a:bodyPr wrap="square" lIns="0" tIns="0" rIns="0" bIns="0" rtlCol="0" anchor="t"/>
          <a:lstStyle/>
          <a:p>
            <a:pPr algn="l" indent="0" marL="0">
              <a:lnSpc>
                <a:spcPts val="1305"/>
              </a:lnSpc>
              <a:buNone/>
            </a:pPr>
            <a:r>
              <a:rPr lang="en-US" sz="816" dirty="0">
                <a:solidFill>
                  <a:srgbClr val="F2F1F1">
                    <a:alpha val="60000"/>
                  </a:srgbClr>
                </a:solidFill>
                <a:latin typeface="Carlito" pitchFamily="34" charset="0"/>
                <a:ea typeface="Carlito" pitchFamily="34" charset="-122"/>
                <a:cs typeface="Carlito" pitchFamily="34" charset="-120"/>
              </a:rPr>
              <a:t>Explore markets, competitors, customer pain points, and launch angles before you build. Free for all EKAM AI users.</a:t>
            </a:r>
            <a:endParaRPr lang="en-US" sz="816" dirty="0"/>
          </a:p>
        </p:txBody>
      </p:sp>
      <p:sp>
        <p:nvSpPr>
          <p:cNvPr id="12" name="Text 10"/>
          <p:cNvSpPr/>
          <p:nvPr/>
        </p:nvSpPr>
        <p:spPr>
          <a:xfrm>
            <a:off x="457200" y="1903586"/>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13" name="Text 11"/>
          <p:cNvSpPr/>
          <p:nvPr/>
        </p:nvSpPr>
        <p:spPr>
          <a:xfrm>
            <a:off x="700088" y="1896442"/>
            <a:ext cx="4283348" cy="159081"/>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Audience signals from real forums and review sites</a:t>
            </a:r>
            <a:endParaRPr lang="en-US" sz="800" dirty="0"/>
          </a:p>
        </p:txBody>
      </p:sp>
      <p:sp>
        <p:nvSpPr>
          <p:cNvPr id="14" name="Shape 12"/>
          <p:cNvSpPr/>
          <p:nvPr/>
        </p:nvSpPr>
        <p:spPr>
          <a:xfrm>
            <a:off x="457200" y="2128614"/>
            <a:ext cx="4526235" cy="0"/>
          </a:xfrm>
          <a:prstGeom prst="line">
            <a:avLst/>
          </a:prstGeom>
          <a:noFill/>
          <a:ln w="7144">
            <a:solidFill>
              <a:srgbClr val="FFFFFF"/>
            </a:solidFill>
            <a:prstDash val="solid"/>
          </a:ln>
        </p:spPr>
      </p:sp>
      <p:sp>
        <p:nvSpPr>
          <p:cNvPr id="15" name="Text 13"/>
          <p:cNvSpPr/>
          <p:nvPr/>
        </p:nvSpPr>
        <p:spPr>
          <a:xfrm>
            <a:off x="457200" y="2217911"/>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16" name="Text 14"/>
          <p:cNvSpPr/>
          <p:nvPr/>
        </p:nvSpPr>
        <p:spPr>
          <a:xfrm>
            <a:off x="700088" y="221076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Competitor map — who ships what, where the gap is</a:t>
            </a:r>
            <a:endParaRPr lang="en-US" sz="800" dirty="0"/>
          </a:p>
        </p:txBody>
      </p:sp>
      <p:sp>
        <p:nvSpPr>
          <p:cNvPr id="17" name="Shape 15"/>
          <p:cNvSpPr/>
          <p:nvPr/>
        </p:nvSpPr>
        <p:spPr>
          <a:xfrm>
            <a:off x="457200" y="2442939"/>
            <a:ext cx="4526235" cy="0"/>
          </a:xfrm>
          <a:prstGeom prst="line">
            <a:avLst/>
          </a:prstGeom>
          <a:noFill/>
          <a:ln w="7144">
            <a:solidFill>
              <a:srgbClr val="FFFFFF"/>
            </a:solidFill>
            <a:prstDash val="solid"/>
          </a:ln>
        </p:spPr>
      </p:sp>
      <p:sp>
        <p:nvSpPr>
          <p:cNvPr id="18" name="Text 16"/>
          <p:cNvSpPr/>
          <p:nvPr/>
        </p:nvSpPr>
        <p:spPr>
          <a:xfrm>
            <a:off x="457200" y="2532236"/>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19" name="Text 17"/>
          <p:cNvSpPr/>
          <p:nvPr/>
        </p:nvSpPr>
        <p:spPr>
          <a:xfrm>
            <a:off x="700088" y="2525092"/>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Three positioning drafts, ranked by strength</a:t>
            </a:r>
            <a:endParaRPr lang="en-US" sz="800" dirty="0"/>
          </a:p>
        </p:txBody>
      </p:sp>
      <p:sp>
        <p:nvSpPr>
          <p:cNvPr id="20" name="Shape 18"/>
          <p:cNvSpPr/>
          <p:nvPr/>
        </p:nvSpPr>
        <p:spPr>
          <a:xfrm>
            <a:off x="457200" y="2757264"/>
            <a:ext cx="4526235" cy="0"/>
          </a:xfrm>
          <a:prstGeom prst="line">
            <a:avLst/>
          </a:prstGeom>
          <a:noFill/>
          <a:ln w="7144">
            <a:solidFill>
              <a:srgbClr val="FFFFFF"/>
            </a:solidFill>
            <a:prstDash val="solid"/>
          </a:ln>
        </p:spPr>
      </p:sp>
      <p:sp>
        <p:nvSpPr>
          <p:cNvPr id="21" name="Text 19"/>
          <p:cNvSpPr/>
          <p:nvPr/>
        </p:nvSpPr>
        <p:spPr>
          <a:xfrm>
            <a:off x="457200" y="2846561"/>
            <a:ext cx="142875" cy="142875"/>
          </a:xfrm>
          <a:prstGeom prst="rect">
            <a:avLst/>
          </a:prstGeom>
          <a:noFill/>
          <a:ln/>
        </p:spPr>
        <p:txBody>
          <a:bodyPr wrap="none" lIns="0" tIns="0" rIns="0" bIns="0" rtlCol="0" anchor="ctr"/>
          <a:lstStyle/>
          <a:p>
            <a:pPr algn="ctr" indent="0" marL="0">
              <a:buNone/>
            </a:pPr>
            <a:r>
              <a:rPr lang="en-US" sz="1406" dirty="0">
                <a:solidFill>
                  <a:srgbClr val="6B85FF"/>
                </a:solidFill>
                <a:latin typeface="Segoe UI Symbol" pitchFamily="34" charset="0"/>
                <a:ea typeface="Segoe UI Symbol" pitchFamily="34" charset="-122"/>
                <a:cs typeface="Segoe UI Symbol" pitchFamily="34" charset="-120"/>
              </a:rPr>
              <a:t>⌕</a:t>
            </a:r>
            <a:endParaRPr lang="en-US" sz="1406" dirty="0"/>
          </a:p>
        </p:txBody>
      </p:sp>
      <p:sp>
        <p:nvSpPr>
          <p:cNvPr id="22" name="Text 20"/>
          <p:cNvSpPr/>
          <p:nvPr/>
        </p:nvSpPr>
        <p:spPr>
          <a:xfrm>
            <a:off x="700088" y="2839417"/>
            <a:ext cx="4283348" cy="150019"/>
          </a:xfrm>
          <a:prstGeom prst="rect">
            <a:avLst/>
          </a:prstGeom>
          <a:noFill/>
          <a:ln/>
        </p:spPr>
        <p:txBody>
          <a:bodyPr wrap="square" lIns="0" tIns="0" rIns="0" bIns="0" rtlCol="0" anchor="t"/>
          <a:lstStyle/>
          <a:p>
            <a:pPr algn="l" indent="0" marL="0">
              <a:lnSpc>
                <a:spcPts val="1142"/>
              </a:lnSpc>
              <a:buNone/>
            </a:pPr>
            <a:r>
              <a:rPr lang="en-US" sz="800" dirty="0">
                <a:solidFill>
                  <a:srgbClr val="F2F1F1"/>
                </a:solidFill>
                <a:latin typeface="Carlito" pitchFamily="34" charset="0"/>
                <a:ea typeface="Carlito" pitchFamily="34" charset="-122"/>
                <a:cs typeface="Carlito" pitchFamily="34" charset="-120"/>
              </a:rPr>
              <a:t>Page-ready headline + subhead + bullets</a:t>
            </a:r>
            <a:endParaRPr lang="en-US" sz="800" dirty="0"/>
          </a:p>
        </p:txBody>
      </p:sp>
      <p:sp>
        <p:nvSpPr>
          <p:cNvPr id="23" name="Text 21"/>
          <p:cNvSpPr/>
          <p:nvPr/>
        </p:nvSpPr>
        <p:spPr>
          <a:xfrm>
            <a:off x="460772" y="3228752"/>
            <a:ext cx="1587475" cy="221456"/>
          </a:xfrm>
          <a:prstGeom prst="roundRect">
            <a:avLst>
              <a:gd name="adj" fmla="val 43006500"/>
            </a:avLst>
          </a:prstGeom>
          <a:solidFill>
            <a:srgbClr val="2F44FF">
              <a:alpha val="10000"/>
            </a:srgbClr>
          </a:solidFill>
          <a:ln w="7144">
            <a:solidFill>
              <a:srgbClr val="2F44FF"/>
            </a:solidFill>
            <a:prstDash val="solid"/>
          </a:ln>
        </p:spPr>
        <p:txBody>
          <a:bodyPr wrap="square" rtlCol="0" anchor="ctr"/>
          <a:lstStyle/>
          <a:p>
            <a:pPr indent="0" marL="0">
              <a:buNone/>
            </a:pPr>
            <a:endParaRPr lang="en-US" dirty="0"/>
          </a:p>
        </p:txBody>
      </p:sp>
      <p:sp>
        <p:nvSpPr>
          <p:cNvPr id="24" name="Text 22"/>
          <p:cNvSpPr/>
          <p:nvPr/>
        </p:nvSpPr>
        <p:spPr>
          <a:xfrm>
            <a:off x="692944" y="3289474"/>
            <a:ext cx="1266006" cy="100013"/>
          </a:xfrm>
          <a:prstGeom prst="rect">
            <a:avLst/>
          </a:prstGeom>
          <a:noFill/>
          <a:ln/>
        </p:spPr>
        <p:txBody>
          <a:bodyPr wrap="none" lIns="0" tIns="0" rIns="0" bIns="0" rtlCol="0" anchor="ctr"/>
          <a:lstStyle/>
          <a:p>
            <a:pPr algn="ctr" indent="0" marL="0">
              <a:lnSpc>
                <a:spcPts val="1013"/>
              </a:lnSpc>
              <a:buNone/>
            </a:pPr>
            <a:r>
              <a:rPr lang="en-US" sz="800" spc="27" kern="0" dirty="0">
                <a:solidFill>
                  <a:srgbClr val="6B85FF"/>
                </a:solidFill>
                <a:latin typeface="Courier New" pitchFamily="34" charset="0"/>
                <a:ea typeface="Courier New" pitchFamily="34" charset="-122"/>
                <a:cs typeface="Courier New" pitchFamily="34" charset="-120"/>
              </a:rPr>
              <a:t>Free for all paid plans</a:t>
            </a:r>
            <a:endParaRPr lang="en-US" sz="800" dirty="0"/>
          </a:p>
        </p:txBody>
      </p:sp>
      <p:sp>
        <p:nvSpPr>
          <p:cNvPr id="25" name="Text 23"/>
          <p:cNvSpPr/>
          <p:nvPr/>
        </p:nvSpPr>
        <p:spPr>
          <a:xfrm>
            <a:off x="550069" y="3289474"/>
            <a:ext cx="100013" cy="100013"/>
          </a:xfrm>
          <a:prstGeom prst="rect">
            <a:avLst/>
          </a:prstGeom>
          <a:noFill/>
          <a:ln/>
        </p:spPr>
        <p:txBody>
          <a:bodyPr wrap="none" lIns="0" tIns="0" rIns="0" bIns="0" rtlCol="0" anchor="ctr"/>
          <a:lstStyle/>
          <a:p>
            <a:pPr algn="ctr" indent="0" marL="0">
              <a:buNone/>
            </a:pPr>
            <a:r>
              <a:rPr lang="en-US" sz="984" dirty="0">
                <a:solidFill>
                  <a:srgbClr val="6B85FF"/>
                </a:solidFill>
                <a:latin typeface="Segoe UI Symbol" pitchFamily="34" charset="0"/>
                <a:ea typeface="Segoe UI Symbol" pitchFamily="34" charset="-122"/>
                <a:cs typeface="Segoe UI Symbol" pitchFamily="34" charset="-120"/>
              </a:rPr>
              <a:t>⚡</a:t>
            </a:r>
            <a:endParaRPr lang="en-US" sz="984" dirty="0"/>
          </a:p>
        </p:txBody>
      </p:sp>
      <p:pic>
        <p:nvPicPr>
          <p:cNvPr id="26" name="Image 0" descr="preencoded.png">    </p:cNvPr>
          <p:cNvPicPr>
            <a:picLocks noChangeAspect="1"/>
          </p:cNvPicPr>
          <p:nvPr/>
        </p:nvPicPr>
        <p:blipFill>
          <a:blip r:embed="rId1"/>
          <a:stretch>
            <a:fillRect/>
          </a:stretch>
        </p:blipFill>
        <p:spPr>
          <a:xfrm>
            <a:off x="5240610" y="1357982"/>
            <a:ext cx="3703253" cy="2321942"/>
          </a:xfrm>
          <a:prstGeom prst="rect">
            <a:avLst/>
          </a:prstGeom>
        </p:spPr>
      </p:pic>
      <p:sp>
        <p:nvSpPr>
          <p:cNvPr id="27" name="Text 24"/>
          <p:cNvSpPr/>
          <p:nvPr/>
        </p:nvSpPr>
        <p:spPr>
          <a:xfrm>
            <a:off x="5244182" y="1361554"/>
            <a:ext cx="3696109" cy="2314798"/>
          </a:xfrm>
          <a:prstGeom prst="roundRect">
            <a:avLst>
              <a:gd name="adj" fmla="val 7407"/>
            </a:avLst>
          </a:prstGeom>
          <a:noFill/>
          <a:ln w="7144">
            <a:solidFill>
              <a:srgbClr val="FFFFFF"/>
            </a:solidFill>
            <a:prstDash val="solid"/>
          </a:ln>
          <a:effectLst>
            <a:outerShdw sx="100000" sy="100000" kx="0" ky="0" algn="bl" rotWithShape="0" blurRad="571500" dist="190500" dir="5400000">
              <a:srgbClr val="000000">
                <a:alpha val="60000"/>
              </a:srgbClr>
            </a:outerShdw>
          </a:effectLst>
        </p:spPr>
        <p:txBody>
          <a:bodyPr wrap="square" rtlCol="0" anchor="ctr"/>
          <a:lstStyle/>
          <a:p>
            <a:pPr indent="0" marL="0">
              <a:buNone/>
            </a:pPr>
            <a:endParaRPr lang="en-US" dirty="0"/>
          </a:p>
        </p:txBody>
      </p:sp>
      <p:sp>
        <p:nvSpPr>
          <p:cNvPr id="28" name="Text 25"/>
          <p:cNvSpPr/>
          <p:nvPr/>
        </p:nvSpPr>
        <p:spPr>
          <a:xfrm>
            <a:off x="5247754" y="1365126"/>
            <a:ext cx="3688966" cy="325041"/>
          </a:xfrm>
          <a:prstGeom prst="rect">
            <a:avLst/>
          </a:prstGeom>
          <a:solidFill>
            <a:srgbClr val="FFFFFF">
              <a:alpha val="2000"/>
            </a:srgbClr>
          </a:solidFill>
          <a:ln/>
        </p:spPr>
        <p:txBody>
          <a:bodyPr wrap="square" rtlCol="0" anchor="ctr"/>
          <a:lstStyle/>
          <a:p>
            <a:pPr indent="0" marL="0">
              <a:buNone/>
            </a:pPr>
            <a:endParaRPr lang="en-US" dirty="0"/>
          </a:p>
        </p:txBody>
      </p:sp>
      <p:sp>
        <p:nvSpPr>
          <p:cNvPr id="29" name="Shape 26"/>
          <p:cNvSpPr/>
          <p:nvPr/>
        </p:nvSpPr>
        <p:spPr>
          <a:xfrm>
            <a:off x="5247754" y="1686595"/>
            <a:ext cx="3688966" cy="0"/>
          </a:xfrm>
          <a:prstGeom prst="line">
            <a:avLst/>
          </a:prstGeom>
          <a:noFill/>
          <a:ln w="7144">
            <a:solidFill>
              <a:srgbClr val="FFFFFF"/>
            </a:solidFill>
            <a:prstDash val="solid"/>
          </a:ln>
        </p:spPr>
      </p:sp>
      <p:sp>
        <p:nvSpPr>
          <p:cNvPr id="30" name="Text 27"/>
          <p:cNvSpPr/>
          <p:nvPr/>
        </p:nvSpPr>
        <p:spPr>
          <a:xfrm>
            <a:off x="5376342" y="1495499"/>
            <a:ext cx="57150" cy="57150"/>
          </a:xfrm>
          <a:prstGeom prst="ellipse">
            <a:avLst/>
          </a:prstGeom>
          <a:solidFill>
            <a:srgbClr val="FF5F57"/>
          </a:solidFill>
          <a:ln/>
        </p:spPr>
        <p:txBody>
          <a:bodyPr wrap="square" rtlCol="0" anchor="ctr"/>
          <a:lstStyle/>
          <a:p>
            <a:pPr indent="0" marL="0">
              <a:buNone/>
            </a:pPr>
            <a:endParaRPr lang="en-US" dirty="0"/>
          </a:p>
        </p:txBody>
      </p:sp>
      <p:sp>
        <p:nvSpPr>
          <p:cNvPr id="31" name="Text 28"/>
          <p:cNvSpPr/>
          <p:nvPr/>
        </p:nvSpPr>
        <p:spPr>
          <a:xfrm>
            <a:off x="5490642" y="1495499"/>
            <a:ext cx="57150" cy="57150"/>
          </a:xfrm>
          <a:prstGeom prst="ellipse">
            <a:avLst/>
          </a:prstGeom>
          <a:solidFill>
            <a:srgbClr val="FEBC2E"/>
          </a:solidFill>
          <a:ln/>
        </p:spPr>
        <p:txBody>
          <a:bodyPr wrap="square" rtlCol="0" anchor="ctr"/>
          <a:lstStyle/>
          <a:p>
            <a:pPr indent="0" marL="0">
              <a:buNone/>
            </a:pPr>
            <a:endParaRPr lang="en-US" dirty="0"/>
          </a:p>
        </p:txBody>
      </p:sp>
      <p:sp>
        <p:nvSpPr>
          <p:cNvPr id="32" name="Text 29"/>
          <p:cNvSpPr/>
          <p:nvPr/>
        </p:nvSpPr>
        <p:spPr>
          <a:xfrm>
            <a:off x="5604942" y="1495499"/>
            <a:ext cx="57150" cy="57150"/>
          </a:xfrm>
          <a:prstGeom prst="ellipse">
            <a:avLst/>
          </a:prstGeom>
          <a:solidFill>
            <a:srgbClr val="28C840"/>
          </a:solidFill>
          <a:ln/>
        </p:spPr>
        <p:txBody>
          <a:bodyPr wrap="square" rtlCol="0" anchor="ctr"/>
          <a:lstStyle/>
          <a:p>
            <a:pPr indent="0" marL="0">
              <a:buNone/>
            </a:pPr>
            <a:endParaRPr lang="en-US" dirty="0"/>
          </a:p>
        </p:txBody>
      </p:sp>
      <p:sp>
        <p:nvSpPr>
          <p:cNvPr id="33" name="Text 30"/>
          <p:cNvSpPr/>
          <p:nvPr/>
        </p:nvSpPr>
        <p:spPr>
          <a:xfrm>
            <a:off x="5776392" y="1465138"/>
            <a:ext cx="3031741" cy="117872"/>
          </a:xfrm>
          <a:prstGeom prst="rect">
            <a:avLst/>
          </a:prstGeom>
          <a:noFill/>
          <a:ln/>
        </p:spPr>
        <p:txBody>
          <a:bodyPr wrap="none" lIns="0" tIns="0" rIns="0" bIns="0" rtlCol="0" anchor="t"/>
          <a:lstStyle/>
          <a:p>
            <a:pPr algn="l" indent="0" marL="0">
              <a:lnSpc>
                <a:spcPts val="928"/>
              </a:lnSpc>
              <a:buNone/>
            </a:pPr>
            <a:r>
              <a:rPr lang="en-US" sz="800" spc="37" kern="0" dirty="0">
                <a:solidFill>
                  <a:srgbClr val="F2F1F1">
                    <a:alpha val="40000"/>
                  </a:srgbClr>
                </a:solidFill>
                <a:latin typeface="Courier New" pitchFamily="34" charset="0"/>
                <a:ea typeface="Courier New" pitchFamily="34" charset="-122"/>
                <a:cs typeface="Courier New" pitchFamily="34" charset="-120"/>
              </a:rPr>
              <a:t>EKAM — SEARCH</a:t>
            </a:r>
            <a:endParaRPr lang="en-US" sz="800" dirty="0"/>
          </a:p>
        </p:txBody>
      </p:sp>
      <p:sp>
        <p:nvSpPr>
          <p:cNvPr id="34" name="Text 31"/>
          <p:cNvSpPr/>
          <p:nvPr/>
        </p:nvSpPr>
        <p:spPr>
          <a:xfrm>
            <a:off x="5376342" y="1907158"/>
            <a:ext cx="57150" cy="57150"/>
          </a:xfrm>
          <a:prstGeom prst="ellipse">
            <a:avLst/>
          </a:prstGeom>
          <a:solidFill>
            <a:srgbClr val="2F44FF"/>
          </a:solidFill>
          <a:ln/>
        </p:spPr>
        <p:txBody>
          <a:bodyPr wrap="square" rtlCol="0" anchor="ctr"/>
          <a:lstStyle/>
          <a:p>
            <a:pPr indent="0" marL="0">
              <a:buNone/>
            </a:pPr>
            <a:endParaRPr lang="en-US" dirty="0"/>
          </a:p>
        </p:txBody>
      </p:sp>
      <p:sp>
        <p:nvSpPr>
          <p:cNvPr id="35" name="Text 32"/>
          <p:cNvSpPr/>
          <p:nvPr/>
        </p:nvSpPr>
        <p:spPr>
          <a:xfrm>
            <a:off x="5519217" y="1868760"/>
            <a:ext cx="2654573"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Audience signals</a:t>
            </a:r>
            <a:endParaRPr lang="en-US" sz="800" dirty="0"/>
          </a:p>
        </p:txBody>
      </p:sp>
      <p:sp>
        <p:nvSpPr>
          <p:cNvPr id="36" name="Text 33"/>
          <p:cNvSpPr/>
          <p:nvPr/>
        </p:nvSpPr>
        <p:spPr>
          <a:xfrm>
            <a:off x="8216652" y="1868760"/>
            <a:ext cx="693215" cy="164592"/>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127 sources</a:t>
            </a:r>
            <a:endParaRPr lang="en-US" sz="800" dirty="0"/>
          </a:p>
        </p:txBody>
      </p:sp>
      <p:sp>
        <p:nvSpPr>
          <p:cNvPr id="37" name="Shape 34"/>
          <p:cNvSpPr/>
          <p:nvPr/>
        </p:nvSpPr>
        <p:spPr>
          <a:xfrm>
            <a:off x="5247754" y="2099146"/>
            <a:ext cx="3688966" cy="0"/>
          </a:xfrm>
          <a:prstGeom prst="line">
            <a:avLst/>
          </a:prstGeom>
          <a:noFill/>
          <a:ln w="7144">
            <a:solidFill>
              <a:srgbClr val="FFFFFF"/>
            </a:solidFill>
            <a:prstDash val="solid"/>
          </a:ln>
        </p:spPr>
      </p:sp>
      <p:sp>
        <p:nvSpPr>
          <p:cNvPr id="38" name="Text 35"/>
          <p:cNvSpPr/>
          <p:nvPr/>
        </p:nvSpPr>
        <p:spPr>
          <a:xfrm>
            <a:off x="5376342" y="2233985"/>
            <a:ext cx="57150" cy="57150"/>
          </a:xfrm>
          <a:prstGeom prst="ellipse">
            <a:avLst/>
          </a:prstGeom>
          <a:solidFill>
            <a:srgbClr val="2F44FF"/>
          </a:solidFill>
          <a:ln/>
        </p:spPr>
        <p:txBody>
          <a:bodyPr wrap="square" rtlCol="0" anchor="ctr"/>
          <a:lstStyle/>
          <a:p>
            <a:pPr indent="0" marL="0">
              <a:buNone/>
            </a:pPr>
            <a:endParaRPr lang="en-US" dirty="0"/>
          </a:p>
        </p:txBody>
      </p:sp>
      <p:sp>
        <p:nvSpPr>
          <p:cNvPr id="39" name="Text 36"/>
          <p:cNvSpPr/>
          <p:nvPr/>
        </p:nvSpPr>
        <p:spPr>
          <a:xfrm>
            <a:off x="5519217" y="2195587"/>
            <a:ext cx="2815865"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Competitor map</a:t>
            </a:r>
            <a:endParaRPr lang="en-US" sz="800" dirty="0"/>
          </a:p>
        </p:txBody>
      </p:sp>
      <p:sp>
        <p:nvSpPr>
          <p:cNvPr id="40" name="Text 37"/>
          <p:cNvSpPr/>
          <p:nvPr/>
        </p:nvSpPr>
        <p:spPr>
          <a:xfrm>
            <a:off x="8377944" y="2195587"/>
            <a:ext cx="430188"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8 mapped</a:t>
            </a:r>
            <a:endParaRPr lang="en-US" sz="800" dirty="0"/>
          </a:p>
        </p:txBody>
      </p:sp>
      <p:sp>
        <p:nvSpPr>
          <p:cNvPr id="41" name="Shape 38"/>
          <p:cNvSpPr/>
          <p:nvPr/>
        </p:nvSpPr>
        <p:spPr>
          <a:xfrm>
            <a:off x="5247754" y="2425973"/>
            <a:ext cx="3688966" cy="0"/>
          </a:xfrm>
          <a:prstGeom prst="line">
            <a:avLst/>
          </a:prstGeom>
          <a:noFill/>
          <a:ln w="7144">
            <a:solidFill>
              <a:srgbClr val="FFFFFF"/>
            </a:solidFill>
            <a:prstDash val="solid"/>
          </a:ln>
        </p:spPr>
      </p:sp>
      <p:sp>
        <p:nvSpPr>
          <p:cNvPr id="42" name="Text 39"/>
          <p:cNvSpPr/>
          <p:nvPr/>
        </p:nvSpPr>
        <p:spPr>
          <a:xfrm>
            <a:off x="5376342" y="2560811"/>
            <a:ext cx="57150" cy="57150"/>
          </a:xfrm>
          <a:prstGeom prst="ellipse">
            <a:avLst/>
          </a:prstGeom>
          <a:solidFill>
            <a:srgbClr val="2F44FF"/>
          </a:solidFill>
          <a:ln/>
        </p:spPr>
        <p:txBody>
          <a:bodyPr wrap="square" rtlCol="0" anchor="ctr"/>
          <a:lstStyle/>
          <a:p>
            <a:pPr indent="0" marL="0">
              <a:buNone/>
            </a:pPr>
            <a:endParaRPr lang="en-US" dirty="0"/>
          </a:p>
        </p:txBody>
      </p:sp>
      <p:sp>
        <p:nvSpPr>
          <p:cNvPr id="43" name="Text 40"/>
          <p:cNvSpPr/>
          <p:nvPr/>
        </p:nvSpPr>
        <p:spPr>
          <a:xfrm>
            <a:off x="5519217" y="2522413"/>
            <a:ext cx="2493392"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Courier New" pitchFamily="34" charset="0"/>
                <a:ea typeface="Courier New" pitchFamily="34" charset="-122"/>
                <a:cs typeface="Courier New" pitchFamily="34" charset="-120"/>
              </a:rPr>
              <a:t>Pricing research</a:t>
            </a:r>
            <a:endParaRPr lang="en-US" sz="800" dirty="0"/>
          </a:p>
        </p:txBody>
      </p:sp>
      <p:sp>
        <p:nvSpPr>
          <p:cNvPr id="44" name="Text 41"/>
          <p:cNvSpPr/>
          <p:nvPr/>
        </p:nvSpPr>
        <p:spPr>
          <a:xfrm>
            <a:off x="8055471" y="2522413"/>
            <a:ext cx="752661" cy="133945"/>
          </a:xfrm>
          <a:prstGeom prst="rect">
            <a:avLst/>
          </a:prstGeom>
          <a:noFill/>
          <a:ln/>
        </p:spPr>
        <p:txBody>
          <a:bodyPr wrap="none" lIns="0" tIns="0" rIns="0" bIns="0" rtlCol="0" anchor="t"/>
          <a:lstStyle/>
          <a:p>
            <a:pPr algn="l" indent="0" marL="0">
              <a:lnSpc>
                <a:spcPts val="1055"/>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$4–12/mo range</a:t>
            </a:r>
            <a:endParaRPr lang="en-US" sz="800" dirty="0"/>
          </a:p>
        </p:txBody>
      </p:sp>
      <p:pic>
        <p:nvPicPr>
          <p:cNvPr id="45" name="Image 1" descr="preencoded.png">    </p:cNvPr>
          <p:cNvPicPr>
            <a:picLocks noChangeAspect="1"/>
          </p:cNvPicPr>
          <p:nvPr/>
        </p:nvPicPr>
        <p:blipFill>
          <a:blip r:embed="rId2"/>
          <a:stretch>
            <a:fillRect/>
          </a:stretch>
        </p:blipFill>
        <p:spPr>
          <a:xfrm>
            <a:off x="5376342" y="2877815"/>
            <a:ext cx="3431791" cy="673522"/>
          </a:xfrm>
          <a:prstGeom prst="rect">
            <a:avLst/>
          </a:prstGeom>
        </p:spPr>
      </p:pic>
      <p:sp>
        <p:nvSpPr>
          <p:cNvPr id="46" name="Text 42"/>
          <p:cNvSpPr/>
          <p:nvPr/>
        </p:nvSpPr>
        <p:spPr>
          <a:xfrm>
            <a:off x="5379913" y="2881387"/>
            <a:ext cx="3424647" cy="666378"/>
          </a:xfrm>
          <a:prstGeom prst="roundRect">
            <a:avLst>
              <a:gd name="adj" fmla="val 17152"/>
            </a:avLst>
          </a:prstGeom>
          <a:noFill/>
          <a:ln w="7144">
            <a:solidFill>
              <a:srgbClr val="2F44FF"/>
            </a:solidFill>
            <a:prstDash val="solid"/>
          </a:ln>
        </p:spPr>
        <p:txBody>
          <a:bodyPr wrap="square" rtlCol="0" anchor="ctr"/>
          <a:lstStyle/>
          <a:p>
            <a:pPr indent="0" marL="0">
              <a:buNone/>
            </a:pPr>
            <a:endParaRPr lang="en-US" dirty="0"/>
          </a:p>
        </p:txBody>
      </p:sp>
      <p:sp>
        <p:nvSpPr>
          <p:cNvPr id="47" name="Text 43"/>
          <p:cNvSpPr/>
          <p:nvPr/>
        </p:nvSpPr>
        <p:spPr>
          <a:xfrm>
            <a:off x="5497785" y="2984971"/>
            <a:ext cx="114300" cy="114300"/>
          </a:xfrm>
          <a:prstGeom prst="rect">
            <a:avLst/>
          </a:prstGeom>
          <a:noFill/>
          <a:ln/>
        </p:spPr>
        <p:txBody>
          <a:bodyPr wrap="none" lIns="0" tIns="0" rIns="0" bIns="0" rtlCol="0" anchor="ctr"/>
          <a:lstStyle/>
          <a:p>
            <a:pPr algn="ctr" indent="0" marL="0">
              <a:buNone/>
            </a:pPr>
            <a:r>
              <a:rPr lang="en-US" sz="1125" dirty="0">
                <a:solidFill>
                  <a:srgbClr val="6B85FF"/>
                </a:solidFill>
                <a:latin typeface="Segoe UI Symbol" pitchFamily="34" charset="0"/>
                <a:ea typeface="Segoe UI Symbol" pitchFamily="34" charset="-122"/>
                <a:cs typeface="Segoe UI Symbol" pitchFamily="34" charset="-120"/>
              </a:rPr>
              <a:t>✦</a:t>
            </a:r>
            <a:endParaRPr lang="en-US" sz="1125" dirty="0"/>
          </a:p>
        </p:txBody>
      </p:sp>
      <p:sp>
        <p:nvSpPr>
          <p:cNvPr id="48" name="Text 44"/>
          <p:cNvSpPr/>
          <p:nvPr/>
        </p:nvSpPr>
        <p:spPr>
          <a:xfrm>
            <a:off x="5669235" y="2985864"/>
            <a:ext cx="3017453" cy="164592"/>
          </a:xfrm>
          <a:prstGeom prst="rect">
            <a:avLst/>
          </a:prstGeom>
          <a:noFill/>
          <a:ln/>
        </p:spPr>
        <p:txBody>
          <a:bodyPr wrap="none" lIns="0" tIns="0" rIns="0" bIns="0" rtlCol="0" anchor="t"/>
          <a:lstStyle/>
          <a:p>
            <a:pPr algn="l" indent="0" marL="0">
              <a:lnSpc>
                <a:spcPts val="886"/>
              </a:lnSpc>
              <a:buNone/>
            </a:pPr>
            <a:r>
              <a:rPr lang="en-US" sz="800" spc="47" kern="0" dirty="0">
                <a:solidFill>
                  <a:srgbClr val="6B85FF"/>
                </a:solidFill>
                <a:latin typeface="Courier New" pitchFamily="34" charset="0"/>
                <a:ea typeface="Courier New" pitchFamily="34" charset="-122"/>
                <a:cs typeface="Courier New" pitchFamily="34" charset="-120"/>
              </a:rPr>
              <a:t>STRONGEST ANGLE</a:t>
            </a:r>
            <a:endParaRPr lang="en-US" sz="800" dirty="0"/>
          </a:p>
        </p:txBody>
      </p:sp>
      <p:sp>
        <p:nvSpPr>
          <p:cNvPr id="49" name="Text 45"/>
          <p:cNvSpPr/>
          <p:nvPr/>
        </p:nvSpPr>
        <p:spPr>
          <a:xfrm>
            <a:off x="5497785" y="3156421"/>
            <a:ext cx="3188903" cy="287759"/>
          </a:xfrm>
          <a:prstGeom prst="rect">
            <a:avLst/>
          </a:prstGeom>
          <a:noFill/>
          <a:ln/>
        </p:spPr>
        <p:txBody>
          <a:bodyPr wrap="square" lIns="0" tIns="0" rIns="0" bIns="0" rtlCol="0" anchor="t"/>
          <a:lstStyle/>
          <a:p>
            <a:pPr algn="l" indent="0" marL="0">
              <a:lnSpc>
                <a:spcPts val="1133"/>
              </a:lnSpc>
              <a:buNone/>
            </a:pPr>
            <a:r>
              <a:rPr lang="en-US" sz="800" dirty="0">
                <a:solidFill>
                  <a:srgbClr val="F2F1F1"/>
                </a:solidFill>
                <a:latin typeface="Carlito" pitchFamily="34" charset="0"/>
                <a:ea typeface="Carlito" pitchFamily="34" charset="-122"/>
                <a:cs typeface="Carlito" pitchFamily="34" charset="-120"/>
              </a:rPr>
              <a:t>"Notes that find themselves." Auto-tagging + semantic search. Targets Obsidian users who want zero-config structure.</a:t>
            </a:r>
            <a:endParaRPr lang="en-US" sz="800" dirty="0"/>
          </a:p>
        </p:txBody>
      </p:sp>
      <p:pic>
        <p:nvPicPr>
          <p:cNvPr id="50" name="Image 2" descr="preencoded.png">    </p:cNvPr>
          <p:cNvPicPr>
            <a:picLocks noChangeAspect="1"/>
          </p:cNvPicPr>
          <p:nvPr/>
        </p:nvPicPr>
        <p:blipFill>
          <a:blip r:embed="rId3"/>
          <a:stretch>
            <a:fillRect/>
          </a:stretch>
        </p:blipFill>
        <p:spPr>
          <a:xfrm>
            <a:off x="5247754" y="3651349"/>
            <a:ext cx="3688966" cy="2143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571500" y="-857250"/>
            <a:ext cx="2428875" cy="2428875"/>
          </a:xfrm>
          <a:prstGeom prst="ellipse">
            <a:avLst/>
          </a:prstGeom>
          <a:solidFill>
            <a:srgbClr val="91E500">
              <a:alpha val="8000"/>
            </a:srgbClr>
          </a:solidFill>
          <a:ln/>
        </p:spPr>
        <p:txBody>
          <a:bodyPr wrap="square" rtlCol="0" anchor="ctr"/>
          <a:lstStyle/>
          <a:p>
            <a:pPr indent="0" marL="0">
              <a:buNone/>
            </a:pPr>
            <a:endParaRPr lang="en-US" dirty="0"/>
          </a:p>
        </p:txBody>
      </p:sp>
      <p:sp>
        <p:nvSpPr>
          <p:cNvPr id="3" name="Text 1"/>
          <p:cNvSpPr/>
          <p:nvPr/>
        </p:nvSpPr>
        <p:spPr>
          <a:xfrm>
            <a:off x="7143750" y="3571875"/>
            <a:ext cx="2714625" cy="2714625"/>
          </a:xfrm>
          <a:prstGeom prst="ellipse">
            <a:avLst/>
          </a:prstGeom>
          <a:solidFill>
            <a:srgbClr val="12BCFF">
              <a:alpha val="5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07 / 16</a:t>
            </a:r>
            <a:endParaRPr lang="en-US" sz="800" dirty="0"/>
          </a:p>
        </p:txBody>
      </p:sp>
      <p:sp>
        <p:nvSpPr>
          <p:cNvPr id="6" name="Text 4"/>
          <p:cNvSpPr/>
          <p:nvPr/>
        </p:nvSpPr>
        <p:spPr>
          <a:xfrm>
            <a:off x="434340" y="501548"/>
            <a:ext cx="103512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98940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LAUNCH STACK</a:t>
            </a:r>
            <a:endParaRPr lang="en-US" sz="800" dirty="0"/>
          </a:p>
        </p:txBody>
      </p:sp>
      <p:sp>
        <p:nvSpPr>
          <p:cNvPr id="9" name="Text 7"/>
          <p:cNvSpPr/>
          <p:nvPr/>
        </p:nvSpPr>
        <p:spPr>
          <a:xfrm>
            <a:off x="457200" y="832247"/>
            <a:ext cx="5857875"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From launch page to security check</a:t>
            </a:r>
            <a:endParaRPr lang="en-US" sz="2025" dirty="0"/>
          </a:p>
        </p:txBody>
      </p:sp>
      <p:sp>
        <p:nvSpPr>
          <p:cNvPr id="10" name="Text 8"/>
          <p:cNvSpPr/>
          <p:nvPr/>
        </p:nvSpPr>
        <p:spPr>
          <a:xfrm>
            <a:off x="457200" y="1186532"/>
            <a:ext cx="5857875" cy="382628"/>
          </a:xfrm>
          <a:prstGeom prst="rect">
            <a:avLst/>
          </a:prstGeom>
          <a:noFill/>
          <a:ln/>
        </p:spPr>
        <p:txBody>
          <a:bodyPr wrap="square" lIns="0" tIns="0" rIns="0" bIns="0" rtlCol="0" anchor="t"/>
          <a:lstStyle/>
          <a:p>
            <a:pPr algn="l" indent="0" marL="0">
              <a:lnSpc>
                <a:spcPts val="1395"/>
              </a:lnSpc>
              <a:buNone/>
            </a:pPr>
            <a:r>
              <a:rPr lang="en-US" sz="900" dirty="0">
                <a:solidFill>
                  <a:srgbClr val="F2F1F1">
                    <a:alpha val="60000"/>
                  </a:srgbClr>
                </a:solidFill>
                <a:latin typeface="Carlito" pitchFamily="34" charset="0"/>
                <a:ea typeface="Carlito" pitchFamily="34" charset="-122"/>
                <a:cs typeface="Carlito" pitchFamily="34" charset="-120"/>
              </a:rPr>
              <a:t>Start with EKAM AI Flow to create and deploy your public site, then use EKAM AI Pentest to scan authorized targets before you announce.</a:t>
            </a:r>
            <a:endParaRPr lang="en-US" sz="900" dirty="0"/>
          </a:p>
        </p:txBody>
      </p:sp>
      <p:pic>
        <p:nvPicPr>
          <p:cNvPr id="11" name="Image 0" descr="preencoded.png">    </p:cNvPr>
          <p:cNvPicPr>
            <a:picLocks noChangeAspect="1"/>
          </p:cNvPicPr>
          <p:nvPr/>
        </p:nvPicPr>
        <p:blipFill>
          <a:blip r:embed="rId1"/>
          <a:stretch>
            <a:fillRect/>
          </a:stretch>
        </p:blipFill>
        <p:spPr>
          <a:xfrm>
            <a:off x="457200" y="1855143"/>
            <a:ext cx="2567062" cy="1643063"/>
          </a:xfrm>
          <a:prstGeom prst="rect">
            <a:avLst/>
          </a:prstGeom>
        </p:spPr>
      </p:pic>
      <p:sp>
        <p:nvSpPr>
          <p:cNvPr id="12" name="Text 9"/>
          <p:cNvSpPr/>
          <p:nvPr/>
        </p:nvSpPr>
        <p:spPr>
          <a:xfrm>
            <a:off x="460772" y="1858714"/>
            <a:ext cx="2559918" cy="1635919"/>
          </a:xfrm>
          <a:prstGeom prst="roundRect">
            <a:avLst>
              <a:gd name="adj" fmla="val 10480"/>
            </a:avLst>
          </a:prstGeom>
          <a:noFill/>
          <a:ln w="7144">
            <a:solidFill>
              <a:srgbClr val="FFFFFF"/>
            </a:solidFill>
            <a:prstDash val="solid"/>
          </a:ln>
        </p:spPr>
        <p:txBody>
          <a:bodyPr wrap="square" rtlCol="0" anchor="ctr"/>
          <a:lstStyle/>
          <a:p>
            <a:pPr indent="0" marL="0">
              <a:buNone/>
            </a:pPr>
            <a:endParaRPr lang="en-US" dirty="0"/>
          </a:p>
        </p:txBody>
      </p:sp>
      <p:sp>
        <p:nvSpPr>
          <p:cNvPr id="13" name="Text 10"/>
          <p:cNvSpPr/>
          <p:nvPr/>
        </p:nvSpPr>
        <p:spPr>
          <a:xfrm>
            <a:off x="2302743" y="1576536"/>
            <a:ext cx="1000125" cy="1000125"/>
          </a:xfrm>
          <a:prstGeom prst="ellipse">
            <a:avLst/>
          </a:prstGeom>
          <a:solidFill>
            <a:srgbClr val="91E500">
              <a:alpha val="25000"/>
            </a:srgbClr>
          </a:solidFill>
          <a:ln/>
        </p:spPr>
        <p:txBody>
          <a:bodyPr wrap="square" rtlCol="0" anchor="ctr"/>
          <a:lstStyle/>
          <a:p>
            <a:pPr indent="0" marL="0">
              <a:buNone/>
            </a:pPr>
            <a:endParaRPr lang="en-US" dirty="0"/>
          </a:p>
        </p:txBody>
      </p:sp>
      <p:sp>
        <p:nvSpPr>
          <p:cNvPr id="14" name="Text 11"/>
          <p:cNvSpPr/>
          <p:nvPr/>
        </p:nvSpPr>
        <p:spPr>
          <a:xfrm>
            <a:off x="621506" y="2039094"/>
            <a:ext cx="2066999"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CFE98A"/>
                </a:solidFill>
                <a:latin typeface="Courier New" pitchFamily="34" charset="0"/>
                <a:ea typeface="Courier New" pitchFamily="34" charset="-122"/>
                <a:cs typeface="Courier New" pitchFamily="34" charset="-120"/>
              </a:rPr>
              <a:t>EKAM PENTEST</a:t>
            </a:r>
            <a:endParaRPr lang="en-US" sz="800" dirty="0"/>
          </a:p>
        </p:txBody>
      </p:sp>
      <p:sp>
        <p:nvSpPr>
          <p:cNvPr id="15" name="Text 12"/>
          <p:cNvSpPr/>
          <p:nvPr/>
        </p:nvSpPr>
        <p:spPr>
          <a:xfrm>
            <a:off x="2702793" y="2019449"/>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16" name="Text 13"/>
          <p:cNvSpPr/>
          <p:nvPr/>
        </p:nvSpPr>
        <p:spPr>
          <a:xfrm>
            <a:off x="621506" y="2276624"/>
            <a:ext cx="2238449" cy="185166"/>
          </a:xfrm>
          <a:prstGeom prst="rect">
            <a:avLst/>
          </a:prstGeom>
          <a:noFill/>
          <a:ln/>
        </p:spPr>
        <p:txBody>
          <a:bodyPr wrap="none" lIns="0" tIns="0" rIns="0" bIns="0" rtlCol="0" anchor="t"/>
          <a:lstStyle/>
          <a:p>
            <a:pPr algn="l" indent="0" marL="0">
              <a:lnSpc>
                <a:spcPts val="1350"/>
              </a:lnSpc>
              <a:buNone/>
            </a:pPr>
            <a:r>
              <a:rPr lang="en-US" sz="1125" b="1" spc="-11" kern="0" dirty="0">
                <a:solidFill>
                  <a:srgbClr val="F2F1F1"/>
                </a:solidFill>
                <a:latin typeface="Carlito" pitchFamily="34" charset="0"/>
                <a:ea typeface="Carlito" pitchFamily="34" charset="-122"/>
                <a:cs typeface="Carlito" pitchFamily="34" charset="-120"/>
              </a:rPr>
              <a:t>Pre-launch security scan</a:t>
            </a:r>
            <a:endParaRPr lang="en-US" sz="1125" dirty="0"/>
          </a:p>
        </p:txBody>
      </p:sp>
      <p:sp>
        <p:nvSpPr>
          <p:cNvPr id="17" name="Text 14"/>
          <p:cNvSpPr/>
          <p:nvPr/>
        </p:nvSpPr>
        <p:spPr>
          <a:xfrm>
            <a:off x="621506" y="2519511"/>
            <a:ext cx="2238449" cy="329184"/>
          </a:xfrm>
          <a:prstGeom prst="rect">
            <a:avLst/>
          </a:prstGeom>
          <a:noFill/>
          <a:ln/>
        </p:spPr>
        <p:txBody>
          <a:bodyPr wrap="square" lIns="0" tIns="0" rIns="0" bIns="0" rtlCol="0" anchor="t"/>
          <a:lstStyle/>
          <a:p>
            <a:pPr algn="l" indent="0" marL="0">
              <a:lnSpc>
                <a:spcPts val="1139"/>
              </a:lnSpc>
              <a:buNone/>
            </a:pPr>
            <a:r>
              <a:rPr lang="en-US" sz="800" dirty="0">
                <a:solidFill>
                  <a:srgbClr val="F2F1F1">
                    <a:alpha val="60000"/>
                  </a:srgbClr>
                </a:solidFill>
                <a:latin typeface="Carlito" pitchFamily="34" charset="0"/>
                <a:ea typeface="Carlito" pitchFamily="34" charset="-122"/>
                <a:cs typeface="Carlito" pitchFamily="34" charset="-120"/>
              </a:rPr>
              <a:t>12 agents, 11 vulnerability classes, evidence-backed findings.</a:t>
            </a:r>
            <a:endParaRPr lang="en-US" sz="800" dirty="0"/>
          </a:p>
        </p:txBody>
      </p:sp>
      <p:sp>
        <p:nvSpPr>
          <p:cNvPr id="18" name="Text 15"/>
          <p:cNvSpPr/>
          <p:nvPr/>
        </p:nvSpPr>
        <p:spPr>
          <a:xfrm>
            <a:off x="621506" y="3260675"/>
            <a:ext cx="57150" cy="57150"/>
          </a:xfrm>
          <a:prstGeom prst="ellipse">
            <a:avLst/>
          </a:prstGeom>
          <a:solidFill>
            <a:srgbClr val="91E500"/>
          </a:solidFill>
          <a:ln/>
        </p:spPr>
        <p:txBody>
          <a:bodyPr wrap="square" rtlCol="0" anchor="ctr"/>
          <a:lstStyle/>
          <a:p>
            <a:pPr indent="0" marL="0">
              <a:buNone/>
            </a:pPr>
            <a:endParaRPr lang="en-US" dirty="0"/>
          </a:p>
        </p:txBody>
      </p:sp>
      <p:sp>
        <p:nvSpPr>
          <p:cNvPr id="19" name="Text 16"/>
          <p:cNvSpPr/>
          <p:nvPr/>
        </p:nvSpPr>
        <p:spPr>
          <a:xfrm>
            <a:off x="735806" y="3230314"/>
            <a:ext cx="2124149"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F2F1F1">
                    <a:alpha val="60000"/>
                  </a:srgbClr>
                </a:solidFill>
                <a:latin typeface="Liberation Sans Narrow" pitchFamily="34" charset="0"/>
                <a:ea typeface="Liberation Sans Narrow" pitchFamily="34" charset="-122"/>
                <a:cs typeface="Liberation Sans Narrow" pitchFamily="34" charset="-120"/>
              </a:rPr>
              <a:t>Suite 02</a:t>
            </a:r>
            <a:endParaRPr lang="en-US" sz="800" dirty="0"/>
          </a:p>
        </p:txBody>
      </p:sp>
      <p:sp>
        <p:nvSpPr>
          <p:cNvPr id="20" name="Text 17"/>
          <p:cNvSpPr/>
          <p:nvPr/>
        </p:nvSpPr>
        <p:spPr>
          <a:xfrm>
            <a:off x="3045693" y="2598093"/>
            <a:ext cx="157163" cy="157163"/>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pic>
        <p:nvPicPr>
          <p:cNvPr id="21" name="Image 1" descr="preencoded.png">    </p:cNvPr>
          <p:cNvPicPr>
            <a:picLocks noChangeAspect="1"/>
          </p:cNvPicPr>
          <p:nvPr/>
        </p:nvPicPr>
        <p:blipFill>
          <a:blip r:embed="rId2"/>
          <a:stretch>
            <a:fillRect/>
          </a:stretch>
        </p:blipFill>
        <p:spPr>
          <a:xfrm>
            <a:off x="3224287" y="1683693"/>
            <a:ext cx="2695315" cy="1814513"/>
          </a:xfrm>
          <a:prstGeom prst="rect">
            <a:avLst/>
          </a:prstGeom>
        </p:spPr>
      </p:pic>
      <p:sp>
        <p:nvSpPr>
          <p:cNvPr id="22" name="Text 18"/>
          <p:cNvSpPr/>
          <p:nvPr/>
        </p:nvSpPr>
        <p:spPr>
          <a:xfrm>
            <a:off x="3227859" y="1687264"/>
            <a:ext cx="2688171" cy="1807369"/>
          </a:xfrm>
          <a:prstGeom prst="roundRect">
            <a:avLst>
              <a:gd name="adj" fmla="val 9486"/>
            </a:avLst>
          </a:prstGeom>
          <a:noFill/>
          <a:ln w="7144">
            <a:solidFill>
              <a:srgbClr val="12BCFF"/>
            </a:solidFill>
            <a:prstDash val="solid"/>
          </a:ln>
          <a:effectLst>
            <a:outerShdw sx="100000" sy="100000" kx="0" ky="0" algn="bl" rotWithShape="0" blurRad="381000" dist="114300" dir="5400000">
              <a:srgbClr val="12BCFF">
                <a:alpha val="18000"/>
              </a:srgbClr>
            </a:outerShdw>
          </a:effectLst>
        </p:spPr>
        <p:txBody>
          <a:bodyPr wrap="square" rtlCol="0" anchor="ctr"/>
          <a:lstStyle/>
          <a:p>
            <a:pPr indent="0" marL="0">
              <a:buNone/>
            </a:pPr>
            <a:endParaRPr lang="en-US" dirty="0"/>
          </a:p>
        </p:txBody>
      </p:sp>
      <p:sp>
        <p:nvSpPr>
          <p:cNvPr id="23" name="Text 19"/>
          <p:cNvSpPr/>
          <p:nvPr/>
        </p:nvSpPr>
        <p:spPr>
          <a:xfrm>
            <a:off x="5198083" y="1405086"/>
            <a:ext cx="1000125" cy="1000125"/>
          </a:xfrm>
          <a:prstGeom prst="ellipse">
            <a:avLst/>
          </a:prstGeom>
          <a:solidFill>
            <a:srgbClr val="12BCFF">
              <a:alpha val="29000"/>
            </a:srgbClr>
          </a:solidFill>
          <a:ln/>
        </p:spPr>
        <p:txBody>
          <a:bodyPr wrap="square" rtlCol="0" anchor="ctr"/>
          <a:lstStyle/>
          <a:p>
            <a:pPr indent="0" marL="0">
              <a:buNone/>
            </a:pPr>
            <a:endParaRPr lang="en-US" dirty="0"/>
          </a:p>
        </p:txBody>
      </p:sp>
      <p:sp>
        <p:nvSpPr>
          <p:cNvPr id="24" name="Text 20"/>
          <p:cNvSpPr/>
          <p:nvPr/>
        </p:nvSpPr>
        <p:spPr>
          <a:xfrm>
            <a:off x="3388593" y="1867644"/>
            <a:ext cx="2195252"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FDCFF"/>
                </a:solidFill>
                <a:latin typeface="Courier New" pitchFamily="34" charset="0"/>
                <a:ea typeface="Courier New" pitchFamily="34" charset="-122"/>
                <a:cs typeface="Courier New" pitchFamily="34" charset="-120"/>
              </a:rPr>
              <a:t>EKAM FLOW</a:t>
            </a:r>
            <a:endParaRPr lang="en-US" sz="800" dirty="0"/>
          </a:p>
        </p:txBody>
      </p:sp>
      <p:sp>
        <p:nvSpPr>
          <p:cNvPr id="25" name="Text 21"/>
          <p:cNvSpPr/>
          <p:nvPr/>
        </p:nvSpPr>
        <p:spPr>
          <a:xfrm>
            <a:off x="5598133" y="1847999"/>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26" name="Text 22"/>
          <p:cNvSpPr/>
          <p:nvPr/>
        </p:nvSpPr>
        <p:spPr>
          <a:xfrm>
            <a:off x="3388593" y="2105174"/>
            <a:ext cx="2366702" cy="185166"/>
          </a:xfrm>
          <a:prstGeom prst="rect">
            <a:avLst/>
          </a:prstGeom>
          <a:noFill/>
          <a:ln/>
        </p:spPr>
        <p:txBody>
          <a:bodyPr wrap="none" lIns="0" tIns="0" rIns="0" bIns="0" rtlCol="0" anchor="t"/>
          <a:lstStyle/>
          <a:p>
            <a:pPr algn="l" indent="0" marL="0">
              <a:lnSpc>
                <a:spcPts val="1350"/>
              </a:lnSpc>
              <a:buNone/>
            </a:pPr>
            <a:r>
              <a:rPr lang="en-US" sz="1125" b="1" spc="-11" kern="0" dirty="0">
                <a:solidFill>
                  <a:srgbClr val="F2F1F1"/>
                </a:solidFill>
                <a:latin typeface="Carlito" pitchFamily="34" charset="0"/>
                <a:ea typeface="Carlito" pitchFamily="34" charset="-122"/>
                <a:cs typeface="Carlito" pitchFamily="34" charset="-120"/>
              </a:rPr>
              <a:t>Prompt to live page</a:t>
            </a:r>
            <a:endParaRPr lang="en-US" sz="1125" dirty="0"/>
          </a:p>
        </p:txBody>
      </p:sp>
      <p:sp>
        <p:nvSpPr>
          <p:cNvPr id="27" name="Text 23"/>
          <p:cNvSpPr/>
          <p:nvPr/>
        </p:nvSpPr>
        <p:spPr>
          <a:xfrm>
            <a:off x="3388593" y="2348061"/>
            <a:ext cx="2366702" cy="164592"/>
          </a:xfrm>
          <a:prstGeom prst="rect">
            <a:avLst/>
          </a:prstGeom>
          <a:noFill/>
          <a:ln/>
        </p:spPr>
        <p:txBody>
          <a:bodyPr wrap="square" lIns="0" tIns="0" rIns="0" bIns="0" rtlCol="0" anchor="t"/>
          <a:lstStyle/>
          <a:p>
            <a:pPr algn="l" indent="0" marL="0">
              <a:lnSpc>
                <a:spcPts val="1139"/>
              </a:lnSpc>
              <a:buNone/>
            </a:pPr>
            <a:r>
              <a:rPr lang="en-US" sz="800" dirty="0">
                <a:solidFill>
                  <a:srgbClr val="F2F1F1">
                    <a:alpha val="60000"/>
                  </a:srgbClr>
                </a:solidFill>
                <a:latin typeface="Carlito" pitchFamily="34" charset="0"/>
                <a:ea typeface="Carlito" pitchFamily="34" charset="-122"/>
                <a:cs typeface="Carlito" pitchFamily="34" charset="-120"/>
              </a:rPr>
              <a:t>Design, copy, frontend, backend, deploy in minutes.</a:t>
            </a:r>
            <a:endParaRPr lang="en-US" sz="800" dirty="0"/>
          </a:p>
        </p:txBody>
      </p:sp>
      <p:sp>
        <p:nvSpPr>
          <p:cNvPr id="28" name="Text 24"/>
          <p:cNvSpPr/>
          <p:nvPr/>
        </p:nvSpPr>
        <p:spPr>
          <a:xfrm>
            <a:off x="3388593" y="3260675"/>
            <a:ext cx="57150" cy="57150"/>
          </a:xfrm>
          <a:prstGeom prst="ellipse">
            <a:avLst/>
          </a:prstGeom>
          <a:solidFill>
            <a:srgbClr val="12BCFF"/>
          </a:solidFill>
          <a:ln/>
        </p:spPr>
        <p:txBody>
          <a:bodyPr wrap="square" rtlCol="0" anchor="ctr"/>
          <a:lstStyle/>
          <a:p>
            <a:pPr indent="0" marL="0">
              <a:buNone/>
            </a:pPr>
            <a:endParaRPr lang="en-US" dirty="0"/>
          </a:p>
        </p:txBody>
      </p:sp>
      <p:sp>
        <p:nvSpPr>
          <p:cNvPr id="29" name="Text 25"/>
          <p:cNvSpPr/>
          <p:nvPr/>
        </p:nvSpPr>
        <p:spPr>
          <a:xfrm>
            <a:off x="3502893" y="3230314"/>
            <a:ext cx="910507"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F2F1F1">
                    <a:alpha val="60000"/>
                  </a:srgbClr>
                </a:solidFill>
                <a:latin typeface="Liberation Sans Narrow" pitchFamily="34" charset="0"/>
                <a:ea typeface="Liberation Sans Narrow" pitchFamily="34" charset="-122"/>
                <a:cs typeface="Liberation Sans Narrow" pitchFamily="34" charset="-120"/>
              </a:rPr>
              <a:t>Suite 01 · Core</a:t>
            </a:r>
            <a:endParaRPr lang="en-US" sz="800" dirty="0"/>
          </a:p>
        </p:txBody>
      </p:sp>
      <p:sp>
        <p:nvSpPr>
          <p:cNvPr id="30" name="Text 26"/>
          <p:cNvSpPr/>
          <p:nvPr/>
        </p:nvSpPr>
        <p:spPr>
          <a:xfrm>
            <a:off x="5365403" y="3235672"/>
            <a:ext cx="389892" cy="112514"/>
          </a:xfrm>
          <a:prstGeom prst="rect">
            <a:avLst/>
          </a:prstGeom>
          <a:noFill/>
          <a:ln/>
        </p:spPr>
        <p:txBody>
          <a:bodyPr wrap="square" lIns="0" tIns="0" rIns="0" bIns="0" rtlCol="0" anchor="t"/>
          <a:lstStyle/>
          <a:p>
            <a:pPr algn="l" indent="0" marL="0">
              <a:lnSpc>
                <a:spcPts val="844"/>
              </a:lnSpc>
              <a:buNone/>
            </a:pPr>
            <a:r>
              <a:rPr lang="en-US" sz="800" spc="45" kern="0" dirty="0">
                <a:solidFill>
                  <a:srgbClr val="9FDCFF"/>
                </a:solidFill>
                <a:latin typeface="Courier New" pitchFamily="34" charset="0"/>
                <a:ea typeface="Courier New" pitchFamily="34" charset="-122"/>
                <a:cs typeface="Courier New" pitchFamily="34" charset="-120"/>
              </a:rPr>
              <a:t>FEATURED</a:t>
            </a:r>
            <a:endParaRPr lang="en-US" sz="800" dirty="0"/>
          </a:p>
        </p:txBody>
      </p:sp>
      <p:sp>
        <p:nvSpPr>
          <p:cNvPr id="31" name="Text 27"/>
          <p:cNvSpPr/>
          <p:nvPr/>
        </p:nvSpPr>
        <p:spPr>
          <a:xfrm>
            <a:off x="5941033" y="2598093"/>
            <a:ext cx="157163" cy="157163"/>
          </a:xfrm>
          <a:prstGeom prst="rect">
            <a:avLst/>
          </a:prstGeom>
          <a:noFill/>
          <a:ln/>
        </p:spPr>
        <p:txBody>
          <a:bodyPr wrap="none" lIns="0" tIns="0" rIns="0" bIns="0" rtlCol="0" anchor="ctr"/>
          <a:lstStyle/>
          <a:p>
            <a:pPr algn="ctr" indent="0" marL="0">
              <a:buNone/>
            </a:pPr>
            <a:r>
              <a:rPr lang="en-US" sz="1547" dirty="0">
                <a:solidFill>
                  <a:srgbClr val="FFFFFF"/>
                </a:solidFill>
                <a:latin typeface="Segoe UI Symbol" pitchFamily="34" charset="0"/>
                <a:ea typeface="Segoe UI Symbol" pitchFamily="34" charset="-122"/>
                <a:cs typeface="Segoe UI Symbol" pitchFamily="34" charset="-120"/>
              </a:rPr>
              <a:t>→</a:t>
            </a:r>
            <a:endParaRPr lang="en-US" sz="1547" dirty="0"/>
          </a:p>
        </p:txBody>
      </p:sp>
      <p:pic>
        <p:nvPicPr>
          <p:cNvPr id="32" name="Image 2" descr="preencoded.png">    </p:cNvPr>
          <p:cNvPicPr>
            <a:picLocks noChangeAspect="1"/>
          </p:cNvPicPr>
          <p:nvPr/>
        </p:nvPicPr>
        <p:blipFill>
          <a:blip r:embed="rId3"/>
          <a:stretch>
            <a:fillRect/>
          </a:stretch>
        </p:blipFill>
        <p:spPr>
          <a:xfrm>
            <a:off x="6119626" y="1855143"/>
            <a:ext cx="2567174" cy="1643063"/>
          </a:xfrm>
          <a:prstGeom prst="rect">
            <a:avLst/>
          </a:prstGeom>
        </p:spPr>
      </p:pic>
      <p:sp>
        <p:nvSpPr>
          <p:cNvPr id="33" name="Text 28"/>
          <p:cNvSpPr/>
          <p:nvPr/>
        </p:nvSpPr>
        <p:spPr>
          <a:xfrm>
            <a:off x="6123198" y="1858714"/>
            <a:ext cx="2560030" cy="1635919"/>
          </a:xfrm>
          <a:prstGeom prst="roundRect">
            <a:avLst>
              <a:gd name="adj" fmla="val 10480"/>
            </a:avLst>
          </a:prstGeom>
          <a:noFill/>
          <a:ln w="7144">
            <a:solidFill>
              <a:srgbClr val="FFFFFF"/>
            </a:solidFill>
            <a:prstDash val="solid"/>
          </a:ln>
        </p:spPr>
        <p:txBody>
          <a:bodyPr wrap="square" rtlCol="0" anchor="ctr"/>
          <a:lstStyle/>
          <a:p>
            <a:pPr indent="0" marL="0">
              <a:buNone/>
            </a:pPr>
            <a:endParaRPr lang="en-US" dirty="0"/>
          </a:p>
        </p:txBody>
      </p:sp>
      <p:sp>
        <p:nvSpPr>
          <p:cNvPr id="34" name="Text 29"/>
          <p:cNvSpPr/>
          <p:nvPr/>
        </p:nvSpPr>
        <p:spPr>
          <a:xfrm>
            <a:off x="7965281" y="1576536"/>
            <a:ext cx="1000125" cy="1000125"/>
          </a:xfrm>
          <a:prstGeom prst="ellipse">
            <a:avLst/>
          </a:prstGeom>
          <a:solidFill>
            <a:srgbClr val="2F44FF">
              <a:alpha val="25000"/>
            </a:srgbClr>
          </a:solidFill>
          <a:ln/>
        </p:spPr>
        <p:txBody>
          <a:bodyPr wrap="square" rtlCol="0" anchor="ctr"/>
          <a:lstStyle/>
          <a:p>
            <a:pPr indent="0" marL="0">
              <a:buNone/>
            </a:pPr>
            <a:endParaRPr lang="en-US" dirty="0"/>
          </a:p>
        </p:txBody>
      </p:sp>
      <p:sp>
        <p:nvSpPr>
          <p:cNvPr id="35" name="Text 30"/>
          <p:cNvSpPr/>
          <p:nvPr/>
        </p:nvSpPr>
        <p:spPr>
          <a:xfrm>
            <a:off x="6283933" y="2039094"/>
            <a:ext cx="2067111" cy="164592"/>
          </a:xfrm>
          <a:prstGeom prst="rect">
            <a:avLst/>
          </a:prstGeom>
          <a:noFill/>
          <a:ln/>
        </p:spPr>
        <p:txBody>
          <a:bodyPr wrap="none" lIns="0" tIns="0" rIns="0" bIns="0" rtlCol="0" anchor="t"/>
          <a:lstStyle/>
          <a:p>
            <a:pPr algn="l" indent="0" marL="0">
              <a:lnSpc>
                <a:spcPts val="928"/>
              </a:lnSpc>
              <a:buNone/>
            </a:pPr>
            <a:r>
              <a:rPr lang="en-US" sz="800" spc="50" kern="0" dirty="0">
                <a:solidFill>
                  <a:srgbClr val="9FB0FF"/>
                </a:solidFill>
                <a:latin typeface="Courier New" pitchFamily="34" charset="0"/>
                <a:ea typeface="Courier New" pitchFamily="34" charset="-122"/>
                <a:cs typeface="Courier New" pitchFamily="34" charset="-120"/>
              </a:rPr>
              <a:t>EKAM SEARCH</a:t>
            </a:r>
            <a:endParaRPr lang="en-US" sz="800" dirty="0"/>
          </a:p>
        </p:txBody>
      </p:sp>
      <p:sp>
        <p:nvSpPr>
          <p:cNvPr id="36" name="Text 31"/>
          <p:cNvSpPr/>
          <p:nvPr/>
        </p:nvSpPr>
        <p:spPr>
          <a:xfrm>
            <a:off x="8365331" y="2019449"/>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37" name="Text 32"/>
          <p:cNvSpPr/>
          <p:nvPr/>
        </p:nvSpPr>
        <p:spPr>
          <a:xfrm>
            <a:off x="6283933" y="2276624"/>
            <a:ext cx="2238561" cy="185166"/>
          </a:xfrm>
          <a:prstGeom prst="rect">
            <a:avLst/>
          </a:prstGeom>
          <a:noFill/>
          <a:ln/>
        </p:spPr>
        <p:txBody>
          <a:bodyPr wrap="none" lIns="0" tIns="0" rIns="0" bIns="0" rtlCol="0" anchor="t"/>
          <a:lstStyle/>
          <a:p>
            <a:pPr algn="l" indent="0" marL="0">
              <a:lnSpc>
                <a:spcPts val="1350"/>
              </a:lnSpc>
              <a:buNone/>
            </a:pPr>
            <a:r>
              <a:rPr lang="en-US" sz="1125" b="1" spc="-11" kern="0" dirty="0">
                <a:solidFill>
                  <a:srgbClr val="F2F1F1"/>
                </a:solidFill>
                <a:latin typeface="Carlito" pitchFamily="34" charset="0"/>
                <a:ea typeface="Carlito" pitchFamily="34" charset="-122"/>
                <a:cs typeface="Carlito" pitchFamily="34" charset="-120"/>
              </a:rPr>
              <a:t>Market research</a:t>
            </a:r>
            <a:endParaRPr lang="en-US" sz="1125" dirty="0"/>
          </a:p>
        </p:txBody>
      </p:sp>
      <p:sp>
        <p:nvSpPr>
          <p:cNvPr id="38" name="Text 33"/>
          <p:cNvSpPr/>
          <p:nvPr/>
        </p:nvSpPr>
        <p:spPr>
          <a:xfrm>
            <a:off x="6283933" y="2519511"/>
            <a:ext cx="2238561" cy="329184"/>
          </a:xfrm>
          <a:prstGeom prst="rect">
            <a:avLst/>
          </a:prstGeom>
          <a:noFill/>
          <a:ln/>
        </p:spPr>
        <p:txBody>
          <a:bodyPr wrap="square" lIns="0" tIns="0" rIns="0" bIns="0" rtlCol="0" anchor="t"/>
          <a:lstStyle/>
          <a:p>
            <a:pPr algn="l" indent="0" marL="0">
              <a:lnSpc>
                <a:spcPts val="1139"/>
              </a:lnSpc>
              <a:buNone/>
            </a:pPr>
            <a:r>
              <a:rPr lang="en-US" sz="800" dirty="0">
                <a:solidFill>
                  <a:srgbClr val="F2F1F1">
                    <a:alpha val="60000"/>
                  </a:srgbClr>
                </a:solidFill>
                <a:latin typeface="Carlito" pitchFamily="34" charset="0"/>
                <a:ea typeface="Carlito" pitchFamily="34" charset="-122"/>
                <a:cs typeface="Carlito" pitchFamily="34" charset="-120"/>
              </a:rPr>
              <a:t>Audience signals, competitor map, launch angles. Free.</a:t>
            </a:r>
            <a:endParaRPr lang="en-US" sz="800" dirty="0"/>
          </a:p>
        </p:txBody>
      </p:sp>
      <p:sp>
        <p:nvSpPr>
          <p:cNvPr id="39" name="Text 34"/>
          <p:cNvSpPr/>
          <p:nvPr/>
        </p:nvSpPr>
        <p:spPr>
          <a:xfrm>
            <a:off x="6283933" y="3260675"/>
            <a:ext cx="57150" cy="57150"/>
          </a:xfrm>
          <a:prstGeom prst="ellipse">
            <a:avLst/>
          </a:prstGeom>
          <a:solidFill>
            <a:srgbClr val="2F44FF"/>
          </a:solidFill>
          <a:ln/>
        </p:spPr>
        <p:txBody>
          <a:bodyPr wrap="square" rtlCol="0" anchor="ctr"/>
          <a:lstStyle/>
          <a:p>
            <a:pPr indent="0" marL="0">
              <a:buNone/>
            </a:pPr>
            <a:endParaRPr lang="en-US" dirty="0"/>
          </a:p>
        </p:txBody>
      </p:sp>
      <p:sp>
        <p:nvSpPr>
          <p:cNvPr id="40" name="Text 35"/>
          <p:cNvSpPr/>
          <p:nvPr/>
        </p:nvSpPr>
        <p:spPr>
          <a:xfrm>
            <a:off x="6398233" y="3230314"/>
            <a:ext cx="2124261" cy="117872"/>
          </a:xfrm>
          <a:prstGeom prst="rect">
            <a:avLst/>
          </a:prstGeom>
          <a:noFill/>
          <a:ln/>
        </p:spPr>
        <p:txBody>
          <a:bodyPr wrap="none" lIns="0" tIns="0" rIns="0" bIns="0" rtlCol="0" anchor="t"/>
          <a:lstStyle/>
          <a:p>
            <a:pPr algn="l" indent="0" marL="0">
              <a:lnSpc>
                <a:spcPts val="928"/>
              </a:lnSpc>
              <a:buNone/>
            </a:pPr>
            <a:r>
              <a:rPr lang="en-US" sz="800" spc="25" kern="0" dirty="0">
                <a:solidFill>
                  <a:srgbClr val="F2F1F1">
                    <a:alpha val="60000"/>
                  </a:srgbClr>
                </a:solidFill>
                <a:latin typeface="Liberation Sans Narrow" pitchFamily="34" charset="0"/>
                <a:ea typeface="Liberation Sans Narrow" pitchFamily="34" charset="-122"/>
                <a:cs typeface="Liberation Sans Narrow" pitchFamily="34" charset="-120"/>
              </a:rPr>
              <a:t>Suite 03 · Free</a:t>
            </a:r>
            <a:endParaRPr lang="en-US" sz="800" dirty="0"/>
          </a:p>
        </p:txBody>
      </p:sp>
      <p:pic>
        <p:nvPicPr>
          <p:cNvPr id="41" name="Image 3" descr="preencoded.png">    </p:cNvPr>
          <p:cNvPicPr>
            <a:picLocks noChangeAspect="1"/>
          </p:cNvPicPr>
          <p:nvPr/>
        </p:nvPicPr>
        <p:blipFill>
          <a:blip r:embed="rId4"/>
          <a:stretch>
            <a:fillRect/>
          </a:stretch>
        </p:blipFill>
        <p:spPr>
          <a:xfrm>
            <a:off x="457200" y="3769668"/>
            <a:ext cx="8229600" cy="14288"/>
          </a:xfrm>
          <a:prstGeom prst="rect">
            <a:avLst/>
          </a:prstGeom>
        </p:spPr>
      </p:pic>
      <p:sp>
        <p:nvSpPr>
          <p:cNvPr id="42" name="Text 36"/>
          <p:cNvSpPr/>
          <p:nvPr/>
        </p:nvSpPr>
        <p:spPr>
          <a:xfrm>
            <a:off x="3214576" y="3883968"/>
            <a:ext cx="5472224" cy="164592"/>
          </a:xfrm>
          <a:prstGeom prst="rect">
            <a:avLst/>
          </a:prstGeom>
          <a:noFill/>
          <a:ln/>
        </p:spPr>
        <p:txBody>
          <a:bodyPr wrap="square" lIns="0" tIns="0" rIns="0" bIns="0" rtlCol="0" anchor="t"/>
          <a:lstStyle/>
          <a:p>
            <a:pPr algn="l" indent="0" marL="0">
              <a:lnSpc>
                <a:spcPts val="1181"/>
              </a:lnSpc>
              <a:buNone/>
            </a:pPr>
            <a:r>
              <a:rPr lang="en-US" sz="800" spc="47" kern="0" dirty="0">
                <a:solidFill>
                  <a:srgbClr val="2F44FF"/>
                </a:solidFill>
                <a:latin typeface="Courier New" pitchFamily="34" charset="0"/>
                <a:ea typeface="Courier New" pitchFamily="34" charset="-122"/>
                <a:cs typeface="Courier New" pitchFamily="34" charset="-120"/>
              </a:rPr>
              <a:t>Search → Flow → Deploy → Pentest → Launch</a:t>
            </a:r>
            <a:endParaRPr lang="en-US" sz="800" dirty="0"/>
          </a:p>
        </p:txBody>
      </p:sp>
      <p:sp>
        <p:nvSpPr>
          <p:cNvPr id="43" name="Text 37"/>
          <p:cNvSpPr/>
          <p:nvPr/>
        </p:nvSpPr>
        <p:spPr>
          <a:xfrm>
            <a:off x="2375185" y="4244727"/>
            <a:ext cx="2388468" cy="164592"/>
          </a:xfrm>
          <a:prstGeom prst="rect">
            <a:avLst/>
          </a:prstGeom>
          <a:noFill/>
          <a:ln/>
        </p:spPr>
        <p:txBody>
          <a:bodyPr wrap="square" lIns="0" tIns="0" rIns="0" bIns="0" rtlCol="0" anchor="t"/>
          <a:lstStyle/>
          <a:p>
            <a:pPr algn="l" indent="0" marL="0">
              <a:lnSpc>
                <a:spcPts val="1097"/>
              </a:lnSpc>
              <a:buNone/>
            </a:pPr>
            <a:r>
              <a:rPr lang="en-US" sz="800" dirty="0">
                <a:solidFill>
                  <a:srgbClr val="F2F1F1">
                    <a:alpha val="40000"/>
                  </a:srgbClr>
                </a:solidFill>
                <a:latin typeface="Carlito" pitchFamily="34" charset="0"/>
                <a:ea typeface="Carlito" pitchFamily="34" charset="-122"/>
                <a:cs typeface="Carlito" pitchFamily="34" charset="-120"/>
              </a:rPr>
              <a:t>Powered by leading AI models, orchestrated by EKAM AI</a:t>
            </a:r>
            <a:endParaRPr lang="en-US" sz="800" dirty="0"/>
          </a:p>
        </p:txBody>
      </p:sp>
      <p:sp>
        <p:nvSpPr>
          <p:cNvPr id="44" name="Text 38"/>
          <p:cNvSpPr/>
          <p:nvPr/>
        </p:nvSpPr>
        <p:spPr>
          <a:xfrm>
            <a:off x="4813660" y="4228654"/>
            <a:ext cx="91440" cy="185166"/>
          </a:xfrm>
          <a:prstGeom prst="rect">
            <a:avLst/>
          </a:prstGeom>
          <a:noFill/>
          <a:ln/>
        </p:spPr>
        <p:txBody>
          <a:bodyPr wrap="none" lIns="0" tIns="0" rIns="0" bIns="0" rtlCol="0" anchor="t"/>
          <a:lstStyle/>
          <a:p>
            <a:pPr algn="l" indent="0" marL="0">
              <a:lnSpc>
                <a:spcPts val="1350"/>
              </a:lnSpc>
              <a:buNone/>
            </a:pPr>
            <a:r>
              <a:rPr lang="en-US" sz="900" dirty="0">
                <a:solidFill>
                  <a:srgbClr val="FFFFFF">
                    <a:alpha val="8000"/>
                  </a:srgbClr>
                </a:solidFill>
                <a:latin typeface="Carlito" pitchFamily="34" charset="0"/>
                <a:ea typeface="Carlito" pitchFamily="34" charset="-122"/>
                <a:cs typeface="Carlito" pitchFamily="34" charset="-120"/>
              </a:rPr>
              <a:t>·</a:t>
            </a:r>
            <a:endParaRPr lang="en-US" sz="900" dirty="0"/>
          </a:p>
        </p:txBody>
      </p:sp>
      <p:sp>
        <p:nvSpPr>
          <p:cNvPr id="45" name="Text 39"/>
          <p:cNvSpPr/>
          <p:nvPr/>
        </p:nvSpPr>
        <p:spPr>
          <a:xfrm>
            <a:off x="4932192" y="4192635"/>
            <a:ext cx="527651" cy="243488"/>
          </a:xfrm>
          <a:prstGeom prst="roundRect">
            <a:avLst>
              <a:gd name="adj" fmla="val 39115059"/>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46" name="Text 40"/>
          <p:cNvSpPr/>
          <p:nvPr/>
        </p:nvSpPr>
        <p:spPr>
          <a:xfrm>
            <a:off x="4951735" y="4205436"/>
            <a:ext cx="488566" cy="217884"/>
          </a:xfrm>
          <a:prstGeom prst="rect">
            <a:avLst/>
          </a:prstGeom>
          <a:noFill/>
          <a:ln/>
        </p:spPr>
        <p:txBody>
          <a:bodyPr wrap="none" lIns="0" tIns="0" rIns="0" bIns="0" rtlCol="0" anchor="ctr"/>
          <a:lstStyle/>
          <a:p>
            <a:pPr algn="ctr" indent="0" marL="0">
              <a:lnSpc>
                <a:spcPts val="928"/>
              </a:lnSpc>
              <a:buNone/>
            </a:pPr>
            <a:r>
              <a:rPr lang="en-US" sz="800" spc="25" kern="0" dirty="0">
                <a:solidFill>
                  <a:srgbClr val="F2F1F1">
                    <a:alpha val="60000"/>
                  </a:srgbClr>
                </a:solidFill>
                <a:latin typeface="Courier New" pitchFamily="34" charset="0"/>
                <a:ea typeface="Courier New" pitchFamily="34" charset="-122"/>
                <a:cs typeface="Courier New" pitchFamily="34" charset="-120"/>
              </a:rPr>
              <a:t>OpenAI</a:t>
            </a:r>
            <a:endParaRPr lang="en-US" sz="800" dirty="0"/>
          </a:p>
        </p:txBody>
      </p:sp>
      <p:sp>
        <p:nvSpPr>
          <p:cNvPr id="47" name="Text 41"/>
          <p:cNvSpPr/>
          <p:nvPr/>
        </p:nvSpPr>
        <p:spPr>
          <a:xfrm>
            <a:off x="5517453" y="4192635"/>
            <a:ext cx="685644" cy="243488"/>
          </a:xfrm>
          <a:prstGeom prst="roundRect">
            <a:avLst>
              <a:gd name="adj" fmla="val 39115059"/>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48" name="Text 42"/>
          <p:cNvSpPr/>
          <p:nvPr/>
        </p:nvSpPr>
        <p:spPr>
          <a:xfrm>
            <a:off x="5540313" y="4205436"/>
            <a:ext cx="639924" cy="217884"/>
          </a:xfrm>
          <a:prstGeom prst="rect">
            <a:avLst/>
          </a:prstGeom>
          <a:noFill/>
          <a:ln/>
        </p:spPr>
        <p:txBody>
          <a:bodyPr wrap="none" lIns="0" tIns="0" rIns="0" bIns="0" rtlCol="0" anchor="ctr"/>
          <a:lstStyle/>
          <a:p>
            <a:pPr algn="ctr" indent="0" marL="0">
              <a:lnSpc>
                <a:spcPts val="928"/>
              </a:lnSpc>
              <a:buNone/>
            </a:pPr>
            <a:r>
              <a:rPr lang="en-US" sz="800" spc="25" kern="0" dirty="0">
                <a:solidFill>
                  <a:srgbClr val="F2F1F1">
                    <a:alpha val="60000"/>
                  </a:srgbClr>
                </a:solidFill>
                <a:latin typeface="Courier New" pitchFamily="34" charset="0"/>
                <a:ea typeface="Courier New" pitchFamily="34" charset="-122"/>
                <a:cs typeface="Courier New" pitchFamily="34" charset="-120"/>
              </a:rPr>
              <a:t>Anthropic</a:t>
            </a:r>
            <a:endParaRPr lang="en-US" sz="800" dirty="0"/>
          </a:p>
        </p:txBody>
      </p:sp>
      <p:sp>
        <p:nvSpPr>
          <p:cNvPr id="49" name="Text 43"/>
          <p:cNvSpPr/>
          <p:nvPr/>
        </p:nvSpPr>
        <p:spPr>
          <a:xfrm>
            <a:off x="6260707" y="4192635"/>
            <a:ext cx="527651" cy="243488"/>
          </a:xfrm>
          <a:prstGeom prst="roundRect">
            <a:avLst>
              <a:gd name="adj" fmla="val 39115059"/>
            </a:avLst>
          </a:prstGeom>
          <a:solidFill>
            <a:srgbClr val="FFFFFF">
              <a:alpha val="4000"/>
            </a:srgbClr>
          </a:solidFill>
          <a:ln w="7144">
            <a:solidFill>
              <a:srgbClr val="FFFFFF"/>
            </a:solidFill>
            <a:prstDash val="solid"/>
          </a:ln>
        </p:spPr>
        <p:txBody>
          <a:bodyPr wrap="square" rtlCol="0" anchor="ctr"/>
          <a:lstStyle/>
          <a:p>
            <a:pPr indent="0" marL="0">
              <a:buNone/>
            </a:pPr>
            <a:endParaRPr lang="en-US" dirty="0"/>
          </a:p>
        </p:txBody>
      </p:sp>
      <p:sp>
        <p:nvSpPr>
          <p:cNvPr id="50" name="Text 44"/>
          <p:cNvSpPr/>
          <p:nvPr/>
        </p:nvSpPr>
        <p:spPr>
          <a:xfrm>
            <a:off x="6280249" y="4205436"/>
            <a:ext cx="488566" cy="217884"/>
          </a:xfrm>
          <a:prstGeom prst="rect">
            <a:avLst/>
          </a:prstGeom>
          <a:noFill/>
          <a:ln/>
        </p:spPr>
        <p:txBody>
          <a:bodyPr wrap="none" lIns="0" tIns="0" rIns="0" bIns="0" rtlCol="0" anchor="ctr"/>
          <a:lstStyle/>
          <a:p>
            <a:pPr algn="ctr" indent="0" marL="0">
              <a:lnSpc>
                <a:spcPts val="928"/>
              </a:lnSpc>
              <a:buNone/>
            </a:pPr>
            <a:r>
              <a:rPr lang="en-US" sz="800" spc="25" kern="0" dirty="0">
                <a:solidFill>
                  <a:srgbClr val="F2F1F1">
                    <a:alpha val="60000"/>
                  </a:srgbClr>
                </a:solidFill>
                <a:latin typeface="Courier New" pitchFamily="34" charset="0"/>
                <a:ea typeface="Courier New" pitchFamily="34" charset="-122"/>
                <a:cs typeface="Courier New" pitchFamily="34" charset="-120"/>
              </a:rPr>
              <a:t>Google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2743200" y="-1000125"/>
            <a:ext cx="2714625" cy="2714625"/>
          </a:xfrm>
          <a:prstGeom prst="ellipse">
            <a:avLst/>
          </a:prstGeom>
          <a:solidFill>
            <a:srgbClr val="12BCFF">
              <a:alpha val="4000"/>
            </a:srgbClr>
          </a:solidFill>
          <a:ln/>
        </p:spPr>
        <p:txBody>
          <a:bodyPr wrap="square" rtlCol="0" anchor="ctr"/>
          <a:lstStyle/>
          <a:p>
            <a:pPr indent="0" marL="0">
              <a:buNone/>
            </a:pPr>
            <a:endParaRPr lang="en-US" dirty="0"/>
          </a:p>
        </p:txBody>
      </p:sp>
      <p:sp>
        <p:nvSpPr>
          <p:cNvPr id="3" name="Text 1"/>
          <p:cNvSpPr/>
          <p:nvPr/>
        </p:nvSpPr>
        <p:spPr>
          <a:xfrm>
            <a:off x="-571500" y="3857625"/>
            <a:ext cx="2143125" cy="2143125"/>
          </a:xfrm>
          <a:prstGeom prst="ellipse">
            <a:avLst/>
          </a:prstGeom>
          <a:solidFill>
            <a:srgbClr val="91E500">
              <a:alpha val="6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08 / 16</a:t>
            </a:r>
            <a:endParaRPr lang="en-US" sz="800" dirty="0"/>
          </a:p>
        </p:txBody>
      </p:sp>
      <p:sp>
        <p:nvSpPr>
          <p:cNvPr id="6" name="Text 4"/>
          <p:cNvSpPr/>
          <p:nvPr/>
        </p:nvSpPr>
        <p:spPr>
          <a:xfrm>
            <a:off x="434340" y="501548"/>
            <a:ext cx="1231471"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12BCFF"/>
          </a:solidFill>
          <a:ln/>
        </p:spPr>
        <p:txBody>
          <a:bodyPr wrap="square" rtlCol="0" anchor="ctr"/>
          <a:lstStyle/>
          <a:p>
            <a:pPr indent="0" marL="0">
              <a:buNone/>
            </a:pPr>
            <a:endParaRPr lang="en-US" dirty="0"/>
          </a:p>
        </p:txBody>
      </p:sp>
      <p:sp>
        <p:nvSpPr>
          <p:cNvPr id="8" name="Text 6"/>
          <p:cNvSpPr/>
          <p:nvPr/>
        </p:nvSpPr>
        <p:spPr>
          <a:xfrm>
            <a:off x="457200" y="514350"/>
            <a:ext cx="118575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THE ARCHITECTURE</a:t>
            </a:r>
            <a:endParaRPr lang="en-US" sz="800" dirty="0"/>
          </a:p>
        </p:txBody>
      </p:sp>
      <p:sp>
        <p:nvSpPr>
          <p:cNvPr id="9" name="Text 7"/>
          <p:cNvSpPr/>
          <p:nvPr/>
        </p:nvSpPr>
        <p:spPr>
          <a:xfrm>
            <a:off x="457200" y="832247"/>
            <a:ext cx="4347496" cy="333202"/>
          </a:xfrm>
          <a:prstGeom prst="rect">
            <a:avLst/>
          </a:prstGeom>
          <a:noFill/>
          <a:ln/>
        </p:spPr>
        <p:txBody>
          <a:bodyPr wrap="none" lIns="0" tIns="0" rIns="0" bIns="0" rtlCol="0" anchor="t"/>
          <a:lstStyle/>
          <a:p>
            <a:pPr algn="l" indent="0" marL="0">
              <a:lnSpc>
                <a:spcPts val="2430"/>
              </a:lnSpc>
              <a:buNone/>
            </a:pPr>
            <a:r>
              <a:rPr lang="en-US" sz="2250" b="1" spc="-56" kern="0" dirty="0">
                <a:solidFill>
                  <a:srgbClr val="F2F1F1"/>
                </a:solidFill>
                <a:latin typeface="Carlito" pitchFamily="34" charset="0"/>
                <a:ea typeface="Carlito" pitchFamily="34" charset="-122"/>
                <a:cs typeface="Carlito" pitchFamily="34" charset="-120"/>
              </a:rPr>
              <a:t>EKAM AI is </a:t>
            </a:r>
            <a:pPr algn="l" indent="0" marL="0">
              <a:lnSpc>
                <a:spcPts val="2430"/>
              </a:lnSpc>
              <a:buNone/>
            </a:pPr>
            <a:r>
              <a:rPr lang="en-US" sz="2250" b="1" spc="-56" kern="0" dirty="0">
                <a:solidFill>
                  <a:srgbClr val="F2F1F1">
                    <a:alpha val="60000"/>
                  </a:srgbClr>
                </a:solidFill>
                <a:latin typeface="Carlito" pitchFamily="34" charset="0"/>
                <a:ea typeface="Carlito" pitchFamily="34" charset="-122"/>
                <a:cs typeface="Carlito" pitchFamily="34" charset="-120"/>
              </a:rPr>
              <a:t>not</a:t>
            </a:r>
            <a:pPr algn="l" indent="0" marL="0">
              <a:lnSpc>
                <a:spcPts val="2430"/>
              </a:lnSpc>
              <a:buNone/>
            </a:pPr>
            <a:r>
              <a:rPr lang="en-US" sz="2250" b="1" spc="-56" kern="0" dirty="0">
                <a:solidFill>
                  <a:srgbClr val="F2F1F1"/>
                </a:solidFill>
                <a:latin typeface="Carlito" pitchFamily="34" charset="0"/>
                <a:ea typeface="Carlito" pitchFamily="34" charset="-122"/>
                <a:cs typeface="Carlito" pitchFamily="34" charset="-120"/>
              </a:rPr>
              <a:t> a model</a:t>
            </a:r>
            <a:endParaRPr lang="en-US" sz="2250" dirty="0"/>
          </a:p>
        </p:txBody>
      </p:sp>
      <p:sp>
        <p:nvSpPr>
          <p:cNvPr id="10" name="Text 8"/>
          <p:cNvSpPr/>
          <p:nvPr/>
        </p:nvSpPr>
        <p:spPr>
          <a:xfrm>
            <a:off x="457200" y="1212205"/>
            <a:ext cx="4000500" cy="358759"/>
          </a:xfrm>
          <a:prstGeom prst="rect">
            <a:avLst/>
          </a:prstGeom>
          <a:noFill/>
          <a:ln/>
        </p:spPr>
        <p:txBody>
          <a:bodyPr wrap="square" lIns="0" tIns="0" rIns="0" bIns="0" rtlCol="0" anchor="t"/>
          <a:lstStyle/>
          <a:p>
            <a:pPr algn="l" indent="0" marL="0">
              <a:lnSpc>
                <a:spcPts val="1308"/>
              </a:lnSpc>
              <a:buNone/>
            </a:pPr>
            <a:r>
              <a:rPr lang="en-US" sz="844" dirty="0">
                <a:solidFill>
                  <a:srgbClr val="F2F1F1">
                    <a:alpha val="60000"/>
                  </a:srgbClr>
                </a:solidFill>
                <a:latin typeface="Carlito" pitchFamily="34" charset="0"/>
                <a:ea typeface="Carlito" pitchFamily="34" charset="-122"/>
                <a:cs typeface="Carlito" pitchFamily="34" charset="-120"/>
              </a:rPr>
              <a:t>An execution layer that turns AI intelligence into structured workflows, deployed systems, and real business outcomes.</a:t>
            </a:r>
            <a:endParaRPr lang="en-US" sz="844" dirty="0"/>
          </a:p>
        </p:txBody>
      </p:sp>
      <p:sp>
        <p:nvSpPr>
          <p:cNvPr id="11" name="Text 9"/>
          <p:cNvSpPr/>
          <p:nvPr/>
        </p:nvSpPr>
        <p:spPr>
          <a:xfrm>
            <a:off x="460772" y="1705124"/>
            <a:ext cx="4133329" cy="725091"/>
          </a:xfrm>
          <a:prstGeom prst="roundRect">
            <a:avLst>
              <a:gd name="adj" fmla="val 18391"/>
            </a:avLst>
          </a:prstGeom>
          <a:solidFill>
            <a:srgbClr val="F2F1F1"/>
          </a:solidFill>
          <a:ln w="7144">
            <a:solidFill>
              <a:srgbClr val="000000"/>
            </a:solidFill>
            <a:prstDash val="solid"/>
          </a:ln>
        </p:spPr>
        <p:txBody>
          <a:bodyPr wrap="square" rtlCol="0" anchor="ctr"/>
          <a:lstStyle/>
          <a:p>
            <a:pPr indent="0" marL="0">
              <a:buNone/>
            </a:pPr>
            <a:endParaRPr lang="en-US" dirty="0"/>
          </a:p>
        </p:txBody>
      </p:sp>
      <p:sp>
        <p:nvSpPr>
          <p:cNvPr id="12" name="Text 10"/>
          <p:cNvSpPr/>
          <p:nvPr/>
        </p:nvSpPr>
        <p:spPr>
          <a:xfrm>
            <a:off x="621506" y="1837283"/>
            <a:ext cx="1725857" cy="108299"/>
          </a:xfrm>
          <a:prstGeom prst="rect">
            <a:avLst/>
          </a:prstGeom>
          <a:noFill/>
          <a:ln/>
        </p:spPr>
        <p:txBody>
          <a:bodyPr wrap="none" lIns="0" tIns="0" rIns="0" bIns="0" rtlCol="0" anchor="t">
            <a:normAutofit/>
          </a:bodyPr>
          <a:lstStyle/>
          <a:p>
            <a:pPr algn="l" indent="0" marL="0">
              <a:lnSpc>
                <a:spcPts val="844"/>
              </a:lnSpc>
              <a:buNone/>
            </a:pPr>
            <a:r>
              <a:rPr lang="en-US" sz="800" spc="45" kern="0" dirty="0">
                <a:solidFill>
                  <a:srgbClr val="0A0A0F">
                    <a:alpha val="55000"/>
                  </a:srgbClr>
                </a:solidFill>
                <a:latin typeface="Liberation Sans Narrow" pitchFamily="34" charset="0"/>
                <a:ea typeface="Liberation Sans Narrow" pitchFamily="34" charset="-122"/>
                <a:cs typeface="Liberation Sans Narrow" pitchFamily="34" charset="-120"/>
              </a:rPr>
              <a:t>LAYER 03</a:t>
            </a:r>
            <a:endParaRPr lang="en-US" sz="800" dirty="0"/>
          </a:p>
        </p:txBody>
      </p:sp>
      <p:sp>
        <p:nvSpPr>
          <p:cNvPr id="13" name="Text 11"/>
          <p:cNvSpPr/>
          <p:nvPr/>
        </p:nvSpPr>
        <p:spPr>
          <a:xfrm>
            <a:off x="621506" y="1973014"/>
            <a:ext cx="1513717" cy="169021"/>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0A0A0F"/>
                </a:solidFill>
                <a:latin typeface="Carlito" pitchFamily="34" charset="0"/>
                <a:ea typeface="Carlito" pitchFamily="34" charset="-122"/>
                <a:cs typeface="Carlito" pitchFamily="34" charset="-120"/>
              </a:rPr>
              <a:t>Running Systems</a:t>
            </a:r>
            <a:endParaRPr lang="en-US" sz="956" dirty="0"/>
          </a:p>
        </p:txBody>
      </p:sp>
      <p:sp>
        <p:nvSpPr>
          <p:cNvPr id="14" name="Text 12"/>
          <p:cNvSpPr/>
          <p:nvPr/>
        </p:nvSpPr>
        <p:spPr>
          <a:xfrm>
            <a:off x="621506" y="2169468"/>
            <a:ext cx="1394893" cy="128588"/>
          </a:xfrm>
          <a:prstGeom prst="rect">
            <a:avLst/>
          </a:prstGeom>
          <a:noFill/>
          <a:ln/>
        </p:spPr>
        <p:txBody>
          <a:bodyPr wrap="square" lIns="0" tIns="0" rIns="0" bIns="0" rtlCol="0" anchor="t"/>
          <a:lstStyle/>
          <a:p>
            <a:pPr algn="l" indent="0" marL="0">
              <a:lnSpc>
                <a:spcPts val="1013"/>
              </a:lnSpc>
              <a:buNone/>
            </a:pPr>
            <a:r>
              <a:rPr lang="en-US" sz="800" dirty="0">
                <a:solidFill>
                  <a:srgbClr val="0A0A0F">
                    <a:alpha val="65000"/>
                  </a:srgbClr>
                </a:solidFill>
                <a:latin typeface="Carlito" pitchFamily="34" charset="0"/>
                <a:ea typeface="Carlito" pitchFamily="34" charset="-122"/>
                <a:cs typeface="Carlito" pitchFamily="34" charset="-120"/>
              </a:rPr>
              <a:t>Deployed pages, apps, and scans</a:t>
            </a:r>
            <a:endParaRPr lang="en-US" sz="800" dirty="0"/>
          </a:p>
        </p:txBody>
      </p:sp>
      <p:sp>
        <p:nvSpPr>
          <p:cNvPr id="15" name="Text 13"/>
          <p:cNvSpPr/>
          <p:nvPr/>
        </p:nvSpPr>
        <p:spPr>
          <a:xfrm>
            <a:off x="4242649" y="1962677"/>
            <a:ext cx="209985" cy="209985"/>
          </a:xfrm>
          <a:prstGeom prst="rect">
            <a:avLst/>
          </a:prstGeom>
          <a:noFill/>
          <a:ln/>
        </p:spPr>
        <p:txBody>
          <a:bodyPr wrap="none" lIns="0" tIns="0" rIns="0" bIns="0" rtlCol="0" anchor="ctr"/>
          <a:lstStyle/>
          <a:p>
            <a:pPr algn="ctr" indent="0" marL="0">
              <a:buNone/>
            </a:pPr>
            <a:r>
              <a:rPr lang="en-US" sz="1688" dirty="0">
                <a:solidFill>
                  <a:srgbClr val="0A0A0F"/>
                </a:solidFill>
                <a:latin typeface="Segoe UI Symbol" pitchFamily="34" charset="0"/>
                <a:ea typeface="Segoe UI Symbol" pitchFamily="34" charset="-122"/>
                <a:cs typeface="Segoe UI Symbol" pitchFamily="34" charset="-120"/>
              </a:rPr>
              <a:t>↻</a:t>
            </a:r>
            <a:endParaRPr lang="en-US" sz="1688" dirty="0"/>
          </a:p>
        </p:txBody>
      </p:sp>
      <p:pic>
        <p:nvPicPr>
          <p:cNvPr id="16" name="Image 0" descr="preencoded.png">    </p:cNvPr>
          <p:cNvPicPr>
            <a:picLocks noChangeAspect="1"/>
          </p:cNvPicPr>
          <p:nvPr/>
        </p:nvPicPr>
        <p:blipFill>
          <a:blip r:embed="rId1"/>
          <a:stretch>
            <a:fillRect/>
          </a:stretch>
        </p:blipFill>
        <p:spPr>
          <a:xfrm>
            <a:off x="2520293" y="2433786"/>
            <a:ext cx="14288" cy="128588"/>
          </a:xfrm>
          <a:prstGeom prst="rect">
            <a:avLst/>
          </a:prstGeom>
        </p:spPr>
      </p:pic>
      <p:pic>
        <p:nvPicPr>
          <p:cNvPr id="17" name="Image 1" descr="preencoded.png">    </p:cNvPr>
          <p:cNvPicPr>
            <a:picLocks noChangeAspect="1"/>
          </p:cNvPicPr>
          <p:nvPr/>
        </p:nvPicPr>
        <p:blipFill>
          <a:blip r:embed="rId2"/>
          <a:stretch>
            <a:fillRect/>
          </a:stretch>
        </p:blipFill>
        <p:spPr>
          <a:xfrm>
            <a:off x="2520293" y="3294608"/>
            <a:ext cx="14288" cy="128588"/>
          </a:xfrm>
          <a:prstGeom prst="rect">
            <a:avLst/>
          </a:prstGeom>
        </p:spPr>
      </p:pic>
      <p:sp>
        <p:nvSpPr>
          <p:cNvPr id="18" name="Text 14"/>
          <p:cNvSpPr/>
          <p:nvPr/>
        </p:nvSpPr>
        <p:spPr>
          <a:xfrm>
            <a:off x="460772" y="3426768"/>
            <a:ext cx="4133329" cy="725091"/>
          </a:xfrm>
          <a:prstGeom prst="roundRect">
            <a:avLst>
              <a:gd name="adj" fmla="val 18391"/>
            </a:avLst>
          </a:prstGeom>
          <a:solidFill>
            <a:srgbClr val="91E500"/>
          </a:solidFill>
          <a:ln w="7144">
            <a:solidFill>
              <a:srgbClr val="000000"/>
            </a:solidFill>
            <a:prstDash val="solid"/>
          </a:ln>
        </p:spPr>
        <p:txBody>
          <a:bodyPr wrap="square" rtlCol="0" anchor="ctr"/>
          <a:lstStyle/>
          <a:p>
            <a:pPr indent="0" marL="0">
              <a:buNone/>
            </a:pPr>
            <a:endParaRPr lang="en-US" dirty="0"/>
          </a:p>
        </p:txBody>
      </p:sp>
      <p:sp>
        <p:nvSpPr>
          <p:cNvPr id="19" name="Text 15"/>
          <p:cNvSpPr/>
          <p:nvPr/>
        </p:nvSpPr>
        <p:spPr>
          <a:xfrm>
            <a:off x="621506" y="3558927"/>
            <a:ext cx="1197257" cy="108299"/>
          </a:xfrm>
          <a:prstGeom prst="rect">
            <a:avLst/>
          </a:prstGeom>
          <a:noFill/>
          <a:ln/>
        </p:spPr>
        <p:txBody>
          <a:bodyPr wrap="none" lIns="0" tIns="0" rIns="0" bIns="0" rtlCol="0" anchor="t">
            <a:normAutofit/>
          </a:bodyPr>
          <a:lstStyle/>
          <a:p>
            <a:pPr algn="l" indent="0" marL="0">
              <a:lnSpc>
                <a:spcPts val="844"/>
              </a:lnSpc>
              <a:buNone/>
            </a:pPr>
            <a:r>
              <a:rPr lang="en-US" sz="800" spc="45" kern="0" dirty="0">
                <a:solidFill>
                  <a:srgbClr val="0A0A0F">
                    <a:alpha val="55000"/>
                  </a:srgbClr>
                </a:solidFill>
                <a:latin typeface="Liberation Sans Narrow" pitchFamily="34" charset="0"/>
                <a:ea typeface="Liberation Sans Narrow" pitchFamily="34" charset="-122"/>
                <a:cs typeface="Liberation Sans Narrow" pitchFamily="34" charset="-120"/>
              </a:rPr>
              <a:t>LAYER 01</a:t>
            </a:r>
            <a:endParaRPr lang="en-US" sz="800" dirty="0"/>
          </a:p>
        </p:txBody>
      </p:sp>
      <p:sp>
        <p:nvSpPr>
          <p:cNvPr id="20" name="Text 16"/>
          <p:cNvSpPr/>
          <p:nvPr/>
        </p:nvSpPr>
        <p:spPr>
          <a:xfrm>
            <a:off x="621506" y="3694658"/>
            <a:ext cx="1146858" cy="169021"/>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0A0A0F"/>
                </a:solidFill>
                <a:latin typeface="Carlito" pitchFamily="34" charset="0"/>
                <a:ea typeface="Carlito" pitchFamily="34" charset="-122"/>
                <a:cs typeface="Carlito" pitchFamily="34" charset="-120"/>
              </a:rPr>
              <a:t>AI models</a:t>
            </a:r>
            <a:endParaRPr lang="en-US" sz="956" dirty="0"/>
          </a:p>
        </p:txBody>
      </p:sp>
      <p:sp>
        <p:nvSpPr>
          <p:cNvPr id="21" name="Text 17"/>
          <p:cNvSpPr/>
          <p:nvPr/>
        </p:nvSpPr>
        <p:spPr>
          <a:xfrm>
            <a:off x="621506" y="3891111"/>
            <a:ext cx="985581" cy="128588"/>
          </a:xfrm>
          <a:prstGeom prst="rect">
            <a:avLst/>
          </a:prstGeom>
          <a:noFill/>
          <a:ln/>
        </p:spPr>
        <p:txBody>
          <a:bodyPr wrap="square" lIns="0" tIns="0" rIns="0" bIns="0" rtlCol="0" anchor="t"/>
          <a:lstStyle/>
          <a:p>
            <a:pPr algn="l" indent="0" marL="0">
              <a:lnSpc>
                <a:spcPts val="1013"/>
              </a:lnSpc>
              <a:buNone/>
            </a:pPr>
            <a:r>
              <a:rPr lang="en-US" sz="800" dirty="0">
                <a:solidFill>
                  <a:srgbClr val="0A0A0F">
                    <a:alpha val="70000"/>
                  </a:srgbClr>
                </a:solidFill>
                <a:latin typeface="Carlito" pitchFamily="34" charset="0"/>
                <a:ea typeface="Carlito" pitchFamily="34" charset="-122"/>
                <a:cs typeface="Carlito" pitchFamily="34" charset="-120"/>
              </a:rPr>
              <a:t>Leading frontier models</a:t>
            </a:r>
            <a:endParaRPr lang="en-US" sz="800" dirty="0"/>
          </a:p>
        </p:txBody>
      </p:sp>
      <p:sp>
        <p:nvSpPr>
          <p:cNvPr id="22" name="Text 18"/>
          <p:cNvSpPr/>
          <p:nvPr/>
        </p:nvSpPr>
        <p:spPr>
          <a:xfrm>
            <a:off x="2928214" y="3699302"/>
            <a:ext cx="450498" cy="180023"/>
          </a:xfrm>
          <a:prstGeom prst="roundRect">
            <a:avLst>
              <a:gd name="adj" fmla="val 31746"/>
            </a:avLst>
          </a:prstGeom>
          <a:solidFill>
            <a:srgbClr val="000000">
              <a:alpha val="8000"/>
            </a:srgbClr>
          </a:solidFill>
          <a:ln/>
        </p:spPr>
        <p:txBody>
          <a:bodyPr wrap="square" rtlCol="0" anchor="ctr"/>
          <a:lstStyle/>
          <a:p>
            <a:pPr indent="0" marL="0">
              <a:buNone/>
            </a:pPr>
            <a:endParaRPr lang="en-US" dirty="0"/>
          </a:p>
        </p:txBody>
      </p:sp>
      <p:sp>
        <p:nvSpPr>
          <p:cNvPr id="23" name="Text 19"/>
          <p:cNvSpPr/>
          <p:nvPr/>
        </p:nvSpPr>
        <p:spPr>
          <a:xfrm>
            <a:off x="2944899" y="3708946"/>
            <a:ext cx="417128" cy="160734"/>
          </a:xfrm>
          <a:prstGeom prst="rect">
            <a:avLst/>
          </a:prstGeom>
          <a:noFill/>
          <a:ln/>
        </p:spPr>
        <p:txBody>
          <a:bodyPr wrap="none" lIns="0" tIns="0" rIns="0" bIns="0" rtlCol="0" anchor="ctr"/>
          <a:lstStyle/>
          <a:p>
            <a:pPr algn="ctr" indent="0" marL="0">
              <a:lnSpc>
                <a:spcPts val="928"/>
              </a:lnSpc>
              <a:buNone/>
            </a:pPr>
            <a:r>
              <a:rPr lang="en-US" sz="800" spc="25" kern="0" dirty="0">
                <a:solidFill>
                  <a:srgbClr val="0A0A0F"/>
                </a:solidFill>
                <a:latin typeface="Courier New" pitchFamily="34" charset="0"/>
                <a:ea typeface="Courier New" pitchFamily="34" charset="-122"/>
                <a:cs typeface="Courier New" pitchFamily="34" charset="-120"/>
              </a:rPr>
              <a:t>OpenAI</a:t>
            </a:r>
            <a:endParaRPr lang="en-US" sz="800" dirty="0"/>
          </a:p>
        </p:txBody>
      </p:sp>
      <p:sp>
        <p:nvSpPr>
          <p:cNvPr id="24" name="Text 20"/>
          <p:cNvSpPr/>
          <p:nvPr/>
        </p:nvSpPr>
        <p:spPr>
          <a:xfrm>
            <a:off x="3382150" y="3699302"/>
            <a:ext cx="613965" cy="180023"/>
          </a:xfrm>
          <a:prstGeom prst="roundRect">
            <a:avLst>
              <a:gd name="adj" fmla="val 31746"/>
            </a:avLst>
          </a:prstGeom>
          <a:solidFill>
            <a:srgbClr val="000000">
              <a:alpha val="8000"/>
            </a:srgbClr>
          </a:solidFill>
          <a:ln/>
        </p:spPr>
        <p:txBody>
          <a:bodyPr wrap="square" rtlCol="0" anchor="ctr"/>
          <a:lstStyle/>
          <a:p>
            <a:pPr indent="0" marL="0">
              <a:buNone/>
            </a:pPr>
            <a:endParaRPr lang="en-US" dirty="0"/>
          </a:p>
        </p:txBody>
      </p:sp>
      <p:sp>
        <p:nvSpPr>
          <p:cNvPr id="25" name="Text 21"/>
          <p:cNvSpPr/>
          <p:nvPr/>
        </p:nvSpPr>
        <p:spPr>
          <a:xfrm>
            <a:off x="3404890" y="3708946"/>
            <a:ext cx="568486" cy="160734"/>
          </a:xfrm>
          <a:prstGeom prst="rect">
            <a:avLst/>
          </a:prstGeom>
          <a:noFill/>
          <a:ln/>
        </p:spPr>
        <p:txBody>
          <a:bodyPr wrap="none" lIns="0" tIns="0" rIns="0" bIns="0" rtlCol="0" anchor="ctr"/>
          <a:lstStyle/>
          <a:p>
            <a:pPr algn="ctr" indent="0" marL="0">
              <a:lnSpc>
                <a:spcPts val="928"/>
              </a:lnSpc>
              <a:buNone/>
            </a:pPr>
            <a:r>
              <a:rPr lang="en-US" sz="800" spc="25" kern="0" dirty="0">
                <a:solidFill>
                  <a:srgbClr val="0A0A0F"/>
                </a:solidFill>
                <a:latin typeface="Courier New" pitchFamily="34" charset="0"/>
                <a:ea typeface="Courier New" pitchFamily="34" charset="-122"/>
                <a:cs typeface="Courier New" pitchFamily="34" charset="-120"/>
              </a:rPr>
              <a:t>Anthropic</a:t>
            </a:r>
            <a:endParaRPr lang="en-US" sz="800" dirty="0"/>
          </a:p>
        </p:txBody>
      </p:sp>
      <p:sp>
        <p:nvSpPr>
          <p:cNvPr id="26" name="Text 22"/>
          <p:cNvSpPr/>
          <p:nvPr/>
        </p:nvSpPr>
        <p:spPr>
          <a:xfrm>
            <a:off x="3999553" y="3699302"/>
            <a:ext cx="450498" cy="180023"/>
          </a:xfrm>
          <a:prstGeom prst="roundRect">
            <a:avLst>
              <a:gd name="adj" fmla="val 31746"/>
            </a:avLst>
          </a:prstGeom>
          <a:solidFill>
            <a:srgbClr val="000000">
              <a:alpha val="8000"/>
            </a:srgbClr>
          </a:solidFill>
          <a:ln/>
        </p:spPr>
        <p:txBody>
          <a:bodyPr wrap="square" rtlCol="0" anchor="ctr"/>
          <a:lstStyle/>
          <a:p>
            <a:pPr indent="0" marL="0">
              <a:buNone/>
            </a:pPr>
            <a:endParaRPr lang="en-US" dirty="0"/>
          </a:p>
        </p:txBody>
      </p:sp>
      <p:sp>
        <p:nvSpPr>
          <p:cNvPr id="27" name="Text 23"/>
          <p:cNvSpPr/>
          <p:nvPr/>
        </p:nvSpPr>
        <p:spPr>
          <a:xfrm>
            <a:off x="4016239" y="3708946"/>
            <a:ext cx="417128" cy="160734"/>
          </a:xfrm>
          <a:prstGeom prst="rect">
            <a:avLst/>
          </a:prstGeom>
          <a:noFill/>
          <a:ln/>
        </p:spPr>
        <p:txBody>
          <a:bodyPr wrap="none" lIns="0" tIns="0" rIns="0" bIns="0" rtlCol="0" anchor="ctr"/>
          <a:lstStyle/>
          <a:p>
            <a:pPr algn="ctr" indent="0" marL="0">
              <a:lnSpc>
                <a:spcPts val="928"/>
              </a:lnSpc>
              <a:buNone/>
            </a:pPr>
            <a:r>
              <a:rPr lang="en-US" sz="800" spc="25" kern="0" dirty="0">
                <a:solidFill>
                  <a:srgbClr val="0A0A0F"/>
                </a:solidFill>
                <a:latin typeface="Courier New" pitchFamily="34" charset="0"/>
                <a:ea typeface="Courier New" pitchFamily="34" charset="-122"/>
                <a:cs typeface="Courier New" pitchFamily="34" charset="-120"/>
              </a:rPr>
              <a:t>Google</a:t>
            </a:r>
            <a:endParaRPr lang="en-US" sz="800" dirty="0"/>
          </a:p>
        </p:txBody>
      </p:sp>
      <p:sp>
        <p:nvSpPr>
          <p:cNvPr id="28" name="Text 24"/>
          <p:cNvSpPr/>
          <p:nvPr/>
        </p:nvSpPr>
        <p:spPr>
          <a:xfrm>
            <a:off x="4940573" y="2550319"/>
            <a:ext cx="4203427"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F2F1F1">
                    <a:alpha val="40000"/>
                  </a:srgbClr>
                </a:solidFill>
                <a:latin typeface="Courier New" pitchFamily="34" charset="0"/>
                <a:ea typeface="Courier New" pitchFamily="34" charset="-122"/>
                <a:cs typeface="Courier New" pitchFamily="34" charset="-120"/>
              </a:rPr>
              <a:t>WHY THIS MATTERS</a:t>
            </a:r>
            <a:endParaRPr lang="en-US" sz="800" dirty="0"/>
          </a:p>
        </p:txBody>
      </p:sp>
      <p:sp>
        <p:nvSpPr>
          <p:cNvPr id="29" name="Text 25"/>
          <p:cNvSpPr/>
          <p:nvPr/>
        </p:nvSpPr>
        <p:spPr>
          <a:xfrm>
            <a:off x="4944145" y="2771775"/>
            <a:ext cx="3738972" cy="546497"/>
          </a:xfrm>
          <a:prstGeom prst="roundRect">
            <a:avLst>
              <a:gd name="adj" fmla="val 20915"/>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0" name="Text 26"/>
          <p:cNvSpPr/>
          <p:nvPr/>
        </p:nvSpPr>
        <p:spPr>
          <a:xfrm>
            <a:off x="5062017" y="2889647"/>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31" name="Text 27"/>
          <p:cNvSpPr/>
          <p:nvPr/>
        </p:nvSpPr>
        <p:spPr>
          <a:xfrm>
            <a:off x="5304904" y="2875359"/>
            <a:ext cx="1414094" cy="172593"/>
          </a:xfrm>
          <a:prstGeom prst="rect">
            <a:avLst/>
          </a:prstGeom>
          <a:noFill/>
          <a:ln/>
        </p:spPr>
        <p:txBody>
          <a:bodyPr wrap="none" lIns="0" tIns="0" rIns="0" bIns="0" rtlCol="0" anchor="t">
            <a:normAutofit/>
          </a:bodyPr>
          <a:lstStyle/>
          <a:p>
            <a:pPr algn="l" indent="0" marL="0">
              <a:lnSpc>
                <a:spcPts val="1350"/>
              </a:lnSpc>
              <a:buNone/>
            </a:pPr>
            <a:r>
              <a:rPr lang="en-US" sz="900" b="1" spc="-9" kern="0" dirty="0">
                <a:solidFill>
                  <a:srgbClr val="F2F1F1"/>
                </a:solidFill>
                <a:latin typeface="Carlito" pitchFamily="34" charset="0"/>
                <a:ea typeface="Carlito" pitchFamily="34" charset="-122"/>
                <a:cs typeface="Carlito" pitchFamily="34" charset="-120"/>
              </a:rPr>
              <a:t>Orchestrated, not chat</a:t>
            </a:r>
            <a:endParaRPr lang="en-US" sz="900" dirty="0"/>
          </a:p>
        </p:txBody>
      </p:sp>
      <p:sp>
        <p:nvSpPr>
          <p:cNvPr id="32" name="Text 28"/>
          <p:cNvSpPr/>
          <p:nvPr/>
        </p:nvSpPr>
        <p:spPr>
          <a:xfrm>
            <a:off x="5304904" y="3075384"/>
            <a:ext cx="1388383" cy="139303"/>
          </a:xfrm>
          <a:prstGeom prst="rect">
            <a:avLst/>
          </a:prstGeom>
          <a:noFill/>
          <a:ln/>
        </p:spPr>
        <p:txBody>
          <a:bodyPr wrap="squar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Agents coordinate as one team</a:t>
            </a:r>
            <a:endParaRPr lang="en-US" sz="800" dirty="0"/>
          </a:p>
        </p:txBody>
      </p:sp>
      <p:sp>
        <p:nvSpPr>
          <p:cNvPr id="33" name="Text 29"/>
          <p:cNvSpPr/>
          <p:nvPr/>
        </p:nvSpPr>
        <p:spPr>
          <a:xfrm>
            <a:off x="4944145" y="3425428"/>
            <a:ext cx="3738972" cy="546497"/>
          </a:xfrm>
          <a:prstGeom prst="roundRect">
            <a:avLst>
              <a:gd name="adj" fmla="val 20915"/>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4" name="Text 30"/>
          <p:cNvSpPr/>
          <p:nvPr/>
        </p:nvSpPr>
        <p:spPr>
          <a:xfrm>
            <a:off x="5062017" y="3543300"/>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35" name="Text 31"/>
          <p:cNvSpPr/>
          <p:nvPr/>
        </p:nvSpPr>
        <p:spPr>
          <a:xfrm>
            <a:off x="5304904" y="3529013"/>
            <a:ext cx="1342866" cy="172593"/>
          </a:xfrm>
          <a:prstGeom prst="rect">
            <a:avLst/>
          </a:prstGeom>
          <a:noFill/>
          <a:ln/>
        </p:spPr>
        <p:txBody>
          <a:bodyPr wrap="none" lIns="0" tIns="0" rIns="0" bIns="0" rtlCol="0" anchor="t">
            <a:normAutofit/>
          </a:bodyPr>
          <a:lstStyle/>
          <a:p>
            <a:pPr algn="l" indent="0" marL="0">
              <a:lnSpc>
                <a:spcPts val="1350"/>
              </a:lnSpc>
              <a:buNone/>
            </a:pPr>
            <a:r>
              <a:rPr lang="en-US" sz="900" b="1" spc="-9" kern="0" dirty="0">
                <a:solidFill>
                  <a:srgbClr val="F2F1F1"/>
                </a:solidFill>
                <a:latin typeface="Carlito" pitchFamily="34" charset="0"/>
                <a:ea typeface="Carlito" pitchFamily="34" charset="-122"/>
                <a:cs typeface="Carlito" pitchFamily="34" charset="-120"/>
              </a:rPr>
              <a:t>Structured workflows</a:t>
            </a:r>
            <a:endParaRPr lang="en-US" sz="900" dirty="0"/>
          </a:p>
        </p:txBody>
      </p:sp>
      <p:sp>
        <p:nvSpPr>
          <p:cNvPr id="36" name="Text 32"/>
          <p:cNvSpPr/>
          <p:nvPr/>
        </p:nvSpPr>
        <p:spPr>
          <a:xfrm>
            <a:off x="5304904" y="3729038"/>
            <a:ext cx="1342866" cy="139303"/>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Evidence, not prose</a:t>
            </a:r>
            <a:endParaRPr lang="en-US" sz="800" dirty="0"/>
          </a:p>
        </p:txBody>
      </p:sp>
      <p:sp>
        <p:nvSpPr>
          <p:cNvPr id="37" name="Text 33"/>
          <p:cNvSpPr/>
          <p:nvPr/>
        </p:nvSpPr>
        <p:spPr>
          <a:xfrm>
            <a:off x="4944145" y="4079081"/>
            <a:ext cx="3738972" cy="546497"/>
          </a:xfrm>
          <a:prstGeom prst="roundRect">
            <a:avLst>
              <a:gd name="adj" fmla="val 20915"/>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8" name="Text 34"/>
          <p:cNvSpPr/>
          <p:nvPr/>
        </p:nvSpPr>
        <p:spPr>
          <a:xfrm>
            <a:off x="5062017" y="4196953"/>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39" name="Text 35"/>
          <p:cNvSpPr/>
          <p:nvPr/>
        </p:nvSpPr>
        <p:spPr>
          <a:xfrm>
            <a:off x="5304904" y="4182666"/>
            <a:ext cx="1446754" cy="172593"/>
          </a:xfrm>
          <a:prstGeom prst="rect">
            <a:avLst/>
          </a:prstGeom>
          <a:noFill/>
          <a:ln/>
        </p:spPr>
        <p:txBody>
          <a:bodyPr wrap="none" lIns="0" tIns="0" rIns="0" bIns="0" rtlCol="0" anchor="t">
            <a:normAutofit/>
          </a:bodyPr>
          <a:lstStyle/>
          <a:p>
            <a:pPr algn="l" indent="0" marL="0">
              <a:lnSpc>
                <a:spcPts val="1350"/>
              </a:lnSpc>
              <a:buNone/>
            </a:pPr>
            <a:r>
              <a:rPr lang="en-US" sz="900" b="1" spc="-9" kern="0" dirty="0">
                <a:solidFill>
                  <a:srgbClr val="F2F1F1"/>
                </a:solidFill>
                <a:latin typeface="Carlito" pitchFamily="34" charset="0"/>
                <a:ea typeface="Carlito" pitchFamily="34" charset="-122"/>
                <a:cs typeface="Carlito" pitchFamily="34" charset="-120"/>
              </a:rPr>
              <a:t>Real business outcomes</a:t>
            </a:r>
            <a:endParaRPr lang="en-US" sz="900" dirty="0"/>
          </a:p>
        </p:txBody>
      </p:sp>
      <p:sp>
        <p:nvSpPr>
          <p:cNvPr id="40" name="Text 36"/>
          <p:cNvSpPr/>
          <p:nvPr/>
        </p:nvSpPr>
        <p:spPr>
          <a:xfrm>
            <a:off x="5304904" y="4382691"/>
            <a:ext cx="1541451" cy="139303"/>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arlito" pitchFamily="34" charset="0"/>
                <a:ea typeface="Carlito" pitchFamily="34" charset="-122"/>
                <a:cs typeface="Carlito" pitchFamily="34" charset="-120"/>
              </a:rPr>
              <a:t>Live URL, not a demo</a:t>
            </a:r>
            <a:endParaRPr lang="en-US" sz="800" dirty="0"/>
          </a:p>
        </p:txBody>
      </p:sp>
      <p:sp>
        <p:nvSpPr>
          <p:cNvPr id="41" name="Text 37"/>
          <p:cNvSpPr/>
          <p:nvPr/>
        </p:nvSpPr>
        <p:spPr>
          <a:xfrm>
            <a:off x="377963" y="2551301"/>
            <a:ext cx="4298948" cy="754380"/>
          </a:xfrm>
          <a:prstGeom prst="roundRect">
            <a:avLst>
              <a:gd name="adj" fmla="val 17677"/>
            </a:avLst>
          </a:prstGeom>
          <a:solidFill>
            <a:srgbClr val="161620">
              <a:alpha val="85000"/>
            </a:srgbClr>
          </a:solidFill>
          <a:ln w="7144">
            <a:solidFill>
              <a:srgbClr val="FFFFFF"/>
            </a:solidFill>
            <a:prstDash val="solid"/>
          </a:ln>
          <a:effectLst>
            <a:outerShdw sx="100000" sy="100000" kx="0" ky="0" algn="bl" rotWithShape="0" blurRad="381000" dist="114300" dir="5400000">
              <a:srgbClr val="12BCFF">
                <a:alpha val="18000"/>
              </a:srgbClr>
            </a:outerShdw>
          </a:effectLst>
        </p:spPr>
        <p:txBody>
          <a:bodyPr wrap="square" rtlCol="0" anchor="ctr"/>
          <a:lstStyle/>
          <a:p>
            <a:pPr indent="0" marL="0">
              <a:buNone/>
            </a:pPr>
            <a:endParaRPr lang="en-US" dirty="0"/>
          </a:p>
        </p:txBody>
      </p:sp>
      <p:pic>
        <p:nvPicPr>
          <p:cNvPr id="42" name="Image 2" descr="preencoded.png">    </p:cNvPr>
          <p:cNvPicPr>
            <a:picLocks noChangeAspect="1"/>
          </p:cNvPicPr>
          <p:nvPr/>
        </p:nvPicPr>
        <p:blipFill>
          <a:blip r:embed="rId3"/>
          <a:stretch>
            <a:fillRect/>
          </a:stretch>
        </p:blipFill>
        <p:spPr>
          <a:xfrm>
            <a:off x="545269" y="2794760"/>
            <a:ext cx="267462" cy="267462"/>
          </a:xfrm>
          <a:prstGeom prst="rect">
            <a:avLst/>
          </a:prstGeom>
        </p:spPr>
      </p:pic>
      <p:sp>
        <p:nvSpPr>
          <p:cNvPr id="43" name="Text 38"/>
          <p:cNvSpPr/>
          <p:nvPr/>
        </p:nvSpPr>
        <p:spPr>
          <a:xfrm>
            <a:off x="916744" y="2688890"/>
            <a:ext cx="1667360" cy="113729"/>
          </a:xfrm>
          <a:prstGeom prst="rect">
            <a:avLst/>
          </a:prstGeom>
          <a:noFill/>
          <a:ln/>
        </p:spPr>
        <p:txBody>
          <a:bodyPr wrap="none" lIns="0" tIns="0" rIns="0" bIns="0" rtlCol="0" anchor="t">
            <a:normAutofit/>
          </a:bodyPr>
          <a:lstStyle/>
          <a:p>
            <a:pPr algn="l" indent="0" marL="0">
              <a:lnSpc>
                <a:spcPts val="844"/>
              </a:lnSpc>
              <a:buNone/>
            </a:pPr>
            <a:r>
              <a:rPr lang="en-US" sz="800" spc="45" kern="0" dirty="0">
                <a:solidFill>
                  <a:srgbClr val="F2F1F1">
                    <a:alpha val="40000"/>
                  </a:srgbClr>
                </a:solidFill>
                <a:latin typeface="Liberation Sans Narrow" pitchFamily="34" charset="0"/>
                <a:ea typeface="Liberation Sans Narrow" pitchFamily="34" charset="-122"/>
                <a:cs typeface="Liberation Sans Narrow" pitchFamily="34" charset="-120"/>
              </a:rPr>
              <a:t>LAYER 02 · CORE</a:t>
            </a:r>
            <a:endParaRPr lang="en-US" sz="800" dirty="0"/>
          </a:p>
        </p:txBody>
      </p:sp>
      <p:sp>
        <p:nvSpPr>
          <p:cNvPr id="44" name="Text 39"/>
          <p:cNvSpPr/>
          <p:nvPr/>
        </p:nvSpPr>
        <p:spPr>
          <a:xfrm>
            <a:off x="916744" y="2830050"/>
            <a:ext cx="1591000" cy="176879"/>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EKAM Execution Layer</a:t>
            </a:r>
            <a:endParaRPr lang="en-US" sz="956" dirty="0"/>
          </a:p>
        </p:txBody>
      </p:sp>
      <p:sp>
        <p:nvSpPr>
          <p:cNvPr id="45" name="Text 40"/>
          <p:cNvSpPr/>
          <p:nvPr/>
        </p:nvSpPr>
        <p:spPr>
          <a:xfrm>
            <a:off x="916744" y="3034361"/>
            <a:ext cx="1466110" cy="139160"/>
          </a:xfrm>
          <a:prstGeom prst="rect">
            <a:avLst/>
          </a:prstGeom>
          <a:noFill/>
          <a:ln/>
        </p:spPr>
        <p:txBody>
          <a:bodyPr wrap="square" lIns="0" tIns="0" rIns="0" bIns="0" rtlCol="0" anchor="t"/>
          <a:lstStyle/>
          <a:p>
            <a:pPr algn="l" indent="0" marL="0">
              <a:lnSpc>
                <a:spcPts val="1013"/>
              </a:lnSpc>
              <a:buNone/>
            </a:pPr>
            <a:r>
              <a:rPr lang="en-US" sz="800" dirty="0">
                <a:solidFill>
                  <a:srgbClr val="F2F1F1">
                    <a:alpha val="60000"/>
                  </a:srgbClr>
                </a:solidFill>
                <a:latin typeface="Carlito" pitchFamily="34" charset="0"/>
                <a:ea typeface="Carlito" pitchFamily="34" charset="-122"/>
                <a:cs typeface="Carlito" pitchFamily="34" charset="-120"/>
              </a:rPr>
              <a:t>Orchestration • workflows • agents</a:t>
            </a:r>
            <a:endParaRPr lang="en-US" sz="800" dirty="0"/>
          </a:p>
        </p:txBody>
      </p:sp>
      <p:sp>
        <p:nvSpPr>
          <p:cNvPr id="46" name="Text 41"/>
          <p:cNvSpPr/>
          <p:nvPr/>
        </p:nvSpPr>
        <p:spPr>
          <a:xfrm>
            <a:off x="4346155" y="2846766"/>
            <a:ext cx="163449" cy="163449"/>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571500" y="-857250"/>
            <a:ext cx="2143125" cy="2143125"/>
          </a:xfrm>
          <a:prstGeom prst="ellipse">
            <a:avLst/>
          </a:prstGeom>
          <a:solidFill>
            <a:srgbClr val="91E500">
              <a:alpha val="6000"/>
            </a:srgbClr>
          </a:solidFill>
          <a:ln/>
        </p:spPr>
        <p:txBody>
          <a:bodyPr wrap="square" rtlCol="0" anchor="ctr"/>
          <a:lstStyle/>
          <a:p>
            <a:pPr indent="0" marL="0">
              <a:buNone/>
            </a:pPr>
            <a:endParaRPr lang="en-US" dirty="0"/>
          </a:p>
        </p:txBody>
      </p:sp>
      <p:sp>
        <p:nvSpPr>
          <p:cNvPr id="3" name="Text 1"/>
          <p:cNvSpPr/>
          <p:nvPr/>
        </p:nvSpPr>
        <p:spPr>
          <a:xfrm>
            <a:off x="7429500" y="3714750"/>
            <a:ext cx="2428875" cy="2428875"/>
          </a:xfrm>
          <a:prstGeom prst="ellipse">
            <a:avLst/>
          </a:prstGeom>
          <a:solidFill>
            <a:srgbClr val="8200DF">
              <a:alpha val="4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09 / 16</a:t>
            </a:r>
            <a:endParaRPr lang="en-US" sz="800" dirty="0"/>
          </a:p>
        </p:txBody>
      </p:sp>
      <p:sp>
        <p:nvSpPr>
          <p:cNvPr id="6" name="Text 4"/>
          <p:cNvSpPr/>
          <p:nvPr/>
        </p:nvSpPr>
        <p:spPr>
          <a:xfrm>
            <a:off x="434340" y="501548"/>
            <a:ext cx="102340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97768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HOW IT WORKS</a:t>
            </a:r>
            <a:endParaRPr lang="en-US" sz="800" dirty="0"/>
          </a:p>
        </p:txBody>
      </p:sp>
      <p:sp>
        <p:nvSpPr>
          <p:cNvPr id="9" name="Text 7"/>
          <p:cNvSpPr/>
          <p:nvPr/>
        </p:nvSpPr>
        <p:spPr>
          <a:xfrm>
            <a:off x="457200" y="832247"/>
            <a:ext cx="8229600"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Built for the public launch moment</a:t>
            </a:r>
            <a:endParaRPr lang="en-US" sz="2025" dirty="0"/>
          </a:p>
        </p:txBody>
      </p:sp>
      <p:sp>
        <p:nvSpPr>
          <p:cNvPr id="10" name="Text 8"/>
          <p:cNvSpPr/>
          <p:nvPr/>
        </p:nvSpPr>
        <p:spPr>
          <a:xfrm>
            <a:off x="460772" y="1461567"/>
            <a:ext cx="1953816" cy="1907381"/>
          </a:xfrm>
          <a:prstGeom prst="roundRect">
            <a:avLst>
              <a:gd name="adj" fmla="val 7990"/>
            </a:avLst>
          </a:prstGeom>
          <a:solidFill>
            <a:srgbClr val="FFFFFF">
              <a:alpha val="2000"/>
            </a:srgbClr>
          </a:solidFill>
          <a:ln w="7144">
            <a:solidFill>
              <a:srgbClr val="91E500"/>
            </a:solidFill>
            <a:prstDash val="solid"/>
          </a:ln>
        </p:spPr>
        <p:txBody>
          <a:bodyPr wrap="square" rtlCol="0" anchor="ctr"/>
          <a:lstStyle/>
          <a:p>
            <a:pPr indent="0" marL="0">
              <a:buNone/>
            </a:pPr>
            <a:endParaRPr lang="en-US" dirty="0"/>
          </a:p>
        </p:txBody>
      </p:sp>
      <p:sp>
        <p:nvSpPr>
          <p:cNvPr id="11" name="Text 9"/>
          <p:cNvSpPr/>
          <p:nvPr/>
        </p:nvSpPr>
        <p:spPr>
          <a:xfrm>
            <a:off x="1625203" y="1107951"/>
            <a:ext cx="1143000" cy="1143000"/>
          </a:xfrm>
          <a:prstGeom prst="ellipse">
            <a:avLst/>
          </a:prstGeom>
          <a:solidFill>
            <a:srgbClr val="91E500">
              <a:alpha val="20000"/>
            </a:srgbClr>
          </a:solidFill>
          <a:ln/>
        </p:spPr>
        <p:txBody>
          <a:bodyPr wrap="square" rtlCol="0" anchor="ctr"/>
          <a:lstStyle/>
          <a:p>
            <a:pPr indent="0" marL="0">
              <a:buNone/>
            </a:pPr>
            <a:endParaRPr lang="en-US" dirty="0"/>
          </a:p>
        </p:txBody>
      </p:sp>
      <p:sp>
        <p:nvSpPr>
          <p:cNvPr id="12" name="Text 10"/>
          <p:cNvSpPr/>
          <p:nvPr/>
        </p:nvSpPr>
        <p:spPr>
          <a:xfrm>
            <a:off x="610791" y="1625873"/>
            <a:ext cx="335756" cy="335756"/>
          </a:xfrm>
          <a:prstGeom prst="roundRect">
            <a:avLst>
              <a:gd name="adj" fmla="val 34043"/>
            </a:avLst>
          </a:prstGeom>
          <a:solidFill>
            <a:srgbClr val="FFFFFF">
              <a:alpha val="3000"/>
            </a:srgbClr>
          </a:solidFill>
          <a:ln w="7144">
            <a:solidFill>
              <a:srgbClr val="91E500"/>
            </a:solidFill>
            <a:prstDash val="solid"/>
          </a:ln>
        </p:spPr>
        <p:txBody>
          <a:bodyPr wrap="square" rtlCol="0" anchor="ctr"/>
          <a:lstStyle/>
          <a:p>
            <a:pPr indent="0" marL="0">
              <a:buNone/>
            </a:pPr>
            <a:endParaRPr lang="en-US" dirty="0"/>
          </a:p>
        </p:txBody>
      </p:sp>
      <p:sp>
        <p:nvSpPr>
          <p:cNvPr id="13" name="Text 11"/>
          <p:cNvSpPr/>
          <p:nvPr/>
        </p:nvSpPr>
        <p:spPr>
          <a:xfrm>
            <a:off x="654368" y="1669450"/>
            <a:ext cx="248602" cy="248602"/>
          </a:xfrm>
          <a:prstGeom prst="rect">
            <a:avLst/>
          </a:prstGeom>
          <a:noFill/>
          <a:ln/>
        </p:spPr>
        <p:txBody>
          <a:bodyPr wrap="none" lIns="0" tIns="0" rIns="0" bIns="0" rtlCol="0" anchor="ctr"/>
          <a:lstStyle/>
          <a:p>
            <a:pPr algn="ctr" indent="0" marL="0">
              <a:buNone/>
            </a:pPr>
            <a:r>
              <a:rPr lang="en-US" sz="1688" dirty="0">
                <a:solidFill>
                  <a:srgbClr val="91E500"/>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1870881"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CFE98A"/>
                </a:solidFill>
                <a:latin typeface="Liberation Sans Narrow" pitchFamily="34" charset="0"/>
                <a:ea typeface="Liberation Sans Narrow" pitchFamily="34" charset="-122"/>
                <a:cs typeface="Liberation Sans Narrow" pitchFamily="34" charset="-120"/>
              </a:rPr>
              <a:t>STEP 01</a:t>
            </a:r>
            <a:endParaRPr lang="en-US" sz="800" dirty="0"/>
          </a:p>
        </p:txBody>
      </p:sp>
      <p:sp>
        <p:nvSpPr>
          <p:cNvPr id="15" name="Text 13"/>
          <p:cNvSpPr/>
          <p:nvPr/>
        </p:nvSpPr>
        <p:spPr>
          <a:xfrm>
            <a:off x="607219"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Describe your project</a:t>
            </a:r>
            <a:endParaRPr lang="en-US" sz="1013" dirty="0"/>
          </a:p>
        </p:txBody>
      </p:sp>
      <p:sp>
        <p:nvSpPr>
          <p:cNvPr id="16" name="Text 14"/>
          <p:cNvSpPr/>
          <p:nvPr/>
        </p:nvSpPr>
        <p:spPr>
          <a:xfrm>
            <a:off x="607219" y="2305199"/>
            <a:ext cx="1660922" cy="340106"/>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Share what you are building, who it is for, and the angle. No coding required.</a:t>
            </a:r>
            <a:endParaRPr lang="en-US" sz="800" dirty="0"/>
          </a:p>
        </p:txBody>
      </p:sp>
      <p:sp>
        <p:nvSpPr>
          <p:cNvPr id="17" name="Text 15"/>
          <p:cNvSpPr/>
          <p:nvPr/>
        </p:nvSpPr>
        <p:spPr>
          <a:xfrm>
            <a:off x="2550319" y="1461567"/>
            <a:ext cx="1953816" cy="1907381"/>
          </a:xfrm>
          <a:prstGeom prst="roundRect">
            <a:avLst>
              <a:gd name="adj" fmla="val 7990"/>
            </a:avLst>
          </a:prstGeom>
          <a:solidFill>
            <a:srgbClr val="FFFFFF">
              <a:alpha val="2000"/>
            </a:srgbClr>
          </a:solidFill>
          <a:ln w="7144">
            <a:solidFill>
              <a:srgbClr val="12BCFF"/>
            </a:solidFill>
            <a:prstDash val="solid"/>
          </a:ln>
        </p:spPr>
        <p:txBody>
          <a:bodyPr wrap="square" rtlCol="0" anchor="ctr"/>
          <a:lstStyle/>
          <a:p>
            <a:pPr indent="0" marL="0">
              <a:buNone/>
            </a:pPr>
            <a:endParaRPr lang="en-US" dirty="0"/>
          </a:p>
        </p:txBody>
      </p:sp>
      <p:sp>
        <p:nvSpPr>
          <p:cNvPr id="18" name="Text 16"/>
          <p:cNvSpPr/>
          <p:nvPr/>
        </p:nvSpPr>
        <p:spPr>
          <a:xfrm>
            <a:off x="3714750" y="1107951"/>
            <a:ext cx="1143000" cy="1143000"/>
          </a:xfrm>
          <a:prstGeom prst="ellipse">
            <a:avLst/>
          </a:prstGeom>
          <a:solidFill>
            <a:srgbClr val="12BCFF">
              <a:alpha val="20000"/>
            </a:srgbClr>
          </a:solidFill>
          <a:ln/>
        </p:spPr>
        <p:txBody>
          <a:bodyPr wrap="square" rtlCol="0" anchor="ctr"/>
          <a:lstStyle/>
          <a:p>
            <a:pPr indent="0" marL="0">
              <a:buNone/>
            </a:pPr>
            <a:endParaRPr lang="en-US" dirty="0"/>
          </a:p>
        </p:txBody>
      </p:sp>
      <p:sp>
        <p:nvSpPr>
          <p:cNvPr id="19" name="Text 17"/>
          <p:cNvSpPr/>
          <p:nvPr/>
        </p:nvSpPr>
        <p:spPr>
          <a:xfrm>
            <a:off x="2700338" y="1625873"/>
            <a:ext cx="335756" cy="335756"/>
          </a:xfrm>
          <a:prstGeom prst="roundRect">
            <a:avLst>
              <a:gd name="adj" fmla="val 34043"/>
            </a:avLst>
          </a:prstGeom>
          <a:solidFill>
            <a:srgbClr val="FFFFFF">
              <a:alpha val="3000"/>
            </a:srgbClr>
          </a:solidFill>
          <a:ln w="7144">
            <a:solidFill>
              <a:srgbClr val="12BCFF"/>
            </a:solidFill>
            <a:prstDash val="solid"/>
          </a:ln>
        </p:spPr>
        <p:txBody>
          <a:bodyPr wrap="square" rtlCol="0" anchor="ctr"/>
          <a:lstStyle/>
          <a:p>
            <a:pPr indent="0" marL="0">
              <a:buNone/>
            </a:pPr>
            <a:endParaRPr lang="en-US" dirty="0"/>
          </a:p>
        </p:txBody>
      </p:sp>
      <p:sp>
        <p:nvSpPr>
          <p:cNvPr id="20" name="Text 18"/>
          <p:cNvSpPr/>
          <p:nvPr/>
        </p:nvSpPr>
        <p:spPr>
          <a:xfrm>
            <a:off x="2743914" y="1669450"/>
            <a:ext cx="248602" cy="248602"/>
          </a:xfrm>
          <a:prstGeom prst="rect">
            <a:avLst/>
          </a:prstGeom>
          <a:noFill/>
          <a:ln/>
        </p:spPr>
        <p:txBody>
          <a:bodyPr wrap="none" lIns="0" tIns="0" rIns="0" bIns="0" rtlCol="0" anchor="ctr"/>
          <a:lstStyle/>
          <a:p>
            <a:pPr algn="ctr" indent="0" marL="0">
              <a:buNone/>
            </a:pPr>
            <a:r>
              <a:rPr lang="en-US" sz="1688" dirty="0">
                <a:solidFill>
                  <a:srgbClr val="12BCFF"/>
                </a:solidFill>
                <a:latin typeface="Segoe UI Symbol" pitchFamily="34" charset="0"/>
                <a:ea typeface="Segoe UI Symbol" pitchFamily="34" charset="-122"/>
                <a:cs typeface="Segoe UI Symbol" pitchFamily="34" charset="-120"/>
              </a:rPr>
              <a:t>↑</a:t>
            </a:r>
            <a:endParaRPr lang="en-US" sz="1688" dirty="0"/>
          </a:p>
        </p:txBody>
      </p:sp>
      <p:sp>
        <p:nvSpPr>
          <p:cNvPr id="21" name="Text 19"/>
          <p:cNvSpPr/>
          <p:nvPr/>
        </p:nvSpPr>
        <p:spPr>
          <a:xfrm>
            <a:off x="3960428"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9FDCFF"/>
                </a:solidFill>
                <a:latin typeface="Liberation Sans Narrow" pitchFamily="34" charset="0"/>
                <a:ea typeface="Liberation Sans Narrow" pitchFamily="34" charset="-122"/>
                <a:cs typeface="Liberation Sans Narrow" pitchFamily="34" charset="-120"/>
              </a:rPr>
              <a:t>STEP 02</a:t>
            </a:r>
            <a:endParaRPr lang="en-US" sz="800" dirty="0"/>
          </a:p>
        </p:txBody>
      </p:sp>
      <p:sp>
        <p:nvSpPr>
          <p:cNvPr id="22" name="Text 20"/>
          <p:cNvSpPr/>
          <p:nvPr/>
        </p:nvSpPr>
        <p:spPr>
          <a:xfrm>
            <a:off x="2696766"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Add references &amp; assets</a:t>
            </a:r>
            <a:endParaRPr lang="en-US" sz="1013" dirty="0"/>
          </a:p>
        </p:txBody>
      </p:sp>
      <p:sp>
        <p:nvSpPr>
          <p:cNvPr id="23" name="Text 21"/>
          <p:cNvSpPr/>
          <p:nvPr/>
        </p:nvSpPr>
        <p:spPr>
          <a:xfrm>
            <a:off x="2696766" y="2305199"/>
            <a:ext cx="1660922" cy="340106"/>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Drop in screenshots, brand colors, or Figma links. Agents match your vision.</a:t>
            </a:r>
            <a:endParaRPr lang="en-US" sz="800" dirty="0"/>
          </a:p>
        </p:txBody>
      </p:sp>
      <p:sp>
        <p:nvSpPr>
          <p:cNvPr id="24" name="Text 22"/>
          <p:cNvSpPr/>
          <p:nvPr/>
        </p:nvSpPr>
        <p:spPr>
          <a:xfrm>
            <a:off x="4639866" y="1461567"/>
            <a:ext cx="1953816" cy="1907381"/>
          </a:xfrm>
          <a:prstGeom prst="roundRect">
            <a:avLst>
              <a:gd name="adj" fmla="val 7990"/>
            </a:avLst>
          </a:prstGeom>
          <a:solidFill>
            <a:srgbClr val="FFFFFF">
              <a:alpha val="2000"/>
            </a:srgbClr>
          </a:solidFill>
          <a:ln w="7144">
            <a:solidFill>
              <a:srgbClr val="2F44FF"/>
            </a:solidFill>
            <a:prstDash val="solid"/>
          </a:ln>
        </p:spPr>
        <p:txBody>
          <a:bodyPr wrap="square" rtlCol="0" anchor="ctr"/>
          <a:lstStyle/>
          <a:p>
            <a:pPr indent="0" marL="0">
              <a:buNone/>
            </a:pPr>
            <a:endParaRPr lang="en-US" dirty="0"/>
          </a:p>
        </p:txBody>
      </p:sp>
      <p:sp>
        <p:nvSpPr>
          <p:cNvPr id="25" name="Text 23"/>
          <p:cNvSpPr/>
          <p:nvPr/>
        </p:nvSpPr>
        <p:spPr>
          <a:xfrm>
            <a:off x="5804297" y="1107951"/>
            <a:ext cx="1143000" cy="1143000"/>
          </a:xfrm>
          <a:prstGeom prst="ellipse">
            <a:avLst/>
          </a:prstGeom>
          <a:solidFill>
            <a:srgbClr val="2F44FF">
              <a:alpha val="22000"/>
            </a:srgbClr>
          </a:solidFill>
          <a:ln/>
        </p:spPr>
        <p:txBody>
          <a:bodyPr wrap="square" rtlCol="0" anchor="ctr"/>
          <a:lstStyle/>
          <a:p>
            <a:pPr indent="0" marL="0">
              <a:buNone/>
            </a:pPr>
            <a:endParaRPr lang="en-US" dirty="0"/>
          </a:p>
        </p:txBody>
      </p:sp>
      <p:sp>
        <p:nvSpPr>
          <p:cNvPr id="26" name="Text 24"/>
          <p:cNvSpPr/>
          <p:nvPr/>
        </p:nvSpPr>
        <p:spPr>
          <a:xfrm>
            <a:off x="4789884" y="1625873"/>
            <a:ext cx="335756" cy="335756"/>
          </a:xfrm>
          <a:prstGeom prst="roundRect">
            <a:avLst>
              <a:gd name="adj" fmla="val 34043"/>
            </a:avLst>
          </a:prstGeom>
          <a:solidFill>
            <a:srgbClr val="FFFFFF">
              <a:alpha val="3000"/>
            </a:srgbClr>
          </a:solidFill>
          <a:ln w="7144">
            <a:solidFill>
              <a:srgbClr val="2F44FF"/>
            </a:solidFill>
            <a:prstDash val="solid"/>
          </a:ln>
        </p:spPr>
        <p:txBody>
          <a:bodyPr wrap="square" rtlCol="0" anchor="ctr"/>
          <a:lstStyle/>
          <a:p>
            <a:pPr indent="0" marL="0">
              <a:buNone/>
            </a:pPr>
            <a:endParaRPr lang="en-US" dirty="0"/>
          </a:p>
        </p:txBody>
      </p:sp>
      <p:sp>
        <p:nvSpPr>
          <p:cNvPr id="27" name="Text 25"/>
          <p:cNvSpPr/>
          <p:nvPr/>
        </p:nvSpPr>
        <p:spPr>
          <a:xfrm>
            <a:off x="4833461" y="1669450"/>
            <a:ext cx="248602" cy="248602"/>
          </a:xfrm>
          <a:prstGeom prst="rect">
            <a:avLst/>
          </a:prstGeom>
          <a:noFill/>
          <a:ln/>
        </p:spPr>
        <p:txBody>
          <a:bodyPr wrap="none" lIns="0" tIns="0" rIns="0" bIns="0" rtlCol="0" anchor="ctr"/>
          <a:lstStyle/>
          <a:p>
            <a:pPr algn="ctr" indent="0" marL="0">
              <a:buNone/>
            </a:pPr>
            <a:r>
              <a:rPr lang="en-US" sz="1688" dirty="0">
                <a:solidFill>
                  <a:srgbClr val="2F44FF"/>
                </a:solidFill>
                <a:latin typeface="Segoe UI Symbol" pitchFamily="34" charset="0"/>
                <a:ea typeface="Segoe UI Symbol" pitchFamily="34" charset="-122"/>
                <a:cs typeface="Segoe UI Symbol" pitchFamily="34" charset="-120"/>
              </a:rPr>
              <a:t>⛨</a:t>
            </a:r>
            <a:endParaRPr lang="en-US" sz="1688" dirty="0"/>
          </a:p>
        </p:txBody>
      </p:sp>
      <p:sp>
        <p:nvSpPr>
          <p:cNvPr id="28" name="Text 26"/>
          <p:cNvSpPr/>
          <p:nvPr/>
        </p:nvSpPr>
        <p:spPr>
          <a:xfrm>
            <a:off x="6049975"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9FB0FF"/>
                </a:solidFill>
                <a:latin typeface="Liberation Sans Narrow" pitchFamily="34" charset="0"/>
                <a:ea typeface="Liberation Sans Narrow" pitchFamily="34" charset="-122"/>
                <a:cs typeface="Liberation Sans Narrow" pitchFamily="34" charset="-120"/>
              </a:rPr>
              <a:t>STEP 03</a:t>
            </a:r>
            <a:endParaRPr lang="en-US" sz="800" dirty="0"/>
          </a:p>
        </p:txBody>
      </p:sp>
      <p:sp>
        <p:nvSpPr>
          <p:cNvPr id="29" name="Text 27"/>
          <p:cNvSpPr/>
          <p:nvPr/>
        </p:nvSpPr>
        <p:spPr>
          <a:xfrm>
            <a:off x="4786313"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Pair launch &amp; security</a:t>
            </a:r>
            <a:endParaRPr lang="en-US" sz="1013" dirty="0"/>
          </a:p>
        </p:txBody>
      </p:sp>
      <p:sp>
        <p:nvSpPr>
          <p:cNvPr id="30" name="Text 28"/>
          <p:cNvSpPr/>
          <p:nvPr/>
        </p:nvSpPr>
        <p:spPr>
          <a:xfrm>
            <a:off x="4786313" y="2305199"/>
            <a:ext cx="1660922" cy="510159"/>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Create the page, iterate, then run a pre-launch scan — without leaving EKAM AI.</a:t>
            </a:r>
            <a:endParaRPr lang="en-US" sz="800" dirty="0"/>
          </a:p>
        </p:txBody>
      </p:sp>
      <p:sp>
        <p:nvSpPr>
          <p:cNvPr id="31" name="Text 29"/>
          <p:cNvSpPr/>
          <p:nvPr/>
        </p:nvSpPr>
        <p:spPr>
          <a:xfrm>
            <a:off x="6729413" y="1461567"/>
            <a:ext cx="1953816" cy="1907381"/>
          </a:xfrm>
          <a:prstGeom prst="roundRect">
            <a:avLst>
              <a:gd name="adj" fmla="val 7990"/>
            </a:avLst>
          </a:prstGeom>
          <a:solidFill>
            <a:srgbClr val="FFFFFF">
              <a:alpha val="2000"/>
            </a:srgbClr>
          </a:solidFill>
          <a:ln w="7144">
            <a:solidFill>
              <a:srgbClr val="8200DF"/>
            </a:solidFill>
            <a:prstDash val="solid"/>
          </a:ln>
        </p:spPr>
        <p:txBody>
          <a:bodyPr wrap="square" rtlCol="0" anchor="ctr"/>
          <a:lstStyle/>
          <a:p>
            <a:pPr indent="0" marL="0">
              <a:buNone/>
            </a:pPr>
            <a:endParaRPr lang="en-US" dirty="0"/>
          </a:p>
        </p:txBody>
      </p:sp>
      <p:sp>
        <p:nvSpPr>
          <p:cNvPr id="32" name="Text 30"/>
          <p:cNvSpPr/>
          <p:nvPr/>
        </p:nvSpPr>
        <p:spPr>
          <a:xfrm>
            <a:off x="7893844" y="1107951"/>
            <a:ext cx="1143000" cy="1143000"/>
          </a:xfrm>
          <a:prstGeom prst="ellipse">
            <a:avLst/>
          </a:prstGeom>
          <a:solidFill>
            <a:srgbClr val="8200DF">
              <a:alpha val="22000"/>
            </a:srgbClr>
          </a:solidFill>
          <a:ln/>
        </p:spPr>
        <p:txBody>
          <a:bodyPr wrap="square" rtlCol="0" anchor="ctr"/>
          <a:lstStyle/>
          <a:p>
            <a:pPr indent="0" marL="0">
              <a:buNone/>
            </a:pPr>
            <a:endParaRPr lang="en-US" dirty="0"/>
          </a:p>
        </p:txBody>
      </p:sp>
      <p:sp>
        <p:nvSpPr>
          <p:cNvPr id="33" name="Text 31"/>
          <p:cNvSpPr/>
          <p:nvPr/>
        </p:nvSpPr>
        <p:spPr>
          <a:xfrm>
            <a:off x="6879431" y="1625873"/>
            <a:ext cx="335756" cy="335756"/>
          </a:xfrm>
          <a:prstGeom prst="roundRect">
            <a:avLst>
              <a:gd name="adj" fmla="val 34043"/>
            </a:avLst>
          </a:prstGeom>
          <a:solidFill>
            <a:srgbClr val="FFFFFF">
              <a:alpha val="3000"/>
            </a:srgbClr>
          </a:solidFill>
          <a:ln w="7144">
            <a:solidFill>
              <a:srgbClr val="8200DF"/>
            </a:solidFill>
            <a:prstDash val="solid"/>
          </a:ln>
        </p:spPr>
        <p:txBody>
          <a:bodyPr wrap="square" rtlCol="0" anchor="ctr"/>
          <a:lstStyle/>
          <a:p>
            <a:pPr indent="0" marL="0">
              <a:buNone/>
            </a:pPr>
            <a:endParaRPr lang="en-US" dirty="0"/>
          </a:p>
        </p:txBody>
      </p:sp>
      <p:sp>
        <p:nvSpPr>
          <p:cNvPr id="34" name="Text 32"/>
          <p:cNvSpPr/>
          <p:nvPr/>
        </p:nvSpPr>
        <p:spPr>
          <a:xfrm>
            <a:off x="6923008" y="1669450"/>
            <a:ext cx="248602" cy="248602"/>
          </a:xfrm>
          <a:prstGeom prst="rect">
            <a:avLst/>
          </a:prstGeom>
          <a:noFill/>
          <a:ln/>
        </p:spPr>
        <p:txBody>
          <a:bodyPr wrap="none" lIns="0" tIns="0" rIns="0" bIns="0" rtlCol="0" anchor="ctr"/>
          <a:lstStyle/>
          <a:p>
            <a:pPr algn="ctr" indent="0" marL="0">
              <a:buNone/>
            </a:pPr>
            <a:r>
              <a:rPr lang="en-US" sz="1688" dirty="0">
                <a:solidFill>
                  <a:srgbClr val="8200DF"/>
                </a:solidFill>
                <a:latin typeface="Segoe UI Symbol" pitchFamily="34" charset="0"/>
                <a:ea typeface="Segoe UI Symbol" pitchFamily="34" charset="-122"/>
                <a:cs typeface="Segoe UI Symbol" pitchFamily="34" charset="-120"/>
              </a:rPr>
              <a:t>➤</a:t>
            </a:r>
            <a:endParaRPr lang="en-US" sz="1688" dirty="0"/>
          </a:p>
        </p:txBody>
      </p:sp>
      <p:sp>
        <p:nvSpPr>
          <p:cNvPr id="35" name="Text 33"/>
          <p:cNvSpPr/>
          <p:nvPr/>
        </p:nvSpPr>
        <p:spPr>
          <a:xfrm>
            <a:off x="8139522" y="1734815"/>
            <a:ext cx="397259" cy="164592"/>
          </a:xfrm>
          <a:prstGeom prst="rect">
            <a:avLst/>
          </a:prstGeom>
          <a:noFill/>
          <a:ln/>
        </p:spPr>
        <p:txBody>
          <a:bodyPr wrap="none" lIns="0" tIns="0" rIns="0" bIns="0" rtlCol="0" anchor="t"/>
          <a:lstStyle/>
          <a:p>
            <a:pPr algn="l" indent="0" marL="0">
              <a:lnSpc>
                <a:spcPts val="928"/>
              </a:lnSpc>
              <a:buNone/>
            </a:pPr>
            <a:r>
              <a:rPr lang="en-US" sz="800" spc="74" kern="0" dirty="0">
                <a:solidFill>
                  <a:srgbClr val="C79BFF"/>
                </a:solidFill>
                <a:latin typeface="Liberation Sans Narrow" pitchFamily="34" charset="0"/>
                <a:ea typeface="Liberation Sans Narrow" pitchFamily="34" charset="-122"/>
                <a:cs typeface="Liberation Sans Narrow" pitchFamily="34" charset="-120"/>
              </a:rPr>
              <a:t>STEP 04</a:t>
            </a:r>
            <a:endParaRPr lang="en-US" sz="800" dirty="0"/>
          </a:p>
        </p:txBody>
      </p:sp>
      <p:sp>
        <p:nvSpPr>
          <p:cNvPr id="36" name="Text 34"/>
          <p:cNvSpPr/>
          <p:nvPr/>
        </p:nvSpPr>
        <p:spPr>
          <a:xfrm>
            <a:off x="6875859" y="2093788"/>
            <a:ext cx="1660922" cy="166601"/>
          </a:xfrm>
          <a:prstGeom prst="rect">
            <a:avLst/>
          </a:prstGeom>
          <a:noFill/>
          <a:ln/>
        </p:spPr>
        <p:txBody>
          <a:bodyPr wrap="none" lIns="0" tIns="0" rIns="0" bIns="0" rtlCol="0" anchor="t"/>
          <a:lstStyle/>
          <a:p>
            <a:pPr algn="l" indent="0" marL="0">
              <a:lnSpc>
                <a:spcPts val="1215"/>
              </a:lnSpc>
              <a:buNone/>
            </a:pPr>
            <a:r>
              <a:rPr lang="en-US" sz="1013" b="1" spc="-10" kern="0" dirty="0">
                <a:solidFill>
                  <a:srgbClr val="F2F1F1"/>
                </a:solidFill>
                <a:latin typeface="Carlito" pitchFamily="34" charset="0"/>
                <a:ea typeface="Carlito" pitchFamily="34" charset="-122"/>
                <a:cs typeface="Carlito" pitchFamily="34" charset="-120"/>
              </a:rPr>
              <a:t>Go live with one click</a:t>
            </a:r>
            <a:endParaRPr lang="en-US" sz="1013" dirty="0"/>
          </a:p>
        </p:txBody>
      </p:sp>
      <p:sp>
        <p:nvSpPr>
          <p:cNvPr id="37" name="Text 35"/>
          <p:cNvSpPr/>
          <p:nvPr/>
        </p:nvSpPr>
        <p:spPr>
          <a:xfrm>
            <a:off x="6875859" y="2305199"/>
            <a:ext cx="1660922" cy="340106"/>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Publish, redeploy edits, and hand the live URL to Pentest. Hosting included.</a:t>
            </a:r>
            <a:endParaRPr lang="en-US" sz="800" dirty="0"/>
          </a:p>
        </p:txBody>
      </p:sp>
      <p:pic>
        <p:nvPicPr>
          <p:cNvPr id="38" name="Image 0" descr="preencoded.png">    </p:cNvPr>
          <p:cNvPicPr>
            <a:picLocks noChangeAspect="1"/>
          </p:cNvPicPr>
          <p:nvPr/>
        </p:nvPicPr>
        <p:blipFill>
          <a:blip r:embed="rId1"/>
          <a:stretch>
            <a:fillRect/>
          </a:stretch>
        </p:blipFill>
        <p:spPr>
          <a:xfrm>
            <a:off x="457200" y="3629695"/>
            <a:ext cx="8229600" cy="21431"/>
          </a:xfrm>
          <a:prstGeom prst="rect">
            <a:avLst/>
          </a:prstGeom>
        </p:spPr>
      </p:pic>
      <p:sp>
        <p:nvSpPr>
          <p:cNvPr id="39" name="Text 36"/>
          <p:cNvSpPr/>
          <p:nvPr/>
        </p:nvSpPr>
        <p:spPr>
          <a:xfrm>
            <a:off x="3147603" y="3783285"/>
            <a:ext cx="2848682" cy="271463"/>
          </a:xfrm>
          <a:prstGeom prst="roundRect">
            <a:avLst>
              <a:gd name="adj" fmla="val 35084146"/>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0" name="Text 37"/>
          <p:cNvSpPr/>
          <p:nvPr/>
        </p:nvSpPr>
        <p:spPr>
          <a:xfrm>
            <a:off x="3265475" y="3869010"/>
            <a:ext cx="100013" cy="100013"/>
          </a:xfrm>
          <a:prstGeom prst="rect">
            <a:avLst/>
          </a:prstGeom>
          <a:noFill/>
          <a:ln/>
        </p:spPr>
        <p:txBody>
          <a:bodyPr wrap="none" lIns="0" tIns="0" rIns="0" bIns="0" rtlCol="0" anchor="ctr"/>
          <a:lstStyle/>
          <a:p>
            <a:pPr algn="ctr" indent="0" marL="0">
              <a:buNone/>
            </a:pPr>
            <a:r>
              <a:rPr lang="en-US" sz="984" dirty="0">
                <a:solidFill>
                  <a:srgbClr val="F2F1F1"/>
                </a:solidFill>
                <a:latin typeface="Segoe UI Symbol" pitchFamily="34" charset="0"/>
                <a:ea typeface="Segoe UI Symbol" pitchFamily="34" charset="-122"/>
                <a:cs typeface="Segoe UI Symbol" pitchFamily="34" charset="-120"/>
              </a:rPr>
              <a:t>▶</a:t>
            </a:r>
            <a:endParaRPr lang="en-US" sz="984" dirty="0"/>
          </a:p>
        </p:txBody>
      </p:sp>
      <p:sp>
        <p:nvSpPr>
          <p:cNvPr id="41" name="Text 38"/>
          <p:cNvSpPr/>
          <p:nvPr/>
        </p:nvSpPr>
        <p:spPr>
          <a:xfrm>
            <a:off x="3422638" y="3844007"/>
            <a:ext cx="2565504" cy="150019"/>
          </a:xfrm>
          <a:prstGeom prst="rect">
            <a:avLst/>
          </a:prstGeom>
          <a:noFill/>
          <a:ln/>
        </p:spPr>
        <p:txBody>
          <a:bodyPr wrap="square" lIns="0" tIns="0" rIns="0" bIns="0" rtlCol="0" anchor="t"/>
          <a:lstStyle/>
          <a:p>
            <a:pPr algn="l" indent="0" marL="0">
              <a:lnSpc>
                <a:spcPts val="1181"/>
              </a:lnSpc>
              <a:buNone/>
            </a:pPr>
            <a:r>
              <a:rPr lang="en-US" sz="800" spc="63" kern="0" dirty="0">
                <a:solidFill>
                  <a:srgbClr val="2F44FF"/>
                </a:solidFill>
                <a:latin typeface="Courier New" pitchFamily="34" charset="0"/>
                <a:ea typeface="Courier New" pitchFamily="34" charset="-122"/>
                <a:cs typeface="Courier New" pitchFamily="34" charset="-120"/>
              </a:rPr>
              <a:t>plan → code → deploy → scan → launch</a:t>
            </a:r>
            <a:endParaRPr lang="en-US" sz="800" dirty="0"/>
          </a:p>
        </p:txBody>
      </p:sp>
      <p:pic>
        <p:nvPicPr>
          <p:cNvPr id="42" name="Image 1" descr="preencoded.png">    </p:cNvPr>
          <p:cNvPicPr>
            <a:picLocks noChangeAspect="1"/>
          </p:cNvPicPr>
          <p:nvPr/>
        </p:nvPicPr>
        <p:blipFill>
          <a:blip r:embed="rId2"/>
          <a:stretch>
            <a:fillRect/>
          </a:stretch>
        </p:blipFill>
        <p:spPr>
          <a:xfrm>
            <a:off x="457200" y="1329407"/>
            <a:ext cx="8229600" cy="14288"/>
          </a:xfrm>
          <a:prstGeom prst="rect">
            <a:avLst/>
          </a:prstGeom>
        </p:spPr>
      </p:pic>
      <p:sp>
        <p:nvSpPr>
          <p:cNvPr id="43" name="Text 39"/>
          <p:cNvSpPr/>
          <p:nvPr/>
        </p:nvSpPr>
        <p:spPr>
          <a:xfrm>
            <a:off x="642938" y="1422276"/>
            <a:ext cx="85725" cy="85725"/>
          </a:xfrm>
          <a:prstGeom prst="ellipse">
            <a:avLst/>
          </a:prstGeom>
          <a:solidFill>
            <a:srgbClr val="91E500"/>
          </a:solidFill>
          <a:ln w="14288">
            <a:solidFill>
              <a:srgbClr val="0A0A0F"/>
            </a:solidFill>
            <a:prstDash val="solid"/>
          </a:ln>
        </p:spPr>
        <p:txBody>
          <a:bodyPr wrap="square" rtlCol="0" anchor="ctr"/>
          <a:lstStyle/>
          <a:p>
            <a:pPr indent="0" marL="0">
              <a:buNone/>
            </a:pPr>
            <a:endParaRPr lang="en-US" dirty="0"/>
          </a:p>
        </p:txBody>
      </p:sp>
      <p:sp>
        <p:nvSpPr>
          <p:cNvPr id="44" name="Text 40"/>
          <p:cNvSpPr/>
          <p:nvPr/>
        </p:nvSpPr>
        <p:spPr>
          <a:xfrm>
            <a:off x="2732484" y="1422276"/>
            <a:ext cx="85725" cy="85725"/>
          </a:xfrm>
          <a:prstGeom prst="ellipse">
            <a:avLst/>
          </a:prstGeom>
          <a:solidFill>
            <a:srgbClr val="12BCFF"/>
          </a:solidFill>
          <a:ln w="14288">
            <a:solidFill>
              <a:srgbClr val="0A0A0F"/>
            </a:solidFill>
            <a:prstDash val="solid"/>
          </a:ln>
        </p:spPr>
        <p:txBody>
          <a:bodyPr wrap="square" rtlCol="0" anchor="ctr"/>
          <a:lstStyle/>
          <a:p>
            <a:pPr indent="0" marL="0">
              <a:buNone/>
            </a:pPr>
            <a:endParaRPr lang="en-US" dirty="0"/>
          </a:p>
        </p:txBody>
      </p:sp>
      <p:sp>
        <p:nvSpPr>
          <p:cNvPr id="45" name="Text 41"/>
          <p:cNvSpPr/>
          <p:nvPr/>
        </p:nvSpPr>
        <p:spPr>
          <a:xfrm>
            <a:off x="4822031" y="1422276"/>
            <a:ext cx="85725" cy="85725"/>
          </a:xfrm>
          <a:prstGeom prst="ellipse">
            <a:avLst/>
          </a:prstGeom>
          <a:solidFill>
            <a:srgbClr val="2F44FF"/>
          </a:solidFill>
          <a:ln w="14288">
            <a:solidFill>
              <a:srgbClr val="0A0A0F"/>
            </a:solidFill>
            <a:prstDash val="solid"/>
          </a:ln>
        </p:spPr>
        <p:txBody>
          <a:bodyPr wrap="square" rtlCol="0" anchor="ctr"/>
          <a:lstStyle/>
          <a:p>
            <a:pPr indent="0" marL="0">
              <a:buNone/>
            </a:pPr>
            <a:endParaRPr lang="en-US" dirty="0"/>
          </a:p>
        </p:txBody>
      </p:sp>
      <p:sp>
        <p:nvSpPr>
          <p:cNvPr id="46" name="Text 42"/>
          <p:cNvSpPr/>
          <p:nvPr/>
        </p:nvSpPr>
        <p:spPr>
          <a:xfrm>
            <a:off x="6911578" y="1422276"/>
            <a:ext cx="85725" cy="85725"/>
          </a:xfrm>
          <a:prstGeom prst="ellipse">
            <a:avLst/>
          </a:prstGeom>
          <a:solidFill>
            <a:srgbClr val="8200DF"/>
          </a:solidFill>
          <a:ln w="14288">
            <a:solidFill>
              <a:srgbClr val="0A0A0F"/>
            </a:solidFill>
            <a:prstDash val="solid"/>
          </a:ln>
        </p:spPr>
        <p:txBody>
          <a:bodyPr wrap="square" rtlCol="0" anchor="ctr"/>
          <a:lstStyle/>
          <a:p>
            <a:pPr indent="0" marL="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714375" y="-1000125"/>
            <a:ext cx="2428875" cy="2428875"/>
          </a:xfrm>
          <a:prstGeom prst="ellipse">
            <a:avLst/>
          </a:prstGeom>
          <a:solidFill>
            <a:srgbClr val="91E500">
              <a:alpha val="6000"/>
            </a:srgbClr>
          </a:solidFill>
          <a:ln/>
        </p:spPr>
        <p:txBody>
          <a:bodyPr wrap="square" rtlCol="0" anchor="ctr"/>
          <a:lstStyle/>
          <a:p>
            <a:pPr indent="0" marL="0">
              <a:buNone/>
            </a:pPr>
            <a:endParaRPr lang="en-US" dirty="0"/>
          </a:p>
        </p:txBody>
      </p:sp>
      <p:sp>
        <p:nvSpPr>
          <p:cNvPr id="3" name="Text 1"/>
          <p:cNvSpPr/>
          <p:nvPr/>
        </p:nvSpPr>
        <p:spPr>
          <a:xfrm>
            <a:off x="7429500" y="3714750"/>
            <a:ext cx="2428875" cy="2428875"/>
          </a:xfrm>
          <a:prstGeom prst="ellipse">
            <a:avLst/>
          </a:prstGeom>
          <a:solidFill>
            <a:srgbClr val="8200DF">
              <a:alpha val="4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10 / 16</a:t>
            </a:r>
            <a:endParaRPr lang="en-US" sz="800" dirty="0"/>
          </a:p>
        </p:txBody>
      </p:sp>
      <p:sp>
        <p:nvSpPr>
          <p:cNvPr id="6" name="Text 4"/>
          <p:cNvSpPr/>
          <p:nvPr/>
        </p:nvSpPr>
        <p:spPr>
          <a:xfrm>
            <a:off x="434340" y="501548"/>
            <a:ext cx="80373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75801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TRACTION</a:t>
            </a:r>
            <a:endParaRPr lang="en-US" sz="800" dirty="0"/>
          </a:p>
        </p:txBody>
      </p:sp>
      <p:sp>
        <p:nvSpPr>
          <p:cNvPr id="9" name="Text 7"/>
          <p:cNvSpPr/>
          <p:nvPr/>
        </p:nvSpPr>
        <p:spPr>
          <a:xfrm>
            <a:off x="457200" y="832247"/>
            <a:ext cx="2538364" cy="305476"/>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Numbers that matter</a:t>
            </a:r>
            <a:endParaRPr lang="en-US" sz="2025" dirty="0"/>
          </a:p>
        </p:txBody>
      </p:sp>
      <p:sp>
        <p:nvSpPr>
          <p:cNvPr id="10" name="Text 8"/>
          <p:cNvSpPr/>
          <p:nvPr/>
        </p:nvSpPr>
        <p:spPr>
          <a:xfrm>
            <a:off x="7583425" y="997223"/>
            <a:ext cx="1378494"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F2F1F1">
                    <a:alpha val="40000"/>
                  </a:srgbClr>
                </a:solidFill>
                <a:latin typeface="Courier New" pitchFamily="34" charset="0"/>
                <a:ea typeface="Courier New" pitchFamily="34" charset="-122"/>
                <a:cs typeface="Courier New" pitchFamily="34" charset="-120"/>
              </a:rPr>
              <a:t>LIVE · UPDATED DAILY</a:t>
            </a:r>
            <a:endParaRPr lang="en-US" sz="800" dirty="0"/>
          </a:p>
        </p:txBody>
      </p:sp>
      <p:sp>
        <p:nvSpPr>
          <p:cNvPr id="11" name="Text 9"/>
          <p:cNvSpPr/>
          <p:nvPr/>
        </p:nvSpPr>
        <p:spPr>
          <a:xfrm>
            <a:off x="460772" y="1290117"/>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3643313" y="865063"/>
            <a:ext cx="1285875" cy="1285875"/>
          </a:xfrm>
          <a:prstGeom prst="ellipse">
            <a:avLst/>
          </a:prstGeom>
          <a:solidFill>
            <a:srgbClr val="91E500">
              <a:alpha val="18000"/>
            </a:srgbClr>
          </a:solidFill>
          <a:ln/>
        </p:spPr>
        <p:txBody>
          <a:bodyPr wrap="square" rtlCol="0" anchor="ctr"/>
          <a:lstStyle/>
          <a:p>
            <a:pPr indent="0" marL="0">
              <a:buNone/>
            </a:pPr>
            <a:endParaRPr lang="en-US" dirty="0"/>
          </a:p>
        </p:txBody>
      </p:sp>
      <p:sp>
        <p:nvSpPr>
          <p:cNvPr id="13" name="Text 11"/>
          <p:cNvSpPr/>
          <p:nvPr/>
        </p:nvSpPr>
        <p:spPr>
          <a:xfrm>
            <a:off x="678656" y="1493713"/>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14" name="Text 12"/>
          <p:cNvSpPr/>
          <p:nvPr/>
        </p:nvSpPr>
        <p:spPr>
          <a:xfrm>
            <a:off x="4185903" y="1518717"/>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01</a:t>
            </a:r>
            <a:endParaRPr lang="en-US" sz="800" dirty="0"/>
          </a:p>
        </p:txBody>
      </p:sp>
      <p:sp>
        <p:nvSpPr>
          <p:cNvPr id="15" name="Text 13"/>
          <p:cNvSpPr/>
          <p:nvPr/>
        </p:nvSpPr>
        <p:spPr>
          <a:xfrm>
            <a:off x="678656" y="1691506"/>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12,400+</a:t>
            </a:r>
            <a:endParaRPr lang="en-US" sz="3600" dirty="0"/>
          </a:p>
        </p:txBody>
      </p:sp>
      <p:sp>
        <p:nvSpPr>
          <p:cNvPr id="16" name="Text 14"/>
          <p:cNvSpPr/>
          <p:nvPr/>
        </p:nvSpPr>
        <p:spPr>
          <a:xfrm>
            <a:off x="678656" y="2189336"/>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Pages shipped</a:t>
            </a:r>
            <a:endParaRPr lang="en-US" sz="844" dirty="0"/>
          </a:p>
        </p:txBody>
      </p:sp>
      <p:sp>
        <p:nvSpPr>
          <p:cNvPr id="17" name="Text 15"/>
          <p:cNvSpPr/>
          <p:nvPr/>
        </p:nvSpPr>
        <p:spPr>
          <a:xfrm>
            <a:off x="678656" y="2378646"/>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Launch pages, apps, and dashboards deployed via Flow.</a:t>
            </a:r>
            <a:endParaRPr lang="en-US" sz="800" dirty="0"/>
          </a:p>
        </p:txBody>
      </p:sp>
      <p:sp>
        <p:nvSpPr>
          <p:cNvPr id="18" name="Text 16"/>
          <p:cNvSpPr/>
          <p:nvPr/>
        </p:nvSpPr>
        <p:spPr>
          <a:xfrm>
            <a:off x="4639866" y="1290117"/>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19" name="Text 17"/>
          <p:cNvSpPr/>
          <p:nvPr/>
        </p:nvSpPr>
        <p:spPr>
          <a:xfrm>
            <a:off x="7822406" y="865063"/>
            <a:ext cx="1285875" cy="1285875"/>
          </a:xfrm>
          <a:prstGeom prst="ellipse">
            <a:avLst/>
          </a:prstGeom>
          <a:solidFill>
            <a:srgbClr val="12BCFF">
              <a:alpha val="18000"/>
            </a:srgbClr>
          </a:solidFill>
          <a:ln/>
        </p:spPr>
        <p:txBody>
          <a:bodyPr wrap="square" rtlCol="0" anchor="ctr"/>
          <a:lstStyle/>
          <a:p>
            <a:pPr indent="0" marL="0">
              <a:buNone/>
            </a:pPr>
            <a:endParaRPr lang="en-US" dirty="0"/>
          </a:p>
        </p:txBody>
      </p:sp>
      <p:sp>
        <p:nvSpPr>
          <p:cNvPr id="20" name="Text 18"/>
          <p:cNvSpPr/>
          <p:nvPr/>
        </p:nvSpPr>
        <p:spPr>
          <a:xfrm>
            <a:off x="4857750" y="1493713"/>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21" name="Text 19"/>
          <p:cNvSpPr/>
          <p:nvPr/>
        </p:nvSpPr>
        <p:spPr>
          <a:xfrm>
            <a:off x="8364996" y="1518717"/>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02</a:t>
            </a:r>
            <a:endParaRPr lang="en-US" sz="800" dirty="0"/>
          </a:p>
        </p:txBody>
      </p:sp>
      <p:sp>
        <p:nvSpPr>
          <p:cNvPr id="22" name="Text 20"/>
          <p:cNvSpPr/>
          <p:nvPr/>
        </p:nvSpPr>
        <p:spPr>
          <a:xfrm>
            <a:off x="4857750" y="1691506"/>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47 min</a:t>
            </a:r>
            <a:endParaRPr lang="en-US" sz="3600" dirty="0"/>
          </a:p>
        </p:txBody>
      </p:sp>
      <p:sp>
        <p:nvSpPr>
          <p:cNvPr id="23" name="Text 21"/>
          <p:cNvSpPr/>
          <p:nvPr/>
        </p:nvSpPr>
        <p:spPr>
          <a:xfrm>
            <a:off x="4857750" y="2189336"/>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Avg time to live</a:t>
            </a:r>
            <a:endParaRPr lang="en-US" sz="844" dirty="0"/>
          </a:p>
        </p:txBody>
      </p:sp>
      <p:sp>
        <p:nvSpPr>
          <p:cNvPr id="24" name="Text 22"/>
          <p:cNvSpPr/>
          <p:nvPr/>
        </p:nvSpPr>
        <p:spPr>
          <a:xfrm>
            <a:off x="4857750" y="2378646"/>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From prompt to deployed URL, including design, code, and hosting.</a:t>
            </a:r>
            <a:endParaRPr lang="en-US" sz="800" dirty="0"/>
          </a:p>
        </p:txBody>
      </p:sp>
      <p:sp>
        <p:nvSpPr>
          <p:cNvPr id="25" name="Text 23"/>
          <p:cNvSpPr/>
          <p:nvPr/>
        </p:nvSpPr>
        <p:spPr>
          <a:xfrm>
            <a:off x="460772" y="2847454"/>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26" name="Text 24"/>
          <p:cNvSpPr/>
          <p:nvPr/>
        </p:nvSpPr>
        <p:spPr>
          <a:xfrm>
            <a:off x="3643313" y="2422401"/>
            <a:ext cx="1285875" cy="1285875"/>
          </a:xfrm>
          <a:prstGeom prst="ellipse">
            <a:avLst/>
          </a:prstGeom>
          <a:solidFill>
            <a:srgbClr val="2F44FF">
              <a:alpha val="18000"/>
            </a:srgbClr>
          </a:solidFill>
          <a:ln/>
        </p:spPr>
        <p:txBody>
          <a:bodyPr wrap="square" rtlCol="0" anchor="ctr"/>
          <a:lstStyle/>
          <a:p>
            <a:pPr indent="0" marL="0">
              <a:buNone/>
            </a:pPr>
            <a:endParaRPr lang="en-US" dirty="0"/>
          </a:p>
        </p:txBody>
      </p:sp>
      <p:sp>
        <p:nvSpPr>
          <p:cNvPr id="27" name="Text 25"/>
          <p:cNvSpPr/>
          <p:nvPr/>
        </p:nvSpPr>
        <p:spPr>
          <a:xfrm>
            <a:off x="678656" y="3051051"/>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28" name="Text 26"/>
          <p:cNvSpPr/>
          <p:nvPr/>
        </p:nvSpPr>
        <p:spPr>
          <a:xfrm>
            <a:off x="4185903" y="3076054"/>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03</a:t>
            </a:r>
            <a:endParaRPr lang="en-US" sz="800" dirty="0"/>
          </a:p>
        </p:txBody>
      </p:sp>
      <p:sp>
        <p:nvSpPr>
          <p:cNvPr id="29" name="Text 27"/>
          <p:cNvSpPr/>
          <p:nvPr/>
        </p:nvSpPr>
        <p:spPr>
          <a:xfrm>
            <a:off x="678656" y="3248844"/>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3,200+</a:t>
            </a:r>
            <a:endParaRPr lang="en-US" sz="3600" dirty="0"/>
          </a:p>
        </p:txBody>
      </p:sp>
      <p:sp>
        <p:nvSpPr>
          <p:cNvPr id="30" name="Text 28"/>
          <p:cNvSpPr/>
          <p:nvPr/>
        </p:nvSpPr>
        <p:spPr>
          <a:xfrm>
            <a:off x="678656" y="3746674"/>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Pre-launch scans</a:t>
            </a:r>
            <a:endParaRPr lang="en-US" sz="844" dirty="0"/>
          </a:p>
        </p:txBody>
      </p:sp>
      <p:sp>
        <p:nvSpPr>
          <p:cNvPr id="31" name="Text 29"/>
          <p:cNvSpPr/>
          <p:nvPr/>
        </p:nvSpPr>
        <p:spPr>
          <a:xfrm>
            <a:off x="678656" y="3935983"/>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Pentest scans run on authorized targets before go-live.</a:t>
            </a:r>
            <a:endParaRPr lang="en-US" sz="800" dirty="0"/>
          </a:p>
        </p:txBody>
      </p:sp>
      <p:sp>
        <p:nvSpPr>
          <p:cNvPr id="32" name="Text 30"/>
          <p:cNvSpPr/>
          <p:nvPr/>
        </p:nvSpPr>
        <p:spPr>
          <a:xfrm>
            <a:off x="4639866" y="2847454"/>
            <a:ext cx="4043363" cy="1421606"/>
          </a:xfrm>
          <a:prstGeom prst="roundRect">
            <a:avLst>
              <a:gd name="adj" fmla="val 12060"/>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3" name="Text 31"/>
          <p:cNvSpPr/>
          <p:nvPr/>
        </p:nvSpPr>
        <p:spPr>
          <a:xfrm>
            <a:off x="7822406" y="2422401"/>
            <a:ext cx="1285875" cy="1285875"/>
          </a:xfrm>
          <a:prstGeom prst="ellipse">
            <a:avLst/>
          </a:prstGeom>
          <a:solidFill>
            <a:srgbClr val="8200DF">
              <a:alpha val="18000"/>
            </a:srgbClr>
          </a:solidFill>
          <a:ln/>
        </p:spPr>
        <p:txBody>
          <a:bodyPr wrap="square" rtlCol="0" anchor="ctr"/>
          <a:lstStyle/>
          <a:p>
            <a:pPr indent="0" marL="0">
              <a:buNone/>
            </a:pPr>
            <a:endParaRPr lang="en-US" dirty="0"/>
          </a:p>
        </p:txBody>
      </p:sp>
      <p:sp>
        <p:nvSpPr>
          <p:cNvPr id="34" name="Text 32"/>
          <p:cNvSpPr/>
          <p:nvPr/>
        </p:nvSpPr>
        <p:spPr>
          <a:xfrm>
            <a:off x="4857750" y="3051051"/>
            <a:ext cx="157163" cy="157163"/>
          </a:xfrm>
          <a:prstGeom prst="rect">
            <a:avLst/>
          </a:prstGeom>
          <a:noFill/>
          <a:ln/>
        </p:spPr>
        <p:txBody>
          <a:bodyPr wrap="none" lIns="0" tIns="0" rIns="0" bIns="0" rtlCol="0" anchor="ctr"/>
          <a:lstStyle/>
          <a:p>
            <a:pPr algn="ctr" indent="0" marL="0">
              <a:buNone/>
            </a:pPr>
            <a:r>
              <a:rPr lang="en-US" sz="1547" dirty="0">
                <a:solidFill>
                  <a:srgbClr val="8200DF"/>
                </a:solidFill>
                <a:latin typeface="Segoe UI Symbol" pitchFamily="34" charset="0"/>
                <a:ea typeface="Segoe UI Symbol" pitchFamily="34" charset="-122"/>
                <a:cs typeface="Segoe UI Symbol" pitchFamily="34" charset="-120"/>
              </a:rPr>
              <a:t>✓</a:t>
            </a:r>
            <a:endParaRPr lang="en-US" sz="1547" dirty="0"/>
          </a:p>
        </p:txBody>
      </p:sp>
      <p:sp>
        <p:nvSpPr>
          <p:cNvPr id="35" name="Text 33"/>
          <p:cNvSpPr/>
          <p:nvPr/>
        </p:nvSpPr>
        <p:spPr>
          <a:xfrm>
            <a:off x="8364996" y="3076054"/>
            <a:ext cx="100347"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Liberation Sans Narrow" pitchFamily="34" charset="0"/>
                <a:ea typeface="Liberation Sans Narrow" pitchFamily="34" charset="-122"/>
                <a:cs typeface="Liberation Sans Narrow" pitchFamily="34" charset="-120"/>
              </a:rPr>
              <a:t>04</a:t>
            </a:r>
            <a:endParaRPr lang="en-US" sz="800" dirty="0"/>
          </a:p>
        </p:txBody>
      </p:sp>
      <p:sp>
        <p:nvSpPr>
          <p:cNvPr id="36" name="Text 34"/>
          <p:cNvSpPr/>
          <p:nvPr/>
        </p:nvSpPr>
        <p:spPr>
          <a:xfrm>
            <a:off x="4857750" y="3248844"/>
            <a:ext cx="3607594" cy="493776"/>
          </a:xfrm>
          <a:prstGeom prst="rect">
            <a:avLst/>
          </a:prstGeom>
          <a:noFill/>
          <a:ln/>
        </p:spPr>
        <p:txBody>
          <a:bodyPr wrap="none" lIns="0" tIns="0" rIns="0" bIns="0" rtlCol="0" anchor="t"/>
          <a:lstStyle/>
          <a:p>
            <a:pPr algn="l" indent="0" marL="0">
              <a:lnSpc>
                <a:spcPts val="3600"/>
              </a:lnSpc>
              <a:buNone/>
            </a:pPr>
            <a:r>
              <a:rPr lang="en-US" sz="3600" b="1" spc="-108" kern="0" dirty="0">
                <a:solidFill>
                  <a:srgbClr val="2F44FF"/>
                </a:solidFill>
                <a:latin typeface="Liberation Sans Narrow" pitchFamily="34" charset="0"/>
                <a:ea typeface="Liberation Sans Narrow" pitchFamily="34" charset="-122"/>
                <a:cs typeface="Liberation Sans Narrow" pitchFamily="34" charset="-120"/>
              </a:rPr>
              <a:t>99.2%</a:t>
            </a:r>
            <a:endParaRPr lang="en-US" sz="3600" dirty="0"/>
          </a:p>
        </p:txBody>
      </p:sp>
      <p:sp>
        <p:nvSpPr>
          <p:cNvPr id="37" name="Text 35"/>
          <p:cNvSpPr/>
          <p:nvPr/>
        </p:nvSpPr>
        <p:spPr>
          <a:xfrm>
            <a:off x="4857750" y="3746674"/>
            <a:ext cx="3607594" cy="161877"/>
          </a:xfrm>
          <a:prstGeom prst="rect">
            <a:avLst/>
          </a:prstGeom>
          <a:noFill/>
          <a:ln/>
        </p:spPr>
        <p:txBody>
          <a:bodyPr wrap="none" lIns="0" tIns="0" rIns="0" bIns="0" rtlCol="0" anchor="t">
            <a:normAutofit/>
          </a:bodyPr>
          <a:lstStyle/>
          <a:p>
            <a:pPr algn="l" indent="0" marL="0">
              <a:lnSpc>
                <a:spcPts val="1266"/>
              </a:lnSpc>
              <a:buNone/>
            </a:pPr>
            <a:r>
              <a:rPr lang="en-US" sz="844" b="1" dirty="0">
                <a:solidFill>
                  <a:srgbClr val="F2F1F1"/>
                </a:solidFill>
                <a:latin typeface="Carlito" pitchFamily="34" charset="0"/>
                <a:ea typeface="Carlito" pitchFamily="34" charset="-122"/>
                <a:cs typeface="Carlito" pitchFamily="34" charset="-120"/>
              </a:rPr>
              <a:t>Clean launches</a:t>
            </a:r>
            <a:endParaRPr lang="en-US" sz="844" dirty="0"/>
          </a:p>
        </p:txBody>
      </p:sp>
      <p:sp>
        <p:nvSpPr>
          <p:cNvPr id="38" name="Text 36"/>
          <p:cNvSpPr/>
          <p:nvPr/>
        </p:nvSpPr>
        <p:spPr>
          <a:xfrm>
            <a:off x="4857750" y="3935983"/>
            <a:ext cx="3607594" cy="129480"/>
          </a:xfrm>
          <a:prstGeom prst="rect">
            <a:avLst/>
          </a:prstGeom>
          <a:noFill/>
          <a:ln/>
        </p:spPr>
        <p:txBody>
          <a:bodyPr wrap="square" lIns="0" tIns="0" rIns="0" bIns="0" rtlCol="0" anchor="t"/>
          <a:lstStyle/>
          <a:p>
            <a:pPr algn="l" indent="0" marL="0">
              <a:lnSpc>
                <a:spcPts val="1020"/>
              </a:lnSpc>
              <a:buNone/>
            </a:pPr>
            <a:r>
              <a:rPr lang="en-US" sz="800" dirty="0">
                <a:solidFill>
                  <a:srgbClr val="F2F1F1">
                    <a:alpha val="60000"/>
                  </a:srgbClr>
                </a:solidFill>
                <a:latin typeface="Carlito" pitchFamily="34" charset="0"/>
                <a:ea typeface="Carlito" pitchFamily="34" charset="-122"/>
                <a:cs typeface="Carlito" pitchFamily="34" charset="-120"/>
              </a:rPr>
              <a:t>Sites that shipped with zero critical findings after a Pentest scan.</a:t>
            </a:r>
            <a:endParaRPr lang="en-US" sz="800" dirty="0"/>
          </a:p>
        </p:txBody>
      </p:sp>
      <p:sp>
        <p:nvSpPr>
          <p:cNvPr id="39" name="Text 37"/>
          <p:cNvSpPr/>
          <p:nvPr/>
        </p:nvSpPr>
        <p:spPr>
          <a:xfrm>
            <a:off x="3374864" y="4433367"/>
            <a:ext cx="2394161" cy="321469"/>
          </a:xfrm>
          <a:prstGeom prst="roundRect">
            <a:avLst>
              <a:gd name="adj" fmla="val 29626644"/>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0" name="Text 38"/>
          <p:cNvSpPr/>
          <p:nvPr/>
        </p:nvSpPr>
        <p:spPr>
          <a:xfrm>
            <a:off x="3521311" y="4529807"/>
            <a:ext cx="1001125" cy="138875"/>
          </a:xfrm>
          <a:prstGeom prst="rect">
            <a:avLst/>
          </a:prstGeom>
          <a:noFill/>
          <a:ln/>
        </p:spPr>
        <p:txBody>
          <a:bodyPr wrap="none" lIns="0" tIns="0" rIns="0" bIns="0" rtlCol="0" anchor="t"/>
          <a:lstStyle/>
          <a:p>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pPr algn="l" indent="0" marL="0">
              <a:lnSpc>
                <a:spcPts val="1350"/>
              </a:lnSpc>
              <a:buNone/>
            </a:pPr>
            <a:r>
              <a:rPr lang="en-US" sz="900" dirty="0">
                <a:solidFill>
                  <a:srgbClr val="F2F1F1"/>
                </a:solidFill>
                <a:latin typeface="Carlito" pitchFamily="34" charset="0"/>
                <a:ea typeface="Carlito" pitchFamily="34" charset="-122"/>
                <a:cs typeface="Carlito" pitchFamily="34" charset="-120"/>
              </a:rPr>
              <a:t> </a:t>
            </a:r>
            <a:pPr algn="l" indent="0" marL="0">
              <a:lnSpc>
                <a:spcPts val="1350"/>
              </a:lnSpc>
              <a:buNone/>
            </a:pPr>
            <a:r>
              <a:rPr lang="en-US" sz="900" dirty="0">
                <a:solidFill>
                  <a:srgbClr val="F5B53D"/>
                </a:solidFill>
                <a:latin typeface="Segoe UI Symbol" pitchFamily="34" charset="0"/>
                <a:ea typeface="Segoe UI Symbol" pitchFamily="34" charset="-122"/>
                <a:cs typeface="Segoe UI Symbol" pitchFamily="34" charset="-120"/>
              </a:rPr>
              <a:t>★</a:t>
            </a:r>
            <a:endParaRPr lang="en-US" sz="900" dirty="0"/>
          </a:p>
        </p:txBody>
      </p:sp>
      <p:sp>
        <p:nvSpPr>
          <p:cNvPr id="41" name="Text 39"/>
          <p:cNvSpPr/>
          <p:nvPr/>
        </p:nvSpPr>
        <p:spPr>
          <a:xfrm>
            <a:off x="4307123" y="4513734"/>
            <a:ext cx="449854" cy="166092"/>
          </a:xfrm>
          <a:prstGeom prst="rect">
            <a:avLst/>
          </a:prstGeom>
          <a:noFill/>
          <a:ln/>
        </p:spPr>
        <p:txBody>
          <a:bodyPr wrap="none" lIns="0" tIns="0" rIns="0" bIns="0" rtlCol="0" anchor="t"/>
          <a:lstStyle/>
          <a:p>
            <a:pPr algn="l" indent="0" marL="0">
              <a:lnSpc>
                <a:spcPts val="1266"/>
              </a:lnSpc>
              <a:buNone/>
            </a:pPr>
            <a:r>
              <a:rPr lang="en-US" sz="844" b="1" dirty="0">
                <a:solidFill>
                  <a:srgbClr val="F2F1F1"/>
                </a:solidFill>
                <a:latin typeface="Liberation Sans Narrow" pitchFamily="34" charset="0"/>
                <a:ea typeface="Liberation Sans Narrow" pitchFamily="34" charset="-122"/>
                <a:cs typeface="Liberation Sans Narrow" pitchFamily="34" charset="-120"/>
              </a:rPr>
              <a:t>4.9 / 5</a:t>
            </a:r>
            <a:endParaRPr lang="en-US" sz="844" dirty="0"/>
          </a:p>
        </p:txBody>
      </p:sp>
      <p:sp>
        <p:nvSpPr>
          <p:cNvPr id="42" name="Text 40"/>
          <p:cNvSpPr/>
          <p:nvPr/>
        </p:nvSpPr>
        <p:spPr>
          <a:xfrm>
            <a:off x="4690765" y="4508376"/>
            <a:ext cx="91440" cy="171450"/>
          </a:xfrm>
          <a:prstGeom prst="rect">
            <a:avLst/>
          </a:prstGeom>
          <a:noFill/>
          <a:ln/>
        </p:spPr>
        <p:txBody>
          <a:bodyPr wrap="none" lIns="0" tIns="0" rIns="0" bIns="0" rtlCol="0" anchor="t"/>
          <a:lstStyle/>
          <a:p>
            <a:pPr algn="l" indent="0" marL="0">
              <a:lnSpc>
                <a:spcPts val="1350"/>
              </a:lnSpc>
              <a:buNone/>
            </a:pPr>
            <a:r>
              <a:rPr lang="en-US" sz="900" dirty="0">
                <a:solidFill>
                  <a:srgbClr val="FFFFFF">
                    <a:alpha val="8000"/>
                  </a:srgbClr>
                </a:solidFill>
                <a:latin typeface="Carlito" pitchFamily="34" charset="0"/>
                <a:ea typeface="Carlito" pitchFamily="34" charset="-122"/>
                <a:cs typeface="Carlito" pitchFamily="34" charset="-120"/>
              </a:rPr>
              <a:t>·</a:t>
            </a:r>
            <a:endParaRPr lang="en-US" sz="900" dirty="0"/>
          </a:p>
        </p:txBody>
      </p:sp>
      <p:sp>
        <p:nvSpPr>
          <p:cNvPr id="43" name="Text 41"/>
          <p:cNvSpPr/>
          <p:nvPr/>
        </p:nvSpPr>
        <p:spPr>
          <a:xfrm>
            <a:off x="4814553" y="4524449"/>
            <a:ext cx="808025" cy="155377"/>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Liberation Sans Narrow" pitchFamily="34" charset="0"/>
                <a:ea typeface="Liberation Sans Narrow" pitchFamily="34" charset="-122"/>
                <a:cs typeface="Liberation Sans Narrow" pitchFamily="34" charset="-120"/>
              </a:rPr>
              <a:t>from 320+ founders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2743200" y="-857250"/>
            <a:ext cx="2143125" cy="2143125"/>
          </a:xfrm>
          <a:prstGeom prst="ellipse">
            <a:avLst/>
          </a:prstGeom>
          <a:solidFill>
            <a:srgbClr val="12BCFF">
              <a:alpha val="4000"/>
            </a:srgbClr>
          </a:solidFill>
          <a:ln/>
        </p:spPr>
        <p:txBody>
          <a:bodyPr wrap="square" rtlCol="0" anchor="ctr"/>
          <a:lstStyle/>
          <a:p>
            <a:pPr indent="0" marL="0">
              <a:buNone/>
            </a:pPr>
            <a:endParaRPr lang="en-US" dirty="0"/>
          </a:p>
        </p:txBody>
      </p:sp>
      <p:sp>
        <p:nvSpPr>
          <p:cNvPr id="3" name="Text 1"/>
          <p:cNvSpPr/>
          <p:nvPr/>
        </p:nvSpPr>
        <p:spPr>
          <a:xfrm>
            <a:off x="7429500" y="3714750"/>
            <a:ext cx="2428875" cy="2428875"/>
          </a:xfrm>
          <a:prstGeom prst="ellipse">
            <a:avLst/>
          </a:prstGeom>
          <a:solidFill>
            <a:srgbClr val="8200DF">
              <a:alpha val="4000"/>
            </a:srgbClr>
          </a:solidFill>
          <a:ln/>
        </p:spPr>
        <p:txBody>
          <a:bodyPr wrap="square" rtlCol="0" anchor="ctr"/>
          <a:lstStyle/>
          <a:p>
            <a:pPr indent="0" marL="0">
              <a:buNone/>
            </a:pPr>
            <a:endParaRPr lang="en-US" dirty="0"/>
          </a:p>
        </p:txBody>
      </p:sp>
      <p:sp>
        <p:nvSpPr>
          <p:cNvPr id="4" name="Text 2"/>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5" name="Text 3"/>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11 / 16</a:t>
            </a:r>
            <a:endParaRPr lang="en-US" sz="800" dirty="0"/>
          </a:p>
        </p:txBody>
      </p:sp>
      <p:sp>
        <p:nvSpPr>
          <p:cNvPr id="6" name="Text 4"/>
          <p:cNvSpPr/>
          <p:nvPr/>
        </p:nvSpPr>
        <p:spPr>
          <a:xfrm>
            <a:off x="434340" y="501548"/>
            <a:ext cx="860889"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59471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514350"/>
            <a:ext cx="815169"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PORTFOLIO</a:t>
            </a:r>
            <a:endParaRPr lang="en-US" sz="800" dirty="0"/>
          </a:p>
        </p:txBody>
      </p:sp>
      <p:sp>
        <p:nvSpPr>
          <p:cNvPr id="9" name="Text 7"/>
          <p:cNvSpPr/>
          <p:nvPr/>
        </p:nvSpPr>
        <p:spPr>
          <a:xfrm>
            <a:off x="457200" y="832247"/>
            <a:ext cx="4112233"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Real projects, shipped by founders</a:t>
            </a:r>
            <a:endParaRPr lang="en-US" sz="2025" dirty="0"/>
          </a:p>
        </p:txBody>
      </p:sp>
      <p:sp>
        <p:nvSpPr>
          <p:cNvPr id="10" name="Text 8"/>
          <p:cNvSpPr/>
          <p:nvPr/>
        </p:nvSpPr>
        <p:spPr>
          <a:xfrm>
            <a:off x="8024775" y="997223"/>
            <a:ext cx="827096" cy="164592"/>
          </a:xfrm>
          <a:prstGeom prst="rect">
            <a:avLst/>
          </a:prstGeom>
          <a:noFill/>
          <a:ln/>
        </p:spPr>
        <p:txBody>
          <a:bodyPr wrap="none" lIns="0" tIns="0" rIns="0" bIns="0" rtlCol="0" anchor="t"/>
          <a:lstStyle/>
          <a:p>
            <a:pPr algn="l" indent="0" marL="0">
              <a:lnSpc>
                <a:spcPts val="928"/>
              </a:lnSpc>
              <a:buNone/>
            </a:pPr>
            <a:r>
              <a:rPr lang="en-US" sz="800" spc="62" kern="0" dirty="0">
                <a:solidFill>
                  <a:srgbClr val="F2F1F1">
                    <a:alpha val="40000"/>
                  </a:srgbClr>
                </a:solidFill>
                <a:latin typeface="Liberation Sans Narrow" pitchFamily="34" charset="0"/>
                <a:ea typeface="Liberation Sans Narrow" pitchFamily="34" charset="-122"/>
                <a:cs typeface="Liberation Sans Narrow" pitchFamily="34" charset="-120"/>
              </a:rPr>
              <a:t>4 OF 12,400+</a:t>
            </a:r>
            <a:endParaRPr lang="en-US" sz="800" dirty="0"/>
          </a:p>
        </p:txBody>
      </p:sp>
      <p:sp>
        <p:nvSpPr>
          <p:cNvPr id="11" name="Text 9"/>
          <p:cNvSpPr/>
          <p:nvPr/>
        </p:nvSpPr>
        <p:spPr>
          <a:xfrm>
            <a:off x="460772" y="1275829"/>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12" name="Text 10"/>
          <p:cNvSpPr/>
          <p:nvPr/>
        </p:nvSpPr>
        <p:spPr>
          <a:xfrm>
            <a:off x="3714750" y="922213"/>
            <a:ext cx="1143000" cy="1143000"/>
          </a:xfrm>
          <a:prstGeom prst="ellipse">
            <a:avLst/>
          </a:prstGeom>
          <a:solidFill>
            <a:srgbClr val="12BCFF">
              <a:alpha val="15000"/>
            </a:srgbClr>
          </a:solidFill>
          <a:ln/>
        </p:spPr>
        <p:txBody>
          <a:bodyPr wrap="square" rtlCol="0" anchor="ctr"/>
          <a:lstStyle/>
          <a:p>
            <a:pPr indent="0" marL="0">
              <a:buNone/>
            </a:pPr>
            <a:endParaRPr lang="en-US" dirty="0"/>
          </a:p>
        </p:txBody>
      </p:sp>
      <p:sp>
        <p:nvSpPr>
          <p:cNvPr id="13" name="Text 11"/>
          <p:cNvSpPr/>
          <p:nvPr/>
        </p:nvSpPr>
        <p:spPr>
          <a:xfrm>
            <a:off x="639366" y="1481212"/>
            <a:ext cx="278606" cy="278606"/>
          </a:xfrm>
          <a:prstGeom prst="roundRect">
            <a:avLst>
              <a:gd name="adj" fmla="val 34188"/>
            </a:avLst>
          </a:prstGeom>
          <a:solidFill>
            <a:srgbClr val="12BCFF">
              <a:alpha val="14000"/>
            </a:srgbClr>
          </a:solidFill>
          <a:ln w="7144">
            <a:solidFill>
              <a:srgbClr val="12BCFF"/>
            </a:solidFill>
            <a:prstDash val="solid"/>
          </a:ln>
        </p:spPr>
        <p:txBody>
          <a:bodyPr wrap="square" rtlCol="0" anchor="ctr"/>
          <a:lstStyle/>
          <a:p>
            <a:pPr indent="0" marL="0">
              <a:buNone/>
            </a:pPr>
            <a:endParaRPr lang="en-US" dirty="0"/>
          </a:p>
        </p:txBody>
      </p:sp>
      <p:sp>
        <p:nvSpPr>
          <p:cNvPr id="14" name="Text 12"/>
          <p:cNvSpPr/>
          <p:nvPr/>
        </p:nvSpPr>
        <p:spPr>
          <a:xfrm>
            <a:off x="635794" y="1477640"/>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5FCDFF"/>
                </a:solidFill>
                <a:latin typeface="Carlito" pitchFamily="34" charset="0"/>
                <a:ea typeface="Carlito" pitchFamily="34" charset="-122"/>
                <a:cs typeface="Carlito" pitchFamily="34" charset="-120"/>
              </a:rPr>
              <a:t>NL</a:t>
            </a:r>
            <a:endParaRPr lang="en-US" sz="844" dirty="0"/>
          </a:p>
        </p:txBody>
      </p:sp>
      <p:sp>
        <p:nvSpPr>
          <p:cNvPr id="15" name="Text 13"/>
          <p:cNvSpPr/>
          <p:nvPr/>
        </p:nvSpPr>
        <p:spPr>
          <a:xfrm>
            <a:off x="1007269" y="1436563"/>
            <a:ext cx="1055455"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Northwind Labs</a:t>
            </a:r>
            <a:endParaRPr lang="en-US" sz="956" dirty="0"/>
          </a:p>
        </p:txBody>
      </p:sp>
      <p:sp>
        <p:nvSpPr>
          <p:cNvPr id="16" name="Text 14"/>
          <p:cNvSpPr/>
          <p:nvPr/>
        </p:nvSpPr>
        <p:spPr>
          <a:xfrm>
            <a:off x="985846" y="1630302"/>
            <a:ext cx="57840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17" name="Text 15"/>
          <p:cNvSpPr/>
          <p:nvPr/>
        </p:nvSpPr>
        <p:spPr>
          <a:xfrm>
            <a:off x="1007269" y="1640160"/>
            <a:ext cx="535558"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AI INFRA</a:t>
            </a:r>
            <a:endParaRPr lang="en-US" sz="800" dirty="0"/>
          </a:p>
        </p:txBody>
      </p:sp>
      <p:sp>
        <p:nvSpPr>
          <p:cNvPr id="18" name="Text 16"/>
          <p:cNvSpPr/>
          <p:nvPr/>
        </p:nvSpPr>
        <p:spPr>
          <a:xfrm>
            <a:off x="4171950" y="1541934"/>
            <a:ext cx="157163" cy="157163"/>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19" name="Text 17"/>
          <p:cNvSpPr/>
          <p:nvPr/>
        </p:nvSpPr>
        <p:spPr>
          <a:xfrm>
            <a:off x="635794" y="1904479"/>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Launch page + waitlist, built and shipped in an afternoon.</a:t>
            </a:r>
            <a:endParaRPr lang="en-US" sz="800" dirty="0"/>
          </a:p>
        </p:txBody>
      </p:sp>
      <p:sp>
        <p:nvSpPr>
          <p:cNvPr id="20" name="Text 18"/>
          <p:cNvSpPr/>
          <p:nvPr/>
        </p:nvSpPr>
        <p:spPr>
          <a:xfrm>
            <a:off x="639366" y="2454548"/>
            <a:ext cx="1547961" cy="221456"/>
          </a:xfrm>
          <a:prstGeom prst="roundRect">
            <a:avLst>
              <a:gd name="adj" fmla="val 34409"/>
            </a:avLst>
          </a:prstGeom>
          <a:solidFill>
            <a:srgbClr val="12BCFF">
              <a:alpha val="10000"/>
            </a:srgbClr>
          </a:solidFill>
          <a:ln w="7144">
            <a:solidFill>
              <a:srgbClr val="12BCFF"/>
            </a:solidFill>
            <a:prstDash val="solid"/>
          </a:ln>
        </p:spPr>
        <p:txBody>
          <a:bodyPr wrap="square" rtlCol="0" anchor="ctr"/>
          <a:lstStyle/>
          <a:p>
            <a:pPr indent="0" marL="0">
              <a:buNone/>
            </a:pPr>
            <a:endParaRPr lang="en-US" dirty="0"/>
          </a:p>
        </p:txBody>
      </p:sp>
      <p:sp>
        <p:nvSpPr>
          <p:cNvPr id="21" name="Text 19"/>
          <p:cNvSpPr/>
          <p:nvPr/>
        </p:nvSpPr>
        <p:spPr>
          <a:xfrm>
            <a:off x="871538" y="2515270"/>
            <a:ext cx="1226493"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5FCDFF"/>
                </a:solidFill>
                <a:latin typeface="Liberation Sans Narrow" pitchFamily="34" charset="0"/>
                <a:ea typeface="Liberation Sans Narrow" pitchFamily="34" charset="-122"/>
                <a:cs typeface="Liberation Sans Narrow" pitchFamily="34" charset="-120"/>
              </a:rPr>
              <a:t>1,200 signups in week 1</a:t>
            </a:r>
            <a:endParaRPr lang="en-US" sz="800" dirty="0"/>
          </a:p>
        </p:txBody>
      </p:sp>
      <p:sp>
        <p:nvSpPr>
          <p:cNvPr id="22" name="Text 20"/>
          <p:cNvSpPr/>
          <p:nvPr/>
        </p:nvSpPr>
        <p:spPr>
          <a:xfrm>
            <a:off x="728663" y="2515270"/>
            <a:ext cx="100013" cy="100013"/>
          </a:xfrm>
          <a:prstGeom prst="rect">
            <a:avLst/>
          </a:prstGeom>
          <a:noFill/>
          <a:ln/>
        </p:spPr>
        <p:txBody>
          <a:bodyPr wrap="none" lIns="0" tIns="0" rIns="0" bIns="0" rtlCol="0" anchor="ctr"/>
          <a:lstStyle/>
          <a:p>
            <a:pPr algn="ctr" indent="0" marL="0">
              <a:buNone/>
            </a:pPr>
            <a:r>
              <a:rPr lang="en-US" sz="984" dirty="0">
                <a:solidFill>
                  <a:srgbClr val="5FCDFF"/>
                </a:solidFill>
                <a:latin typeface="Segoe UI Symbol" pitchFamily="34" charset="0"/>
                <a:ea typeface="Segoe UI Symbol" pitchFamily="34" charset="-122"/>
                <a:cs typeface="Segoe UI Symbol" pitchFamily="34" charset="-120"/>
              </a:rPr>
              <a:t>↗</a:t>
            </a:r>
            <a:endParaRPr lang="en-US" sz="984" dirty="0"/>
          </a:p>
        </p:txBody>
      </p:sp>
      <p:sp>
        <p:nvSpPr>
          <p:cNvPr id="23" name="Text 21"/>
          <p:cNvSpPr/>
          <p:nvPr/>
        </p:nvSpPr>
        <p:spPr>
          <a:xfrm>
            <a:off x="4639866" y="1275829"/>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24" name="Text 22"/>
          <p:cNvSpPr/>
          <p:nvPr/>
        </p:nvSpPr>
        <p:spPr>
          <a:xfrm>
            <a:off x="7893844" y="922213"/>
            <a:ext cx="1143000" cy="1143000"/>
          </a:xfrm>
          <a:prstGeom prst="ellipse">
            <a:avLst/>
          </a:prstGeom>
          <a:solidFill>
            <a:srgbClr val="91E500">
              <a:alpha val="15000"/>
            </a:srgbClr>
          </a:solidFill>
          <a:ln/>
        </p:spPr>
        <p:txBody>
          <a:bodyPr wrap="square" rtlCol="0" anchor="ctr"/>
          <a:lstStyle/>
          <a:p>
            <a:pPr indent="0" marL="0">
              <a:buNone/>
            </a:pPr>
            <a:endParaRPr lang="en-US" dirty="0"/>
          </a:p>
        </p:txBody>
      </p:sp>
      <p:sp>
        <p:nvSpPr>
          <p:cNvPr id="25" name="Text 23"/>
          <p:cNvSpPr/>
          <p:nvPr/>
        </p:nvSpPr>
        <p:spPr>
          <a:xfrm>
            <a:off x="4818459" y="1481212"/>
            <a:ext cx="278606" cy="278606"/>
          </a:xfrm>
          <a:prstGeom prst="roundRect">
            <a:avLst>
              <a:gd name="adj" fmla="val 34188"/>
            </a:avLst>
          </a:prstGeom>
          <a:solidFill>
            <a:srgbClr val="91E500">
              <a:alpha val="14000"/>
            </a:srgbClr>
          </a:solidFill>
          <a:ln w="7144">
            <a:solidFill>
              <a:srgbClr val="91E500"/>
            </a:solidFill>
            <a:prstDash val="solid"/>
          </a:ln>
        </p:spPr>
        <p:txBody>
          <a:bodyPr wrap="square" rtlCol="0" anchor="ctr"/>
          <a:lstStyle/>
          <a:p>
            <a:pPr indent="0" marL="0">
              <a:buNone/>
            </a:pPr>
            <a:endParaRPr lang="en-US" dirty="0"/>
          </a:p>
        </p:txBody>
      </p:sp>
      <p:sp>
        <p:nvSpPr>
          <p:cNvPr id="26" name="Text 24"/>
          <p:cNvSpPr/>
          <p:nvPr/>
        </p:nvSpPr>
        <p:spPr>
          <a:xfrm>
            <a:off x="4814888" y="1477640"/>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C0EB5A"/>
                </a:solidFill>
                <a:latin typeface="Carlito" pitchFamily="34" charset="0"/>
                <a:ea typeface="Carlito" pitchFamily="34" charset="-122"/>
                <a:cs typeface="Carlito" pitchFamily="34" charset="-120"/>
              </a:rPr>
              <a:t>Hu</a:t>
            </a:r>
            <a:endParaRPr lang="en-US" sz="844" dirty="0"/>
          </a:p>
        </p:txBody>
      </p:sp>
      <p:sp>
        <p:nvSpPr>
          <p:cNvPr id="27" name="Text 25"/>
          <p:cNvSpPr/>
          <p:nvPr/>
        </p:nvSpPr>
        <p:spPr>
          <a:xfrm>
            <a:off x="5186363" y="1436563"/>
            <a:ext cx="988266"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Hushnote</a:t>
            </a:r>
            <a:endParaRPr lang="en-US" sz="956" dirty="0"/>
          </a:p>
        </p:txBody>
      </p:sp>
      <p:sp>
        <p:nvSpPr>
          <p:cNvPr id="28" name="Text 26"/>
          <p:cNvSpPr/>
          <p:nvPr/>
        </p:nvSpPr>
        <p:spPr>
          <a:xfrm>
            <a:off x="5163503" y="1630302"/>
            <a:ext cx="81780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29" name="Text 27"/>
          <p:cNvSpPr/>
          <p:nvPr/>
        </p:nvSpPr>
        <p:spPr>
          <a:xfrm>
            <a:off x="5186363" y="1640160"/>
            <a:ext cx="772083"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CONSUMER SAAS</a:t>
            </a:r>
            <a:endParaRPr lang="en-US" sz="800" dirty="0"/>
          </a:p>
        </p:txBody>
      </p:sp>
      <p:sp>
        <p:nvSpPr>
          <p:cNvPr id="30" name="Text 28"/>
          <p:cNvSpPr/>
          <p:nvPr/>
        </p:nvSpPr>
        <p:spPr>
          <a:xfrm>
            <a:off x="8351044" y="1541934"/>
            <a:ext cx="157163" cy="157163"/>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31" name="Text 29"/>
          <p:cNvSpPr/>
          <p:nvPr/>
        </p:nvSpPr>
        <p:spPr>
          <a:xfrm>
            <a:off x="4814888" y="1904479"/>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Landing + auth + billing, prompt-to-deployed in under an hour.</a:t>
            </a:r>
            <a:endParaRPr lang="en-US" sz="800" dirty="0"/>
          </a:p>
        </p:txBody>
      </p:sp>
      <p:sp>
        <p:nvSpPr>
          <p:cNvPr id="32" name="Text 30"/>
          <p:cNvSpPr/>
          <p:nvPr/>
        </p:nvSpPr>
        <p:spPr>
          <a:xfrm>
            <a:off x="4792028" y="2438174"/>
            <a:ext cx="1334274" cy="254203"/>
          </a:xfrm>
          <a:prstGeom prst="roundRect">
            <a:avLst>
              <a:gd name="adj" fmla="val 29976"/>
            </a:avLst>
          </a:prstGeom>
          <a:solidFill>
            <a:srgbClr val="91E500">
              <a:alpha val="10000"/>
            </a:srgbClr>
          </a:solidFill>
          <a:ln w="7144">
            <a:solidFill>
              <a:srgbClr val="91E500"/>
            </a:solidFill>
            <a:prstDash val="solid"/>
          </a:ln>
        </p:spPr>
        <p:txBody>
          <a:bodyPr wrap="square" rtlCol="0" anchor="ctr"/>
          <a:lstStyle/>
          <a:p>
            <a:pPr indent="0" marL="0">
              <a:buNone/>
            </a:pPr>
            <a:endParaRPr lang="en-US" dirty="0"/>
          </a:p>
        </p:txBody>
      </p:sp>
      <p:sp>
        <p:nvSpPr>
          <p:cNvPr id="33" name="Text 31"/>
          <p:cNvSpPr/>
          <p:nvPr/>
        </p:nvSpPr>
        <p:spPr>
          <a:xfrm>
            <a:off x="5050631" y="2515270"/>
            <a:ext cx="959941"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C0EB5A"/>
                </a:solidFill>
                <a:latin typeface="Liberation Sans Narrow" pitchFamily="34" charset="0"/>
                <a:ea typeface="Liberation Sans Narrow" pitchFamily="34" charset="-122"/>
                <a:cs typeface="Liberation Sans Narrow" pitchFamily="34" charset="-120"/>
              </a:rPr>
              <a:t>Live in 47 minutes</a:t>
            </a:r>
            <a:endParaRPr lang="en-US" sz="800" dirty="0"/>
          </a:p>
        </p:txBody>
      </p:sp>
      <p:sp>
        <p:nvSpPr>
          <p:cNvPr id="34" name="Text 32"/>
          <p:cNvSpPr/>
          <p:nvPr/>
        </p:nvSpPr>
        <p:spPr>
          <a:xfrm>
            <a:off x="4907756" y="2515270"/>
            <a:ext cx="100013" cy="100013"/>
          </a:xfrm>
          <a:prstGeom prst="rect">
            <a:avLst/>
          </a:prstGeom>
          <a:noFill/>
          <a:ln/>
        </p:spPr>
        <p:txBody>
          <a:bodyPr wrap="none" lIns="0" tIns="0" rIns="0" bIns="0" rtlCol="0" anchor="ctr"/>
          <a:lstStyle/>
          <a:p>
            <a:pPr algn="ctr" indent="0" marL="0">
              <a:buNone/>
            </a:pPr>
            <a:r>
              <a:rPr lang="en-US" sz="984" dirty="0">
                <a:solidFill>
                  <a:srgbClr val="C0EB5A"/>
                </a:solidFill>
                <a:latin typeface="Segoe UI Symbol" pitchFamily="34" charset="0"/>
                <a:ea typeface="Segoe UI Symbol" pitchFamily="34" charset="-122"/>
                <a:cs typeface="Segoe UI Symbol" pitchFamily="34" charset="-120"/>
              </a:rPr>
              <a:t>◔</a:t>
            </a:r>
            <a:endParaRPr lang="en-US" sz="984" dirty="0"/>
          </a:p>
        </p:txBody>
      </p:sp>
      <p:sp>
        <p:nvSpPr>
          <p:cNvPr id="35" name="Text 33"/>
          <p:cNvSpPr/>
          <p:nvPr/>
        </p:nvSpPr>
        <p:spPr>
          <a:xfrm>
            <a:off x="460772" y="2961754"/>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36" name="Text 34"/>
          <p:cNvSpPr/>
          <p:nvPr/>
        </p:nvSpPr>
        <p:spPr>
          <a:xfrm>
            <a:off x="3714750" y="2608138"/>
            <a:ext cx="1143000" cy="1143000"/>
          </a:xfrm>
          <a:prstGeom prst="ellipse">
            <a:avLst/>
          </a:prstGeom>
          <a:solidFill>
            <a:srgbClr val="2F44FF">
              <a:alpha val="15000"/>
            </a:srgbClr>
          </a:solidFill>
          <a:ln/>
        </p:spPr>
        <p:txBody>
          <a:bodyPr wrap="square" rtlCol="0" anchor="ctr"/>
          <a:lstStyle/>
          <a:p>
            <a:pPr indent="0" marL="0">
              <a:buNone/>
            </a:pPr>
            <a:endParaRPr lang="en-US" dirty="0"/>
          </a:p>
        </p:txBody>
      </p:sp>
      <p:sp>
        <p:nvSpPr>
          <p:cNvPr id="37" name="Text 35"/>
          <p:cNvSpPr/>
          <p:nvPr/>
        </p:nvSpPr>
        <p:spPr>
          <a:xfrm>
            <a:off x="639366" y="3167137"/>
            <a:ext cx="278606" cy="278606"/>
          </a:xfrm>
          <a:prstGeom prst="roundRect">
            <a:avLst>
              <a:gd name="adj" fmla="val 34188"/>
            </a:avLst>
          </a:prstGeom>
          <a:solidFill>
            <a:srgbClr val="2F44FF">
              <a:alpha val="14000"/>
            </a:srgbClr>
          </a:solidFill>
          <a:ln w="7144">
            <a:solidFill>
              <a:srgbClr val="2F44FF"/>
            </a:solidFill>
            <a:prstDash val="solid"/>
          </a:ln>
        </p:spPr>
        <p:txBody>
          <a:bodyPr wrap="square" rtlCol="0" anchor="ctr"/>
          <a:lstStyle/>
          <a:p>
            <a:pPr indent="0" marL="0">
              <a:buNone/>
            </a:pPr>
            <a:endParaRPr lang="en-US" dirty="0"/>
          </a:p>
        </p:txBody>
      </p:sp>
      <p:sp>
        <p:nvSpPr>
          <p:cNvPr id="38" name="Text 36"/>
          <p:cNvSpPr/>
          <p:nvPr/>
        </p:nvSpPr>
        <p:spPr>
          <a:xfrm>
            <a:off x="635794" y="3163565"/>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7C8AFF"/>
                </a:solidFill>
                <a:latin typeface="Carlito" pitchFamily="34" charset="0"/>
                <a:ea typeface="Carlito" pitchFamily="34" charset="-122"/>
                <a:cs typeface="Carlito" pitchFamily="34" charset="-120"/>
              </a:rPr>
              <a:t>SO</a:t>
            </a:r>
            <a:endParaRPr lang="en-US" sz="844" dirty="0"/>
          </a:p>
        </p:txBody>
      </p:sp>
      <p:sp>
        <p:nvSpPr>
          <p:cNvPr id="39" name="Text 37"/>
          <p:cNvSpPr/>
          <p:nvPr/>
        </p:nvSpPr>
        <p:spPr>
          <a:xfrm>
            <a:off x="1007269" y="3122488"/>
            <a:ext cx="852946"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Sentinel Ops</a:t>
            </a:r>
            <a:endParaRPr lang="en-US" sz="956" dirty="0"/>
          </a:p>
        </p:txBody>
      </p:sp>
      <p:sp>
        <p:nvSpPr>
          <p:cNvPr id="40" name="Text 38"/>
          <p:cNvSpPr/>
          <p:nvPr/>
        </p:nvSpPr>
        <p:spPr>
          <a:xfrm>
            <a:off x="985846" y="3316227"/>
            <a:ext cx="57840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41" name="Text 39"/>
          <p:cNvSpPr/>
          <p:nvPr/>
        </p:nvSpPr>
        <p:spPr>
          <a:xfrm>
            <a:off x="1007269" y="3326085"/>
            <a:ext cx="535558"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DEVTOOLS</a:t>
            </a:r>
            <a:endParaRPr lang="en-US" sz="800" dirty="0"/>
          </a:p>
        </p:txBody>
      </p:sp>
      <p:sp>
        <p:nvSpPr>
          <p:cNvPr id="42" name="Text 40"/>
          <p:cNvSpPr/>
          <p:nvPr/>
        </p:nvSpPr>
        <p:spPr>
          <a:xfrm>
            <a:off x="4171950" y="3227859"/>
            <a:ext cx="157163" cy="157163"/>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43" name="Text 41"/>
          <p:cNvSpPr/>
          <p:nvPr/>
        </p:nvSpPr>
        <p:spPr>
          <a:xfrm>
            <a:off x="635794" y="3590404"/>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Pentest pre-launch found 3 high findings before announce.</a:t>
            </a:r>
            <a:endParaRPr lang="en-US" sz="800" dirty="0"/>
          </a:p>
        </p:txBody>
      </p:sp>
      <p:sp>
        <p:nvSpPr>
          <p:cNvPr id="44" name="Text 42"/>
          <p:cNvSpPr/>
          <p:nvPr/>
        </p:nvSpPr>
        <p:spPr>
          <a:xfrm>
            <a:off x="612934" y="4124099"/>
            <a:ext cx="1494227" cy="254203"/>
          </a:xfrm>
          <a:prstGeom prst="roundRect">
            <a:avLst>
              <a:gd name="adj" fmla="val 29976"/>
            </a:avLst>
          </a:prstGeom>
          <a:solidFill>
            <a:srgbClr val="2F44FF">
              <a:alpha val="10000"/>
            </a:srgbClr>
          </a:solidFill>
          <a:ln w="7144">
            <a:solidFill>
              <a:srgbClr val="2F44FF"/>
            </a:solidFill>
            <a:prstDash val="solid"/>
          </a:ln>
        </p:spPr>
        <p:txBody>
          <a:bodyPr wrap="square" rtlCol="0" anchor="ctr"/>
          <a:lstStyle/>
          <a:p>
            <a:pPr indent="0" marL="0">
              <a:buNone/>
            </a:pPr>
            <a:endParaRPr lang="en-US" dirty="0"/>
          </a:p>
        </p:txBody>
      </p:sp>
      <p:sp>
        <p:nvSpPr>
          <p:cNvPr id="45" name="Text 43"/>
          <p:cNvSpPr/>
          <p:nvPr/>
        </p:nvSpPr>
        <p:spPr>
          <a:xfrm>
            <a:off x="871538" y="4201195"/>
            <a:ext cx="1119894"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7C8AFF"/>
                </a:solidFill>
                <a:latin typeface="Liberation Sans Narrow" pitchFamily="34" charset="0"/>
                <a:ea typeface="Liberation Sans Narrow" pitchFamily="34" charset="-122"/>
                <a:cs typeface="Liberation Sans Narrow" pitchFamily="34" charset="-120"/>
              </a:rPr>
              <a:t>0 criticals at launch</a:t>
            </a:r>
            <a:endParaRPr lang="en-US" sz="800" dirty="0"/>
          </a:p>
        </p:txBody>
      </p:sp>
      <p:sp>
        <p:nvSpPr>
          <p:cNvPr id="46" name="Text 44"/>
          <p:cNvSpPr/>
          <p:nvPr/>
        </p:nvSpPr>
        <p:spPr>
          <a:xfrm>
            <a:off x="728663" y="4201195"/>
            <a:ext cx="100013" cy="100013"/>
          </a:xfrm>
          <a:prstGeom prst="rect">
            <a:avLst/>
          </a:prstGeom>
          <a:noFill/>
          <a:ln/>
        </p:spPr>
        <p:txBody>
          <a:bodyPr wrap="none" lIns="0" tIns="0" rIns="0" bIns="0" rtlCol="0" anchor="ctr"/>
          <a:lstStyle/>
          <a:p>
            <a:pPr algn="ctr" indent="0" marL="0">
              <a:buNone/>
            </a:pPr>
            <a:r>
              <a:rPr lang="en-US" sz="984" dirty="0">
                <a:solidFill>
                  <a:srgbClr val="7C8AFF"/>
                </a:solidFill>
                <a:latin typeface="Segoe UI Symbol" pitchFamily="34" charset="0"/>
                <a:ea typeface="Segoe UI Symbol" pitchFamily="34" charset="-122"/>
                <a:cs typeface="Segoe UI Symbol" pitchFamily="34" charset="-120"/>
              </a:rPr>
              <a:t>✓</a:t>
            </a:r>
            <a:endParaRPr lang="en-US" sz="984" dirty="0"/>
          </a:p>
        </p:txBody>
      </p:sp>
      <p:sp>
        <p:nvSpPr>
          <p:cNvPr id="47" name="Text 45"/>
          <p:cNvSpPr/>
          <p:nvPr/>
        </p:nvSpPr>
        <p:spPr>
          <a:xfrm>
            <a:off x="4639866" y="2961754"/>
            <a:ext cx="4043363" cy="1550194"/>
          </a:xfrm>
          <a:prstGeom prst="roundRect">
            <a:avLst>
              <a:gd name="adj" fmla="val 9831"/>
            </a:avLst>
          </a:prstGeom>
          <a:solidFill>
            <a:srgbClr val="FFFFFF">
              <a:alpha val="2000"/>
            </a:srgbClr>
          </a:solidFill>
          <a:ln w="7144">
            <a:solidFill>
              <a:srgbClr val="FFFFFF"/>
            </a:solidFill>
            <a:prstDash val="solid"/>
          </a:ln>
        </p:spPr>
        <p:txBody>
          <a:bodyPr wrap="square" rtlCol="0" anchor="ctr"/>
          <a:lstStyle/>
          <a:p>
            <a:pPr indent="0" marL="0">
              <a:buNone/>
            </a:pPr>
            <a:endParaRPr lang="en-US" dirty="0"/>
          </a:p>
        </p:txBody>
      </p:sp>
      <p:sp>
        <p:nvSpPr>
          <p:cNvPr id="48" name="Text 46"/>
          <p:cNvSpPr/>
          <p:nvPr/>
        </p:nvSpPr>
        <p:spPr>
          <a:xfrm>
            <a:off x="7893844" y="2608138"/>
            <a:ext cx="1143000" cy="1143000"/>
          </a:xfrm>
          <a:prstGeom prst="ellipse">
            <a:avLst/>
          </a:prstGeom>
          <a:solidFill>
            <a:srgbClr val="8200DF">
              <a:alpha val="15000"/>
            </a:srgbClr>
          </a:solidFill>
          <a:ln/>
        </p:spPr>
        <p:txBody>
          <a:bodyPr wrap="square" rtlCol="0" anchor="ctr"/>
          <a:lstStyle/>
          <a:p>
            <a:pPr indent="0" marL="0">
              <a:buNone/>
            </a:pPr>
            <a:endParaRPr lang="en-US" dirty="0"/>
          </a:p>
        </p:txBody>
      </p:sp>
      <p:sp>
        <p:nvSpPr>
          <p:cNvPr id="49" name="Text 47"/>
          <p:cNvSpPr/>
          <p:nvPr/>
        </p:nvSpPr>
        <p:spPr>
          <a:xfrm>
            <a:off x="4818459" y="3167137"/>
            <a:ext cx="278606" cy="278606"/>
          </a:xfrm>
          <a:prstGeom prst="roundRect">
            <a:avLst>
              <a:gd name="adj" fmla="val 34188"/>
            </a:avLst>
          </a:prstGeom>
          <a:solidFill>
            <a:srgbClr val="8200DF">
              <a:alpha val="14000"/>
            </a:srgbClr>
          </a:solidFill>
          <a:ln w="7144">
            <a:solidFill>
              <a:srgbClr val="8200DF"/>
            </a:solidFill>
            <a:prstDash val="solid"/>
          </a:ln>
        </p:spPr>
        <p:txBody>
          <a:bodyPr wrap="square" rtlCol="0" anchor="ctr"/>
          <a:lstStyle/>
          <a:p>
            <a:pPr indent="0" marL="0">
              <a:buNone/>
            </a:pPr>
            <a:endParaRPr lang="en-US" dirty="0"/>
          </a:p>
        </p:txBody>
      </p:sp>
      <p:sp>
        <p:nvSpPr>
          <p:cNvPr id="50" name="Text 48"/>
          <p:cNvSpPr/>
          <p:nvPr/>
        </p:nvSpPr>
        <p:spPr>
          <a:xfrm>
            <a:off x="4814888" y="3163565"/>
            <a:ext cx="328613" cy="285750"/>
          </a:xfrm>
          <a:prstGeom prst="rect">
            <a:avLst/>
          </a:prstGeom>
          <a:noFill/>
          <a:ln/>
        </p:spPr>
        <p:txBody>
          <a:bodyPr wrap="none" lIns="0" tIns="0" rIns="0" bIns="0" rtlCol="0" anchor="ctr"/>
          <a:lstStyle/>
          <a:p>
            <a:pPr algn="ctr" indent="0" marL="0">
              <a:lnSpc>
                <a:spcPts val="1266"/>
              </a:lnSpc>
              <a:buNone/>
            </a:pPr>
            <a:r>
              <a:rPr lang="en-US" sz="844" b="1" spc="-17" kern="0" dirty="0">
                <a:solidFill>
                  <a:srgbClr val="B866E8"/>
                </a:solidFill>
                <a:latin typeface="Carlito" pitchFamily="34" charset="0"/>
                <a:ea typeface="Carlito" pitchFamily="34" charset="-122"/>
                <a:cs typeface="Carlito" pitchFamily="34" charset="-120"/>
              </a:rPr>
              <a:t>MH</a:t>
            </a:r>
            <a:endParaRPr lang="en-US" sz="844" dirty="0"/>
          </a:p>
        </p:txBody>
      </p:sp>
      <p:sp>
        <p:nvSpPr>
          <p:cNvPr id="51" name="Text 49"/>
          <p:cNvSpPr/>
          <p:nvPr/>
        </p:nvSpPr>
        <p:spPr>
          <a:xfrm>
            <a:off x="5186363" y="3122488"/>
            <a:ext cx="751560" cy="176165"/>
          </a:xfrm>
          <a:prstGeom prst="rect">
            <a:avLst/>
          </a:prstGeom>
          <a:noFill/>
          <a:ln/>
        </p:spPr>
        <p:txBody>
          <a:bodyPr wrap="none" lIns="0" tIns="0" rIns="0" bIns="0" rtlCol="0" anchor="t">
            <a:normAutofit/>
          </a:bodyPr>
          <a:lstStyle/>
          <a:p>
            <a:pPr algn="l" indent="0" marL="0">
              <a:lnSpc>
                <a:spcPts val="1434"/>
              </a:lnSpc>
              <a:buNone/>
            </a:pPr>
            <a:r>
              <a:rPr lang="en-US" sz="956" b="1" spc="-10" kern="0" dirty="0">
                <a:solidFill>
                  <a:srgbClr val="F2F1F1"/>
                </a:solidFill>
                <a:latin typeface="Carlito" pitchFamily="34" charset="0"/>
                <a:ea typeface="Carlito" pitchFamily="34" charset="-122"/>
                <a:cs typeface="Carlito" pitchFamily="34" charset="-120"/>
              </a:rPr>
              <a:t>Mira Health</a:t>
            </a:r>
            <a:endParaRPr lang="en-US" sz="956" dirty="0"/>
          </a:p>
        </p:txBody>
      </p:sp>
      <p:sp>
        <p:nvSpPr>
          <p:cNvPr id="52" name="Text 50"/>
          <p:cNvSpPr/>
          <p:nvPr/>
        </p:nvSpPr>
        <p:spPr>
          <a:xfrm>
            <a:off x="5163503" y="3316227"/>
            <a:ext cx="675933" cy="184023"/>
          </a:xfrm>
          <a:prstGeom prst="roundRect">
            <a:avLst>
              <a:gd name="adj" fmla="val 51754658"/>
            </a:avLst>
          </a:prstGeom>
          <a:solidFill>
            <a:srgbClr val="FFFFFF">
              <a:alpha val="3000"/>
            </a:srgbClr>
          </a:solidFill>
          <a:ln w="7144">
            <a:solidFill>
              <a:srgbClr val="FFFFFF"/>
            </a:solidFill>
            <a:prstDash val="solid"/>
          </a:ln>
        </p:spPr>
        <p:txBody>
          <a:bodyPr wrap="square" rtlCol="0" anchor="ctr"/>
          <a:lstStyle/>
          <a:p>
            <a:pPr indent="0" marL="0">
              <a:buNone/>
            </a:pPr>
            <a:endParaRPr lang="en-US" dirty="0"/>
          </a:p>
        </p:txBody>
      </p:sp>
      <p:sp>
        <p:nvSpPr>
          <p:cNvPr id="53" name="Text 51"/>
          <p:cNvSpPr/>
          <p:nvPr/>
        </p:nvSpPr>
        <p:spPr>
          <a:xfrm>
            <a:off x="5186363" y="3326085"/>
            <a:ext cx="630213" cy="164306"/>
          </a:xfrm>
          <a:prstGeom prst="rect">
            <a:avLst/>
          </a:prstGeom>
          <a:noFill/>
          <a:ln/>
        </p:spPr>
        <p:txBody>
          <a:bodyPr wrap="none" lIns="0" tIns="0" rIns="0" bIns="0" rtlCol="0" anchor="ctr"/>
          <a:lstStyle/>
          <a:p>
            <a:pPr algn="ctr" indent="0" marL="0">
              <a:lnSpc>
                <a:spcPts val="844"/>
              </a:lnSpc>
              <a:buNone/>
            </a:pPr>
            <a:r>
              <a:rPr lang="en-US" sz="800" spc="34" kern="0" dirty="0">
                <a:solidFill>
                  <a:srgbClr val="F2F1F1">
                    <a:alpha val="60000"/>
                  </a:srgbClr>
                </a:solidFill>
                <a:latin typeface="Courier New" pitchFamily="34" charset="0"/>
                <a:ea typeface="Courier New" pitchFamily="34" charset="-122"/>
                <a:cs typeface="Courier New" pitchFamily="34" charset="-120"/>
              </a:rPr>
              <a:t>HEALTHTECH</a:t>
            </a:r>
            <a:endParaRPr lang="en-US" sz="800" dirty="0"/>
          </a:p>
        </p:txBody>
      </p:sp>
      <p:sp>
        <p:nvSpPr>
          <p:cNvPr id="54" name="Text 52"/>
          <p:cNvSpPr/>
          <p:nvPr/>
        </p:nvSpPr>
        <p:spPr>
          <a:xfrm>
            <a:off x="8351044" y="3227859"/>
            <a:ext cx="157163" cy="157163"/>
          </a:xfrm>
          <a:prstGeom prst="rect">
            <a:avLst/>
          </a:prstGeom>
          <a:noFill/>
          <a:ln/>
        </p:spPr>
        <p:txBody>
          <a:bodyPr wrap="none" lIns="0" tIns="0" rIns="0" bIns="0" rtlCol="0" anchor="ctr"/>
          <a:lstStyle/>
          <a:p>
            <a:pPr algn="ctr" indent="0" marL="0">
              <a:buNone/>
            </a:pPr>
            <a:r>
              <a:rPr lang="en-US" sz="1547" dirty="0">
                <a:solidFill>
                  <a:srgbClr val="8200DF"/>
                </a:solidFill>
                <a:latin typeface="Segoe UI Symbol" pitchFamily="34" charset="0"/>
                <a:ea typeface="Segoe UI Symbol" pitchFamily="34" charset="-122"/>
                <a:cs typeface="Segoe UI Symbol" pitchFamily="34" charset="-120"/>
              </a:rPr>
              <a:t>♥</a:t>
            </a:r>
            <a:endParaRPr lang="en-US" sz="1547" dirty="0"/>
          </a:p>
        </p:txBody>
      </p:sp>
      <p:sp>
        <p:nvSpPr>
          <p:cNvPr id="55" name="Text 53"/>
          <p:cNvSpPr/>
          <p:nvPr/>
        </p:nvSpPr>
        <p:spPr>
          <a:xfrm>
            <a:off x="4814888" y="3590404"/>
            <a:ext cx="3693319" cy="508000"/>
          </a:xfrm>
          <a:prstGeom prst="rect">
            <a:avLst/>
          </a:prstGeom>
          <a:noFill/>
          <a:ln/>
        </p:spPr>
        <p:txBody>
          <a:bodyPr wrap="square" lIns="0" tIns="0" rIns="0" bIns="0" rtlCol="0" anchor="t"/>
          <a:lstStyle/>
          <a:p>
            <a:pPr algn="l" indent="0" marL="0">
              <a:lnSpc>
                <a:spcPts val="1177"/>
              </a:lnSpc>
              <a:buNone/>
            </a:pPr>
            <a:r>
              <a:rPr lang="en-US" sz="800" dirty="0">
                <a:solidFill>
                  <a:srgbClr val="F2F1F1">
                    <a:alpha val="60000"/>
                  </a:srgbClr>
                </a:solidFill>
                <a:latin typeface="Carlito" pitchFamily="34" charset="0"/>
                <a:ea typeface="Carlito" pitchFamily="34" charset="-122"/>
                <a:cs typeface="Carlito" pitchFamily="34" charset="-120"/>
              </a:rPr>
              <a:t>Marketing site + patient portal, scanned and shipped.</a:t>
            </a:r>
            <a:endParaRPr lang="en-US" sz="800" dirty="0"/>
          </a:p>
        </p:txBody>
      </p:sp>
      <p:sp>
        <p:nvSpPr>
          <p:cNvPr id="56" name="Text 54"/>
          <p:cNvSpPr/>
          <p:nvPr/>
        </p:nvSpPr>
        <p:spPr>
          <a:xfrm>
            <a:off x="4792028" y="4124099"/>
            <a:ext cx="1494227" cy="254203"/>
          </a:xfrm>
          <a:prstGeom prst="roundRect">
            <a:avLst>
              <a:gd name="adj" fmla="val 29976"/>
            </a:avLst>
          </a:prstGeom>
          <a:solidFill>
            <a:srgbClr val="8200DF">
              <a:alpha val="10000"/>
            </a:srgbClr>
          </a:solidFill>
          <a:ln w="7144">
            <a:solidFill>
              <a:srgbClr val="8200DF"/>
            </a:solidFill>
            <a:prstDash val="solid"/>
          </a:ln>
        </p:spPr>
        <p:txBody>
          <a:bodyPr wrap="square" rtlCol="0" anchor="ctr"/>
          <a:lstStyle/>
          <a:p>
            <a:pPr indent="0" marL="0">
              <a:buNone/>
            </a:pPr>
            <a:endParaRPr lang="en-US" dirty="0"/>
          </a:p>
        </p:txBody>
      </p:sp>
      <p:sp>
        <p:nvSpPr>
          <p:cNvPr id="57" name="Text 55"/>
          <p:cNvSpPr/>
          <p:nvPr/>
        </p:nvSpPr>
        <p:spPr>
          <a:xfrm>
            <a:off x="5050631" y="4201195"/>
            <a:ext cx="1119894" cy="100013"/>
          </a:xfrm>
          <a:prstGeom prst="rect">
            <a:avLst/>
          </a:prstGeom>
          <a:noFill/>
          <a:ln/>
        </p:spPr>
        <p:txBody>
          <a:bodyPr wrap="none" lIns="0" tIns="0" rIns="0" bIns="0" rtlCol="0" anchor="ctr"/>
          <a:lstStyle/>
          <a:p>
            <a:pPr algn="ctr" indent="0" marL="0">
              <a:lnSpc>
                <a:spcPts val="1013"/>
              </a:lnSpc>
              <a:buNone/>
            </a:pPr>
            <a:r>
              <a:rPr lang="en-US" sz="800" spc="14" kern="0" dirty="0">
                <a:solidFill>
                  <a:srgbClr val="B866E8"/>
                </a:solidFill>
                <a:latin typeface="Courier New" pitchFamily="34" charset="0"/>
                <a:ea typeface="Courier New" pitchFamily="34" charset="-122"/>
                <a:cs typeface="Courier New" pitchFamily="34" charset="-120"/>
              </a:rPr>
              <a:t>HIPAA-aligned posture</a:t>
            </a:r>
            <a:endParaRPr lang="en-US" sz="800" dirty="0"/>
          </a:p>
        </p:txBody>
      </p:sp>
      <p:sp>
        <p:nvSpPr>
          <p:cNvPr id="58" name="Text 56"/>
          <p:cNvSpPr/>
          <p:nvPr/>
        </p:nvSpPr>
        <p:spPr>
          <a:xfrm>
            <a:off x="4907756" y="4201195"/>
            <a:ext cx="100013" cy="100013"/>
          </a:xfrm>
          <a:prstGeom prst="rect">
            <a:avLst/>
          </a:prstGeom>
          <a:noFill/>
          <a:ln/>
        </p:spPr>
        <p:txBody>
          <a:bodyPr wrap="none" lIns="0" tIns="0" rIns="0" bIns="0" rtlCol="0" anchor="ctr"/>
          <a:lstStyle/>
          <a:p>
            <a:pPr algn="ctr" indent="0" marL="0">
              <a:buNone/>
            </a:pPr>
            <a:r>
              <a:rPr lang="en-US" sz="984" dirty="0">
                <a:solidFill>
                  <a:srgbClr val="B866E8"/>
                </a:solidFill>
                <a:latin typeface="Segoe UI Symbol" pitchFamily="34" charset="0"/>
                <a:ea typeface="Segoe UI Symbol" pitchFamily="34" charset="-122"/>
                <a:cs typeface="Segoe UI Symbol" pitchFamily="34" charset="-120"/>
              </a:rPr>
              <a:t>⛨</a:t>
            </a:r>
            <a:endParaRPr lang="en-US" sz="984"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12 / 16</a:t>
            </a:r>
            <a:endParaRPr lang="en-US" sz="800" dirty="0"/>
          </a:p>
        </p:txBody>
      </p:sp>
      <p:sp>
        <p:nvSpPr>
          <p:cNvPr id="4" name="Text 2"/>
          <p:cNvSpPr/>
          <p:nvPr/>
        </p:nvSpPr>
        <p:spPr>
          <a:xfrm>
            <a:off x="7286625" y="-857250"/>
            <a:ext cx="2714625" cy="2714625"/>
          </a:xfrm>
          <a:prstGeom prst="ellipse">
            <a:avLst/>
          </a:prstGeom>
          <a:solidFill>
            <a:srgbClr val="91E500">
              <a:alpha val="6000"/>
            </a:srgbClr>
          </a:solidFill>
          <a:ln/>
        </p:spPr>
        <p:txBody>
          <a:bodyPr wrap="square" rtlCol="0" anchor="ctr"/>
          <a:lstStyle/>
          <a:p>
            <a:pPr indent="0" marL="0">
              <a:buNone/>
            </a:pPr>
            <a:endParaRPr lang="en-US" dirty="0"/>
          </a:p>
        </p:txBody>
      </p:sp>
      <p:sp>
        <p:nvSpPr>
          <p:cNvPr id="5" name="Text 3"/>
          <p:cNvSpPr/>
          <p:nvPr/>
        </p:nvSpPr>
        <p:spPr>
          <a:xfrm>
            <a:off x="434340" y="472973"/>
            <a:ext cx="720581"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566142"/>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485775"/>
            <a:ext cx="67486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PRICING</a:t>
            </a:r>
            <a:endParaRPr lang="en-US" sz="800" dirty="0"/>
          </a:p>
        </p:txBody>
      </p:sp>
      <p:sp>
        <p:nvSpPr>
          <p:cNvPr id="8" name="Text 6"/>
          <p:cNvSpPr/>
          <p:nvPr/>
        </p:nvSpPr>
        <p:spPr>
          <a:xfrm>
            <a:off x="457200" y="789384"/>
            <a:ext cx="8229600" cy="305476"/>
          </a:xfrm>
          <a:prstGeom prst="rect">
            <a:avLst/>
          </a:prstGeom>
          <a:noFill/>
          <a:ln/>
        </p:spPr>
        <p:txBody>
          <a:bodyPr wrap="squar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Start free. Scale when you ship.</a:t>
            </a:r>
            <a:endParaRPr lang="en-US" sz="2025" dirty="0"/>
          </a:p>
        </p:txBody>
      </p:sp>
      <p:sp>
        <p:nvSpPr>
          <p:cNvPr id="9" name="Text 7"/>
          <p:cNvSpPr/>
          <p:nvPr/>
        </p:nvSpPr>
        <p:spPr>
          <a:xfrm>
            <a:off x="460772" y="1275829"/>
            <a:ext cx="1975247" cy="2553891"/>
          </a:xfrm>
          <a:prstGeom prst="roundRect">
            <a:avLst>
              <a:gd name="adj" fmla="val 771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0" name="Text 8"/>
          <p:cNvSpPr/>
          <p:nvPr/>
        </p:nvSpPr>
        <p:spPr>
          <a:xfrm>
            <a:off x="607219" y="1436563"/>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F2F1F1">
                    <a:alpha val="60000"/>
                  </a:srgbClr>
                </a:solidFill>
                <a:latin typeface="Carlito" pitchFamily="34" charset="0"/>
                <a:ea typeface="Carlito" pitchFamily="34" charset="-122"/>
                <a:cs typeface="Carlito" pitchFamily="34" charset="-120"/>
              </a:rPr>
              <a:t>FREE TRIAL</a:t>
            </a:r>
            <a:endParaRPr lang="en-US" sz="800" dirty="0"/>
          </a:p>
        </p:txBody>
      </p:sp>
      <p:sp>
        <p:nvSpPr>
          <p:cNvPr id="11" name="Text 9"/>
          <p:cNvSpPr/>
          <p:nvPr/>
        </p:nvSpPr>
        <p:spPr>
          <a:xfrm>
            <a:off x="607219" y="1675879"/>
            <a:ext cx="514886"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F2F1F1"/>
                </a:solidFill>
                <a:latin typeface="Carlito" pitchFamily="34" charset="0"/>
                <a:ea typeface="Carlito" pitchFamily="34" charset="-122"/>
                <a:cs typeface="Carlito" pitchFamily="34" charset="-120"/>
              </a:rPr>
              <a:t>$0</a:t>
            </a:r>
            <a:endParaRPr lang="en-US" sz="2363" dirty="0"/>
          </a:p>
        </p:txBody>
      </p:sp>
      <p:sp>
        <p:nvSpPr>
          <p:cNvPr id="12" name="Text 10"/>
          <p:cNvSpPr/>
          <p:nvPr/>
        </p:nvSpPr>
        <p:spPr>
          <a:xfrm>
            <a:off x="957597" y="1825898"/>
            <a:ext cx="1331975"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Liberation Sans Narrow" pitchFamily="34" charset="0"/>
                <a:ea typeface="Liberation Sans Narrow" pitchFamily="34" charset="-122"/>
                <a:cs typeface="Liberation Sans Narrow" pitchFamily="34" charset="-120"/>
              </a:rPr>
              <a:t>/14 days</a:t>
            </a:r>
            <a:endParaRPr lang="en-US" sz="800" dirty="0"/>
          </a:p>
        </p:txBody>
      </p:sp>
      <p:sp>
        <p:nvSpPr>
          <p:cNvPr id="13" name="Text 11"/>
          <p:cNvSpPr/>
          <p:nvPr/>
        </p:nvSpPr>
        <p:spPr>
          <a:xfrm>
            <a:off x="607219" y="2061642"/>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Every suite, 5 generations. No card required.</a:t>
            </a:r>
            <a:endParaRPr lang="en-US" sz="800" dirty="0"/>
          </a:p>
        </p:txBody>
      </p:sp>
      <p:sp>
        <p:nvSpPr>
          <p:cNvPr id="14" name="Text 12"/>
          <p:cNvSpPr/>
          <p:nvPr/>
        </p:nvSpPr>
        <p:spPr>
          <a:xfrm>
            <a:off x="607219" y="2547417"/>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15" name="Text 13"/>
          <p:cNvSpPr/>
          <p:nvPr/>
        </p:nvSpPr>
        <p:spPr>
          <a:xfrm>
            <a:off x="607219" y="2683148"/>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16" name="Text 14"/>
          <p:cNvSpPr/>
          <p:nvPr/>
        </p:nvSpPr>
        <p:spPr>
          <a:xfrm>
            <a:off x="764381" y="266886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Full access 14 days</a:t>
            </a:r>
            <a:endParaRPr lang="en-US" sz="800" dirty="0"/>
          </a:p>
        </p:txBody>
      </p:sp>
      <p:sp>
        <p:nvSpPr>
          <p:cNvPr id="17" name="Text 15"/>
          <p:cNvSpPr/>
          <p:nvPr/>
        </p:nvSpPr>
        <p:spPr>
          <a:xfrm>
            <a:off x="607219" y="2858170"/>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18" name="Text 16"/>
          <p:cNvSpPr/>
          <p:nvPr/>
        </p:nvSpPr>
        <p:spPr>
          <a:xfrm>
            <a:off x="764381" y="2843882"/>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Every suite</a:t>
            </a:r>
            <a:endParaRPr lang="en-US" sz="800" dirty="0"/>
          </a:p>
        </p:txBody>
      </p:sp>
      <p:sp>
        <p:nvSpPr>
          <p:cNvPr id="19" name="Text 17"/>
          <p:cNvSpPr/>
          <p:nvPr/>
        </p:nvSpPr>
        <p:spPr>
          <a:xfrm>
            <a:off x="607219" y="3033192"/>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20" name="Text 18"/>
          <p:cNvSpPr/>
          <p:nvPr/>
        </p:nvSpPr>
        <p:spPr>
          <a:xfrm>
            <a:off x="764381" y="3018904"/>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5 generations</a:t>
            </a:r>
            <a:endParaRPr lang="en-US" sz="800" dirty="0"/>
          </a:p>
        </p:txBody>
      </p:sp>
      <p:sp>
        <p:nvSpPr>
          <p:cNvPr id="21" name="Text 19"/>
          <p:cNvSpPr/>
          <p:nvPr/>
        </p:nvSpPr>
        <p:spPr>
          <a:xfrm>
            <a:off x="607219" y="320821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22" name="Text 20"/>
          <p:cNvSpPr/>
          <p:nvPr/>
        </p:nvSpPr>
        <p:spPr>
          <a:xfrm>
            <a:off x="764381" y="3193926"/>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Community support</a:t>
            </a:r>
            <a:endParaRPr lang="en-US" sz="800" dirty="0"/>
          </a:p>
        </p:txBody>
      </p:sp>
      <p:sp>
        <p:nvSpPr>
          <p:cNvPr id="23" name="Text 21"/>
          <p:cNvSpPr/>
          <p:nvPr/>
        </p:nvSpPr>
        <p:spPr>
          <a:xfrm>
            <a:off x="2543175" y="1275829"/>
            <a:ext cx="1975247" cy="2553891"/>
          </a:xfrm>
          <a:prstGeom prst="roundRect">
            <a:avLst>
              <a:gd name="adj" fmla="val 771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4" name="Text 22"/>
          <p:cNvSpPr/>
          <p:nvPr/>
        </p:nvSpPr>
        <p:spPr>
          <a:xfrm>
            <a:off x="2689622" y="1436563"/>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F2F1F1">
                    <a:alpha val="60000"/>
                  </a:srgbClr>
                </a:solidFill>
                <a:latin typeface="Carlito" pitchFamily="34" charset="0"/>
                <a:ea typeface="Carlito" pitchFamily="34" charset="-122"/>
                <a:cs typeface="Carlito" pitchFamily="34" charset="-120"/>
              </a:rPr>
              <a:t>STARTER</a:t>
            </a:r>
            <a:endParaRPr lang="en-US" sz="800" dirty="0"/>
          </a:p>
        </p:txBody>
      </p:sp>
      <p:sp>
        <p:nvSpPr>
          <p:cNvPr id="25" name="Text 23"/>
          <p:cNvSpPr/>
          <p:nvPr/>
        </p:nvSpPr>
        <p:spPr>
          <a:xfrm>
            <a:off x="2689622" y="1675879"/>
            <a:ext cx="772239"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F2F1F1"/>
                </a:solidFill>
                <a:latin typeface="Liberation Sans Narrow" pitchFamily="34" charset="0"/>
                <a:ea typeface="Liberation Sans Narrow" pitchFamily="34" charset="-122"/>
                <a:cs typeface="Liberation Sans Narrow" pitchFamily="34" charset="-120"/>
              </a:rPr>
              <a:t>$29</a:t>
            </a:r>
            <a:endParaRPr lang="en-US" sz="2363" dirty="0"/>
          </a:p>
        </p:txBody>
      </p:sp>
      <p:sp>
        <p:nvSpPr>
          <p:cNvPr id="26" name="Text 24"/>
          <p:cNvSpPr/>
          <p:nvPr/>
        </p:nvSpPr>
        <p:spPr>
          <a:xfrm>
            <a:off x="3200846" y="1825898"/>
            <a:ext cx="1171129"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/month</a:t>
            </a:r>
            <a:endParaRPr lang="en-US" sz="800" dirty="0"/>
          </a:p>
        </p:txBody>
      </p:sp>
      <p:sp>
        <p:nvSpPr>
          <p:cNvPr id="27" name="Text 25"/>
          <p:cNvSpPr/>
          <p:nvPr/>
        </p:nvSpPr>
        <p:spPr>
          <a:xfrm>
            <a:off x="2689622" y="2061642"/>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Ship one polished landing site or MVP per month.</a:t>
            </a:r>
            <a:endParaRPr lang="en-US" sz="800" dirty="0"/>
          </a:p>
        </p:txBody>
      </p:sp>
      <p:sp>
        <p:nvSpPr>
          <p:cNvPr id="28" name="Text 26"/>
          <p:cNvSpPr/>
          <p:nvPr/>
        </p:nvSpPr>
        <p:spPr>
          <a:xfrm>
            <a:off x="2689622" y="2547417"/>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29" name="Text 27"/>
          <p:cNvSpPr/>
          <p:nvPr/>
        </p:nvSpPr>
        <p:spPr>
          <a:xfrm>
            <a:off x="2689622" y="2683148"/>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0" name="Text 28"/>
          <p:cNvSpPr/>
          <p:nvPr/>
        </p:nvSpPr>
        <p:spPr>
          <a:xfrm>
            <a:off x="2846784" y="266886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Flow access</a:t>
            </a:r>
            <a:endParaRPr lang="en-US" sz="800" dirty="0"/>
          </a:p>
        </p:txBody>
      </p:sp>
      <p:sp>
        <p:nvSpPr>
          <p:cNvPr id="31" name="Text 29"/>
          <p:cNvSpPr/>
          <p:nvPr/>
        </p:nvSpPr>
        <p:spPr>
          <a:xfrm>
            <a:off x="2689622" y="2858170"/>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2" name="Text 30"/>
          <p:cNvSpPr/>
          <p:nvPr/>
        </p:nvSpPr>
        <p:spPr>
          <a:xfrm>
            <a:off x="2846784" y="2843882"/>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75 credits/mo</a:t>
            </a:r>
            <a:endParaRPr lang="en-US" sz="800" dirty="0"/>
          </a:p>
        </p:txBody>
      </p:sp>
      <p:sp>
        <p:nvSpPr>
          <p:cNvPr id="33" name="Text 31"/>
          <p:cNvSpPr/>
          <p:nvPr/>
        </p:nvSpPr>
        <p:spPr>
          <a:xfrm>
            <a:off x="2689622" y="3033192"/>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4" name="Text 32"/>
          <p:cNvSpPr/>
          <p:nvPr/>
        </p:nvSpPr>
        <p:spPr>
          <a:xfrm>
            <a:off x="2846784" y="3018904"/>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2 team members</a:t>
            </a:r>
            <a:endParaRPr lang="en-US" sz="800" dirty="0"/>
          </a:p>
        </p:txBody>
      </p:sp>
      <p:sp>
        <p:nvSpPr>
          <p:cNvPr id="35" name="Text 33"/>
          <p:cNvSpPr/>
          <p:nvPr/>
        </p:nvSpPr>
        <p:spPr>
          <a:xfrm>
            <a:off x="2689622" y="320821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6" name="Text 34"/>
          <p:cNvSpPr/>
          <p:nvPr/>
        </p:nvSpPr>
        <p:spPr>
          <a:xfrm>
            <a:off x="2846784" y="3193926"/>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Custom domain</a:t>
            </a:r>
            <a:endParaRPr lang="en-US" sz="800" dirty="0"/>
          </a:p>
        </p:txBody>
      </p:sp>
      <p:sp>
        <p:nvSpPr>
          <p:cNvPr id="37" name="Text 35"/>
          <p:cNvSpPr/>
          <p:nvPr/>
        </p:nvSpPr>
        <p:spPr>
          <a:xfrm>
            <a:off x="2689622" y="3383235"/>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38" name="Text 36"/>
          <p:cNvSpPr/>
          <p:nvPr/>
        </p:nvSpPr>
        <p:spPr>
          <a:xfrm>
            <a:off x="2846784" y="3368948"/>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Email support</a:t>
            </a:r>
            <a:endParaRPr lang="en-US" sz="800" dirty="0"/>
          </a:p>
        </p:txBody>
      </p:sp>
      <p:pic>
        <p:nvPicPr>
          <p:cNvPr id="39" name="Image 0" descr="preencoded.png">    </p:cNvPr>
          <p:cNvPicPr>
            <a:picLocks noChangeAspect="1"/>
          </p:cNvPicPr>
          <p:nvPr/>
        </p:nvPicPr>
        <p:blipFill>
          <a:blip r:embed="rId1"/>
          <a:stretch>
            <a:fillRect/>
          </a:stretch>
        </p:blipFill>
        <p:spPr>
          <a:xfrm>
            <a:off x="4622006" y="1229395"/>
            <a:ext cx="1982391" cy="2561034"/>
          </a:xfrm>
          <a:prstGeom prst="rect">
            <a:avLst/>
          </a:prstGeom>
        </p:spPr>
      </p:pic>
      <p:sp>
        <p:nvSpPr>
          <p:cNvPr id="40" name="Text 37"/>
          <p:cNvSpPr/>
          <p:nvPr/>
        </p:nvSpPr>
        <p:spPr>
          <a:xfrm>
            <a:off x="4625578" y="1232967"/>
            <a:ext cx="1975247" cy="2553891"/>
          </a:xfrm>
          <a:prstGeom prst="rect">
            <a:avLst/>
          </a:prstGeom>
          <a:noFill/>
          <a:ln w="7144">
            <a:solidFill>
              <a:srgbClr val="FFFFFF"/>
            </a:solidFill>
            <a:prstDash val="solid"/>
          </a:ln>
          <a:effectLst>
            <a:outerShdw sx="100000" sy="100000" kx="0" ky="0" algn="bl" rotWithShape="0" blurRad="304800" dist="50800" dir="16200000">
              <a:srgbClr val="91E500">
                <a:alpha val="8000"/>
              </a:srgbClr>
            </a:outerShdw>
          </a:effectLst>
        </p:spPr>
        <p:txBody>
          <a:bodyPr wrap="square" rtlCol="0" anchor="ctr"/>
          <a:lstStyle/>
          <a:p>
            <a:pPr indent="0" marL="0">
              <a:buNone/>
            </a:pPr>
            <a:endParaRPr lang="en-US" dirty="0"/>
          </a:p>
        </p:txBody>
      </p:sp>
      <p:pic>
        <p:nvPicPr>
          <p:cNvPr id="41" name="Image 1" descr="preencoded.png">    </p:cNvPr>
          <p:cNvPicPr>
            <a:picLocks noChangeAspect="1"/>
          </p:cNvPicPr>
          <p:nvPr/>
        </p:nvPicPr>
        <p:blipFill>
          <a:blip r:embed="rId2"/>
          <a:stretch>
            <a:fillRect/>
          </a:stretch>
        </p:blipFill>
        <p:spPr>
          <a:xfrm>
            <a:off x="5237485" y="1157957"/>
            <a:ext cx="751433" cy="158948"/>
          </a:xfrm>
          <a:prstGeom prst="rect">
            <a:avLst/>
          </a:prstGeom>
        </p:spPr>
      </p:pic>
      <p:sp>
        <p:nvSpPr>
          <p:cNvPr id="42" name="Text 38"/>
          <p:cNvSpPr/>
          <p:nvPr/>
        </p:nvSpPr>
        <p:spPr>
          <a:xfrm>
            <a:off x="5237485" y="1157957"/>
            <a:ext cx="751433" cy="158948"/>
          </a:xfrm>
          <a:prstGeom prst="rect">
            <a:avLst/>
          </a:prstGeom>
          <a:noFill/>
          <a:ln/>
        </p:spPr>
        <p:txBody>
          <a:bodyPr wrap="none" lIns="0" tIns="0" rIns="0" bIns="0" rtlCol="0" anchor="ctr"/>
          <a:lstStyle/>
          <a:p>
            <a:pPr algn="ctr" indent="0" marL="0">
              <a:lnSpc>
                <a:spcPts val="802"/>
              </a:lnSpc>
              <a:buNone/>
            </a:pPr>
            <a:r>
              <a:rPr lang="en-US" sz="800" b="1" spc="53" kern="0" dirty="0">
                <a:solidFill>
                  <a:srgbClr val="0A0A0F"/>
                </a:solidFill>
                <a:latin typeface="Carlito" pitchFamily="34" charset="0"/>
                <a:ea typeface="Carlito" pitchFamily="34" charset="-122"/>
                <a:cs typeface="Carlito" pitchFamily="34" charset="-120"/>
              </a:rPr>
              <a:t>MOST CHOSEN</a:t>
            </a:r>
            <a:endParaRPr lang="en-US" sz="800" dirty="0"/>
          </a:p>
        </p:txBody>
      </p:sp>
      <p:sp>
        <p:nvSpPr>
          <p:cNvPr id="43" name="Text 39"/>
          <p:cNvSpPr/>
          <p:nvPr/>
        </p:nvSpPr>
        <p:spPr>
          <a:xfrm>
            <a:off x="4772025" y="1393701"/>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91E500"/>
                </a:solidFill>
                <a:latin typeface="Carlito" pitchFamily="34" charset="0"/>
                <a:ea typeface="Carlito" pitchFamily="34" charset="-122"/>
                <a:cs typeface="Carlito" pitchFamily="34" charset="-120"/>
              </a:rPr>
              <a:t>PRO</a:t>
            </a:r>
            <a:endParaRPr lang="en-US" sz="800" dirty="0"/>
          </a:p>
        </p:txBody>
      </p:sp>
      <p:sp>
        <p:nvSpPr>
          <p:cNvPr id="44" name="Text 40"/>
          <p:cNvSpPr/>
          <p:nvPr/>
        </p:nvSpPr>
        <p:spPr>
          <a:xfrm>
            <a:off x="4772025" y="1633017"/>
            <a:ext cx="772239"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2F44FF"/>
                </a:solidFill>
                <a:latin typeface="Liberation Sans Narrow" pitchFamily="34" charset="0"/>
                <a:ea typeface="Liberation Sans Narrow" pitchFamily="34" charset="-122"/>
                <a:cs typeface="Liberation Sans Narrow" pitchFamily="34" charset="-120"/>
              </a:rPr>
              <a:t>$99</a:t>
            </a:r>
            <a:endParaRPr lang="en-US" sz="2363" dirty="0"/>
          </a:p>
        </p:txBody>
      </p:sp>
      <p:sp>
        <p:nvSpPr>
          <p:cNvPr id="45" name="Text 41"/>
          <p:cNvSpPr/>
          <p:nvPr/>
        </p:nvSpPr>
        <p:spPr>
          <a:xfrm>
            <a:off x="5283250" y="1783035"/>
            <a:ext cx="1171129"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/month</a:t>
            </a:r>
            <a:endParaRPr lang="en-US" sz="800" dirty="0"/>
          </a:p>
        </p:txBody>
      </p:sp>
      <p:sp>
        <p:nvSpPr>
          <p:cNvPr id="46" name="Text 42"/>
          <p:cNvSpPr/>
          <p:nvPr/>
        </p:nvSpPr>
        <p:spPr>
          <a:xfrm>
            <a:off x="4772025" y="2018779"/>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Build and iterate a full product or run agency work.</a:t>
            </a:r>
            <a:endParaRPr lang="en-US" sz="800" dirty="0"/>
          </a:p>
        </p:txBody>
      </p:sp>
      <p:sp>
        <p:nvSpPr>
          <p:cNvPr id="47" name="Text 43"/>
          <p:cNvSpPr/>
          <p:nvPr/>
        </p:nvSpPr>
        <p:spPr>
          <a:xfrm>
            <a:off x="4772025" y="2504554"/>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48" name="Text 44"/>
          <p:cNvSpPr/>
          <p:nvPr/>
        </p:nvSpPr>
        <p:spPr>
          <a:xfrm>
            <a:off x="4772025" y="2640285"/>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49" name="Text 45"/>
          <p:cNvSpPr/>
          <p:nvPr/>
        </p:nvSpPr>
        <p:spPr>
          <a:xfrm>
            <a:off x="4929188" y="2625998"/>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Flow — pages + apps</a:t>
            </a:r>
            <a:endParaRPr lang="en-US" sz="800" dirty="0"/>
          </a:p>
        </p:txBody>
      </p:sp>
      <p:sp>
        <p:nvSpPr>
          <p:cNvPr id="50" name="Text 46"/>
          <p:cNvSpPr/>
          <p:nvPr/>
        </p:nvSpPr>
        <p:spPr>
          <a:xfrm>
            <a:off x="4772025" y="2815307"/>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1" name="Text 47"/>
          <p:cNvSpPr/>
          <p:nvPr/>
        </p:nvSpPr>
        <p:spPr>
          <a:xfrm>
            <a:off x="4929188" y="280102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350 credits/mo</a:t>
            </a:r>
            <a:endParaRPr lang="en-US" sz="800" dirty="0"/>
          </a:p>
        </p:txBody>
      </p:sp>
      <p:sp>
        <p:nvSpPr>
          <p:cNvPr id="52" name="Text 48"/>
          <p:cNvSpPr/>
          <p:nvPr/>
        </p:nvSpPr>
        <p:spPr>
          <a:xfrm>
            <a:off x="4772025" y="2990329"/>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3" name="Text 49"/>
          <p:cNvSpPr/>
          <p:nvPr/>
        </p:nvSpPr>
        <p:spPr>
          <a:xfrm>
            <a:off x="4929188" y="2976042"/>
            <a:ext cx="1525191" cy="153619"/>
          </a:xfrm>
          <a:prstGeom prst="rect">
            <a:avLst/>
          </a:prstGeom>
          <a:noFill/>
          <a:ln/>
        </p:spPr>
        <p:txBody>
          <a:bodyPr wrap="non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10 team members</a:t>
            </a:r>
            <a:endParaRPr lang="en-US" sz="800" dirty="0"/>
          </a:p>
        </p:txBody>
      </p:sp>
      <p:sp>
        <p:nvSpPr>
          <p:cNvPr id="54" name="Text 50"/>
          <p:cNvSpPr/>
          <p:nvPr/>
        </p:nvSpPr>
        <p:spPr>
          <a:xfrm>
            <a:off x="4772025" y="3165351"/>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5" name="Text 51"/>
          <p:cNvSpPr/>
          <p:nvPr/>
        </p:nvSpPr>
        <p:spPr>
          <a:xfrm>
            <a:off x="4929188" y="3151063"/>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Deploy to production</a:t>
            </a:r>
            <a:endParaRPr lang="en-US" sz="800" dirty="0"/>
          </a:p>
        </p:txBody>
      </p:sp>
      <p:sp>
        <p:nvSpPr>
          <p:cNvPr id="56" name="Text 52"/>
          <p:cNvSpPr/>
          <p:nvPr/>
        </p:nvSpPr>
        <p:spPr>
          <a:xfrm>
            <a:off x="4772025" y="334037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57" name="Text 53"/>
          <p:cNvSpPr/>
          <p:nvPr/>
        </p:nvSpPr>
        <p:spPr>
          <a:xfrm>
            <a:off x="4929188" y="3326085"/>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Priority support</a:t>
            </a:r>
            <a:endParaRPr lang="en-US" sz="800" dirty="0"/>
          </a:p>
        </p:txBody>
      </p:sp>
      <p:sp>
        <p:nvSpPr>
          <p:cNvPr id="58" name="Text 54"/>
          <p:cNvSpPr/>
          <p:nvPr/>
        </p:nvSpPr>
        <p:spPr>
          <a:xfrm>
            <a:off x="6707981" y="1275829"/>
            <a:ext cx="1975247" cy="2553891"/>
          </a:xfrm>
          <a:prstGeom prst="roundRect">
            <a:avLst>
              <a:gd name="adj" fmla="val 7715"/>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59" name="Text 55"/>
          <p:cNvSpPr/>
          <p:nvPr/>
        </p:nvSpPr>
        <p:spPr>
          <a:xfrm>
            <a:off x="6854428" y="1436563"/>
            <a:ext cx="1682353" cy="164592"/>
          </a:xfrm>
          <a:prstGeom prst="rect">
            <a:avLst/>
          </a:prstGeom>
          <a:noFill/>
          <a:ln/>
        </p:spPr>
        <p:txBody>
          <a:bodyPr wrap="none" lIns="0" tIns="0" rIns="0" bIns="0" rtlCol="0" anchor="t"/>
          <a:lstStyle/>
          <a:p>
            <a:pPr algn="l" indent="0" marL="0">
              <a:lnSpc>
                <a:spcPts val="1097"/>
              </a:lnSpc>
              <a:buNone/>
            </a:pPr>
            <a:r>
              <a:rPr lang="en-US" sz="800" b="1" spc="59" kern="0" dirty="0">
                <a:solidFill>
                  <a:srgbClr val="F2F1F1">
                    <a:alpha val="60000"/>
                  </a:srgbClr>
                </a:solidFill>
                <a:latin typeface="Carlito" pitchFamily="34" charset="0"/>
                <a:ea typeface="Carlito" pitchFamily="34" charset="-122"/>
                <a:cs typeface="Carlito" pitchFamily="34" charset="-120"/>
              </a:rPr>
              <a:t>ENTERPRISE</a:t>
            </a:r>
            <a:endParaRPr lang="en-US" sz="800" dirty="0"/>
          </a:p>
        </p:txBody>
      </p:sp>
      <p:sp>
        <p:nvSpPr>
          <p:cNvPr id="60" name="Text 56"/>
          <p:cNvSpPr/>
          <p:nvPr/>
        </p:nvSpPr>
        <p:spPr>
          <a:xfrm>
            <a:off x="6854428" y="1675879"/>
            <a:ext cx="1029593" cy="324041"/>
          </a:xfrm>
          <a:prstGeom prst="rect">
            <a:avLst/>
          </a:prstGeom>
          <a:noFill/>
          <a:ln/>
        </p:spPr>
        <p:txBody>
          <a:bodyPr wrap="none" lIns="0" tIns="0" rIns="0" bIns="0" rtlCol="0" anchor="t"/>
          <a:lstStyle/>
          <a:p>
            <a:pPr algn="l" indent="0" marL="0">
              <a:lnSpc>
                <a:spcPts val="2363"/>
              </a:lnSpc>
              <a:buNone/>
            </a:pPr>
            <a:r>
              <a:rPr lang="en-US" sz="2363" b="1" spc="-47" kern="0" dirty="0">
                <a:solidFill>
                  <a:srgbClr val="F2F1F1"/>
                </a:solidFill>
                <a:latin typeface="Liberation Sans Narrow" pitchFamily="34" charset="0"/>
                <a:ea typeface="Liberation Sans Narrow" pitchFamily="34" charset="-122"/>
                <a:cs typeface="Liberation Sans Narrow" pitchFamily="34" charset="-120"/>
              </a:rPr>
              <a:t>$299</a:t>
            </a:r>
            <a:endParaRPr lang="en-US" sz="2363" dirty="0"/>
          </a:p>
        </p:txBody>
      </p:sp>
      <p:sp>
        <p:nvSpPr>
          <p:cNvPr id="61" name="Text 57"/>
          <p:cNvSpPr/>
          <p:nvPr/>
        </p:nvSpPr>
        <p:spPr>
          <a:xfrm>
            <a:off x="7526499" y="1825898"/>
            <a:ext cx="1010283" cy="164592"/>
          </a:xfrm>
          <a:prstGeom prst="rect">
            <a:avLst/>
          </a:prstGeom>
          <a:noFill/>
          <a:ln/>
        </p:spPr>
        <p:txBody>
          <a:bodyPr wrap="none" lIns="0" tIns="0" rIns="0" bIns="0" rtlCol="0" anchor="t"/>
          <a:lstStyle/>
          <a:p>
            <a:pPr algn="l"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/month</a:t>
            </a:r>
            <a:endParaRPr lang="en-US" sz="800" dirty="0"/>
          </a:p>
        </p:txBody>
      </p:sp>
      <p:sp>
        <p:nvSpPr>
          <p:cNvPr id="62" name="Text 58"/>
          <p:cNvSpPr/>
          <p:nvPr/>
        </p:nvSpPr>
        <p:spPr>
          <a:xfrm>
            <a:off x="6854428" y="2061642"/>
            <a:ext cx="1682353" cy="491581"/>
          </a:xfrm>
          <a:prstGeom prst="rect">
            <a:avLst/>
          </a:prstGeom>
          <a:noFill/>
          <a:ln/>
        </p:spPr>
        <p:txBody>
          <a:bodyPr wrap="square" lIns="0" tIns="0" rIns="0" bIns="0" rtlCol="0" anchor="t"/>
          <a:lstStyle/>
          <a:p>
            <a:pPr algn="l" indent="0" marL="0">
              <a:lnSpc>
                <a:spcPts val="1055"/>
              </a:lnSpc>
              <a:buNone/>
            </a:pPr>
            <a:r>
              <a:rPr lang="en-US" sz="800" dirty="0">
                <a:solidFill>
                  <a:srgbClr val="F2F1F1">
                    <a:alpha val="60000"/>
                  </a:srgbClr>
                </a:solidFill>
                <a:latin typeface="Carlito" pitchFamily="34" charset="0"/>
                <a:ea typeface="Carlito" pitchFamily="34" charset="-122"/>
                <a:cs typeface="Carlito" pitchFamily="34" charset="-120"/>
              </a:rPr>
              <a:t>Run Flow + Pentest + Search with unlimited seats.</a:t>
            </a:r>
            <a:endParaRPr lang="en-US" sz="800" dirty="0"/>
          </a:p>
        </p:txBody>
      </p:sp>
      <p:sp>
        <p:nvSpPr>
          <p:cNvPr id="63" name="Text 59"/>
          <p:cNvSpPr/>
          <p:nvPr/>
        </p:nvSpPr>
        <p:spPr>
          <a:xfrm>
            <a:off x="6854428" y="2547417"/>
            <a:ext cx="1682353" cy="7144"/>
          </a:xfrm>
          <a:prstGeom prst="rect">
            <a:avLst/>
          </a:prstGeom>
          <a:solidFill>
            <a:srgbClr val="FFFFFF">
              <a:alpha val="8000"/>
            </a:srgbClr>
          </a:solidFill>
          <a:ln/>
        </p:spPr>
        <p:txBody>
          <a:bodyPr wrap="square" rtlCol="0" anchor="ctr"/>
          <a:lstStyle/>
          <a:p>
            <a:pPr indent="0" marL="0">
              <a:buNone/>
            </a:pPr>
            <a:endParaRPr lang="en-US" dirty="0"/>
          </a:p>
        </p:txBody>
      </p:sp>
      <p:sp>
        <p:nvSpPr>
          <p:cNvPr id="64" name="Text 60"/>
          <p:cNvSpPr/>
          <p:nvPr/>
        </p:nvSpPr>
        <p:spPr>
          <a:xfrm>
            <a:off x="6854428" y="2683148"/>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65" name="Text 61"/>
          <p:cNvSpPr/>
          <p:nvPr/>
        </p:nvSpPr>
        <p:spPr>
          <a:xfrm>
            <a:off x="7011591" y="2668860"/>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Flow + Pentest + Search</a:t>
            </a:r>
            <a:endParaRPr lang="en-US" sz="800" dirty="0"/>
          </a:p>
        </p:txBody>
      </p:sp>
      <p:sp>
        <p:nvSpPr>
          <p:cNvPr id="66" name="Text 62"/>
          <p:cNvSpPr/>
          <p:nvPr/>
        </p:nvSpPr>
        <p:spPr>
          <a:xfrm>
            <a:off x="6854428" y="2858170"/>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67" name="Text 63"/>
          <p:cNvSpPr/>
          <p:nvPr/>
        </p:nvSpPr>
        <p:spPr>
          <a:xfrm>
            <a:off x="7011591" y="2843882"/>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Liberation Sans Narrow" pitchFamily="34" charset="0"/>
                <a:ea typeface="Liberation Sans Narrow" pitchFamily="34" charset="-122"/>
                <a:cs typeface="Liberation Sans Narrow" pitchFamily="34" charset="-120"/>
              </a:rPr>
              <a:t>1,200 credits/mo</a:t>
            </a:r>
            <a:endParaRPr lang="en-US" sz="800" dirty="0"/>
          </a:p>
        </p:txBody>
      </p:sp>
      <p:sp>
        <p:nvSpPr>
          <p:cNvPr id="68" name="Text 64"/>
          <p:cNvSpPr/>
          <p:nvPr/>
        </p:nvSpPr>
        <p:spPr>
          <a:xfrm>
            <a:off x="6854428" y="3033192"/>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69" name="Text 65"/>
          <p:cNvSpPr/>
          <p:nvPr/>
        </p:nvSpPr>
        <p:spPr>
          <a:xfrm>
            <a:off x="7011591" y="3018904"/>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Unlimited seats</a:t>
            </a:r>
            <a:endParaRPr lang="en-US" sz="800" dirty="0"/>
          </a:p>
        </p:txBody>
      </p:sp>
      <p:sp>
        <p:nvSpPr>
          <p:cNvPr id="70" name="Text 66"/>
          <p:cNvSpPr/>
          <p:nvPr/>
        </p:nvSpPr>
        <p:spPr>
          <a:xfrm>
            <a:off x="6854428" y="3208213"/>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71" name="Text 67"/>
          <p:cNvSpPr/>
          <p:nvPr/>
        </p:nvSpPr>
        <p:spPr>
          <a:xfrm>
            <a:off x="7011591" y="3193926"/>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Pre-launch scans</a:t>
            </a:r>
            <a:endParaRPr lang="en-US" sz="800" dirty="0"/>
          </a:p>
        </p:txBody>
      </p:sp>
      <p:sp>
        <p:nvSpPr>
          <p:cNvPr id="72" name="Text 68"/>
          <p:cNvSpPr/>
          <p:nvPr/>
        </p:nvSpPr>
        <p:spPr>
          <a:xfrm>
            <a:off x="6854428" y="3383235"/>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73" name="Text 69"/>
          <p:cNvSpPr/>
          <p:nvPr/>
        </p:nvSpPr>
        <p:spPr>
          <a:xfrm>
            <a:off x="7011591" y="3368948"/>
            <a:ext cx="1525191" cy="153619"/>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Dedicated support</a:t>
            </a:r>
            <a:endParaRPr lang="en-US" sz="800" dirty="0"/>
          </a:p>
        </p:txBody>
      </p:sp>
      <p:sp>
        <p:nvSpPr>
          <p:cNvPr id="74" name="Text 70"/>
          <p:cNvSpPr/>
          <p:nvPr/>
        </p:nvSpPr>
        <p:spPr>
          <a:xfrm>
            <a:off x="6854428" y="3558257"/>
            <a:ext cx="100013" cy="100013"/>
          </a:xfrm>
          <a:prstGeom prst="rect">
            <a:avLst/>
          </a:prstGeom>
          <a:noFill/>
          <a:ln/>
        </p:spPr>
        <p:txBody>
          <a:bodyPr wrap="none" lIns="0" tIns="0" rIns="0" bIns="0" rtlCol="0" anchor="ctr"/>
          <a:lstStyle/>
          <a:p>
            <a:pPr algn="ctr" indent="0" marL="0">
              <a:buNone/>
            </a:pPr>
            <a:r>
              <a:rPr lang="en-US" sz="984" dirty="0">
                <a:solidFill>
                  <a:srgbClr val="91E500"/>
                </a:solidFill>
                <a:latin typeface="Segoe UI Symbol" pitchFamily="34" charset="0"/>
                <a:ea typeface="Segoe UI Symbol" pitchFamily="34" charset="-122"/>
                <a:cs typeface="Segoe UI Symbol" pitchFamily="34" charset="-120"/>
              </a:rPr>
              <a:t>✓</a:t>
            </a:r>
            <a:endParaRPr lang="en-US" sz="984" dirty="0"/>
          </a:p>
        </p:txBody>
      </p:sp>
      <p:sp>
        <p:nvSpPr>
          <p:cNvPr id="75" name="Text 71"/>
          <p:cNvSpPr/>
          <p:nvPr/>
        </p:nvSpPr>
        <p:spPr>
          <a:xfrm>
            <a:off x="7011591" y="3543970"/>
            <a:ext cx="1525191" cy="125016"/>
          </a:xfrm>
          <a:prstGeom prst="rect">
            <a:avLst/>
          </a:prstGeom>
          <a:noFill/>
          <a:ln/>
        </p:spPr>
        <p:txBody>
          <a:bodyPr wrap="square" lIns="0" tIns="0" rIns="0" bIns="0" rtlCol="0" anchor="t"/>
          <a:lstStyle/>
          <a:p>
            <a:pPr algn="l" indent="0" marL="0">
              <a:lnSpc>
                <a:spcPts val="984"/>
              </a:lnSpc>
              <a:buNone/>
            </a:pPr>
            <a:r>
              <a:rPr lang="en-US" sz="800" dirty="0">
                <a:solidFill>
                  <a:srgbClr val="F2F1F1"/>
                </a:solidFill>
                <a:latin typeface="Carlito" pitchFamily="34" charset="0"/>
                <a:ea typeface="Carlito" pitchFamily="34" charset="-122"/>
                <a:cs typeface="Carlito" pitchFamily="34" charset="-120"/>
              </a:rPr>
              <a:t>Custom integrations</a:t>
            </a:r>
            <a:endParaRPr lang="en-US" sz="800" dirty="0"/>
          </a:p>
        </p:txBody>
      </p:sp>
      <p:sp>
        <p:nvSpPr>
          <p:cNvPr id="76" name="Text 72"/>
          <p:cNvSpPr/>
          <p:nvPr/>
        </p:nvSpPr>
        <p:spPr>
          <a:xfrm>
            <a:off x="457200" y="3990454"/>
            <a:ext cx="8229600" cy="164592"/>
          </a:xfrm>
          <a:prstGeom prst="rect">
            <a:avLst/>
          </a:prstGeom>
          <a:noFill/>
          <a:ln/>
        </p:spPr>
        <p:txBody>
          <a:bodyPr wrap="square" lIns="0" tIns="0" rIns="0" bIns="0" rtlCol="0" anchor="t"/>
          <a:lstStyle/>
          <a:p>
            <a:pPr algn="ctr" indent="0" marL="0">
              <a:lnSpc>
                <a:spcPts val="1055"/>
              </a:lnSpc>
              <a:buNone/>
            </a:pPr>
            <a:r>
              <a:rPr lang="en-US" sz="800" spc="14" kern="0" dirty="0">
                <a:solidFill>
                  <a:srgbClr val="F2F1F1">
                    <a:alpha val="60000"/>
                  </a:srgbClr>
                </a:solidFill>
                <a:latin typeface="Courier New" pitchFamily="34" charset="0"/>
                <a:ea typeface="Courier New" pitchFamily="34" charset="-122"/>
                <a:cs typeface="Courier New" pitchFamily="34" charset="-120"/>
              </a:rPr>
              <a:t>Top up with credit packs: </a:t>
            </a:r>
            <a:pPr algn="ctr" indent="0" marL="0">
              <a:lnSpc>
                <a:spcPts val="1055"/>
              </a:lnSpc>
              <a:buNone/>
            </a:pPr>
            <a:r>
              <a:rPr lang="en-US" sz="800" spc="14" kern="0" dirty="0">
                <a:solidFill>
                  <a:srgbClr val="F2F1F1">
                    <a:alpha val="60000"/>
                  </a:srgbClr>
                </a:solidFill>
                <a:latin typeface="Liberation Sans Narrow" pitchFamily="34" charset="0"/>
                <a:ea typeface="Liberation Sans Narrow" pitchFamily="34" charset="-122"/>
                <a:cs typeface="Liberation Sans Narrow" pitchFamily="34" charset="-120"/>
              </a:rPr>
              <a:t>25 credits ($15)</a:t>
            </a:r>
            <a:pPr algn="ctr" indent="0" marL="0">
              <a:lnSpc>
                <a:spcPts val="1055"/>
              </a:lnSpc>
              <a:buNone/>
            </a:pPr>
            <a:r>
              <a:rPr lang="en-US" sz="800" spc="14" kern="0" dirty="0">
                <a:solidFill>
                  <a:srgbClr val="F2F1F1">
                    <a:alpha val="60000"/>
                  </a:srgbClr>
                </a:solidFill>
                <a:latin typeface="Courier New" pitchFamily="34" charset="0"/>
                <a:ea typeface="Courier New" pitchFamily="34" charset="-122"/>
                <a:cs typeface="Courier New" pitchFamily="34" charset="-120"/>
              </a:rPr>
              <a:t> · </a:t>
            </a:r>
            <a:pPr algn="ctr" indent="0" marL="0">
              <a:lnSpc>
                <a:spcPts val="1055"/>
              </a:lnSpc>
              <a:buNone/>
            </a:pPr>
            <a:r>
              <a:rPr lang="en-US" sz="800" spc="14" kern="0" dirty="0">
                <a:solidFill>
                  <a:srgbClr val="F2F1F1">
                    <a:alpha val="60000"/>
                  </a:srgbClr>
                </a:solidFill>
                <a:latin typeface="Liberation Sans Narrow" pitchFamily="34" charset="0"/>
                <a:ea typeface="Liberation Sans Narrow" pitchFamily="34" charset="-122"/>
                <a:cs typeface="Liberation Sans Narrow" pitchFamily="34" charset="-120"/>
              </a:rPr>
              <a:t>100 credits ($49)</a:t>
            </a:r>
            <a:pPr algn="ctr" indent="0" marL="0">
              <a:lnSpc>
                <a:spcPts val="1055"/>
              </a:lnSpc>
              <a:buNone/>
            </a:pPr>
            <a:r>
              <a:rPr lang="en-US" sz="800" spc="14" kern="0" dirty="0">
                <a:solidFill>
                  <a:srgbClr val="F2F1F1">
                    <a:alpha val="60000"/>
                  </a:srgbClr>
                </a:solidFill>
                <a:latin typeface="Courier New" pitchFamily="34" charset="0"/>
                <a:ea typeface="Courier New" pitchFamily="34" charset="-122"/>
                <a:cs typeface="Courier New" pitchFamily="34" charset="-120"/>
              </a:rPr>
              <a:t> · </a:t>
            </a:r>
            <a:pPr algn="ctr" indent="0" marL="0">
              <a:lnSpc>
                <a:spcPts val="1055"/>
              </a:lnSpc>
              <a:buNone/>
            </a:pPr>
            <a:r>
              <a:rPr lang="en-US" sz="800" spc="14" kern="0" dirty="0">
                <a:solidFill>
                  <a:srgbClr val="F2F1F1">
                    <a:alpha val="60000"/>
                  </a:srgbClr>
                </a:solidFill>
                <a:latin typeface="Liberation Sans Narrow" pitchFamily="34" charset="0"/>
                <a:ea typeface="Liberation Sans Narrow" pitchFamily="34" charset="-122"/>
                <a:cs typeface="Liberation Sans Narrow" pitchFamily="34" charset="-120"/>
              </a:rPr>
              <a:t>400 credits ($159)</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13 / 16</a:t>
            </a:r>
            <a:endParaRPr lang="en-US" sz="800" dirty="0"/>
          </a:p>
        </p:txBody>
      </p:sp>
      <p:sp>
        <p:nvSpPr>
          <p:cNvPr id="4" name="Text 2"/>
          <p:cNvSpPr/>
          <p:nvPr/>
        </p:nvSpPr>
        <p:spPr>
          <a:xfrm>
            <a:off x="-857250" y="-857250"/>
            <a:ext cx="2571750" cy="2571750"/>
          </a:xfrm>
          <a:prstGeom prst="ellipse">
            <a:avLst/>
          </a:prstGeom>
          <a:solidFill>
            <a:srgbClr val="12BCFF">
              <a:alpha val="4000"/>
            </a:srgbClr>
          </a:solidFill>
          <a:ln/>
        </p:spPr>
        <p:txBody>
          <a:bodyPr wrap="square" rtlCol="0" anchor="ctr"/>
          <a:lstStyle/>
          <a:p>
            <a:pPr indent="0" marL="0">
              <a:buNone/>
            </a:pPr>
            <a:endParaRPr lang="en-US" dirty="0"/>
          </a:p>
        </p:txBody>
      </p:sp>
      <p:sp>
        <p:nvSpPr>
          <p:cNvPr id="5" name="Text 3"/>
          <p:cNvSpPr/>
          <p:nvPr/>
        </p:nvSpPr>
        <p:spPr>
          <a:xfrm>
            <a:off x="434340" y="444398"/>
            <a:ext cx="997290"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53756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457200"/>
            <a:ext cx="951570"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WHY EKAM AI?</a:t>
            </a:r>
            <a:endParaRPr lang="en-US" sz="800" dirty="0"/>
          </a:p>
        </p:txBody>
      </p:sp>
      <p:sp>
        <p:nvSpPr>
          <p:cNvPr id="8" name="Text 6"/>
          <p:cNvSpPr/>
          <p:nvPr/>
        </p:nvSpPr>
        <p:spPr>
          <a:xfrm>
            <a:off x="457200" y="760809"/>
            <a:ext cx="2303725" cy="305476"/>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What sets us apart</a:t>
            </a:r>
            <a:endParaRPr lang="en-US" sz="2025" dirty="0"/>
          </a:p>
        </p:txBody>
      </p:sp>
      <p:sp>
        <p:nvSpPr>
          <p:cNvPr id="9" name="Text 7"/>
          <p:cNvSpPr/>
          <p:nvPr/>
        </p:nvSpPr>
        <p:spPr>
          <a:xfrm>
            <a:off x="7693707" y="868635"/>
            <a:ext cx="1240714" cy="244394"/>
          </a:xfrm>
          <a:prstGeom prst="rect">
            <a:avLst/>
          </a:prstGeom>
          <a:noFill/>
          <a:ln/>
        </p:spPr>
        <p:txBody>
          <a:bodyPr wrap="none" lIns="0" tIns="0" rIns="0" bIns="57150" rtlCol="0" anchor="t"/>
          <a:lstStyle/>
          <a:p>
            <a:pPr algn="l" indent="0" marL="0">
              <a:lnSpc>
                <a:spcPts val="928"/>
              </a:lnSpc>
              <a:buNone/>
            </a:pPr>
            <a:r>
              <a:rPr lang="en-US" sz="800" spc="62" kern="0" dirty="0">
                <a:solidFill>
                  <a:srgbClr val="F2F1F1">
                    <a:alpha val="40000"/>
                  </a:srgbClr>
                </a:solidFill>
                <a:latin typeface="Liberation Sans Narrow" pitchFamily="34" charset="0"/>
                <a:ea typeface="Liberation Sans Narrow" pitchFamily="34" charset="-122"/>
                <a:cs typeface="Liberation Sans Narrow" pitchFamily="34" charset="-120"/>
              </a:rPr>
              <a:t>04 DIFFERENTIATORS</a:t>
            </a:r>
            <a:endParaRPr lang="en-US" sz="800" dirty="0"/>
          </a:p>
        </p:txBody>
      </p:sp>
      <p:sp>
        <p:nvSpPr>
          <p:cNvPr id="10" name="Text 8"/>
          <p:cNvSpPr/>
          <p:nvPr/>
        </p:nvSpPr>
        <p:spPr>
          <a:xfrm>
            <a:off x="460772" y="12186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1" name="Text 9"/>
          <p:cNvSpPr/>
          <p:nvPr/>
        </p:nvSpPr>
        <p:spPr>
          <a:xfrm>
            <a:off x="3277419" y="16937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01</a:t>
            </a:r>
            <a:endParaRPr lang="en-US" sz="10125" dirty="0"/>
          </a:p>
        </p:txBody>
      </p:sp>
      <p:sp>
        <p:nvSpPr>
          <p:cNvPr id="12" name="Text 10"/>
          <p:cNvSpPr/>
          <p:nvPr/>
        </p:nvSpPr>
        <p:spPr>
          <a:xfrm>
            <a:off x="653653" y="1411560"/>
            <a:ext cx="335756" cy="335756"/>
          </a:xfrm>
          <a:prstGeom prst="roundRect">
            <a:avLst>
              <a:gd name="adj" fmla="val 34043"/>
            </a:avLst>
          </a:prstGeom>
          <a:solidFill>
            <a:srgbClr val="91E500">
              <a:alpha val="8000"/>
            </a:srgbClr>
          </a:solidFill>
          <a:ln w="7144">
            <a:solidFill>
              <a:srgbClr val="91E500"/>
            </a:solidFill>
            <a:prstDash val="solid"/>
          </a:ln>
        </p:spPr>
        <p:txBody>
          <a:bodyPr wrap="square" rtlCol="0" anchor="ctr"/>
          <a:lstStyle/>
          <a:p>
            <a:pPr indent="0" marL="0">
              <a:buNone/>
            </a:pPr>
            <a:endParaRPr lang="en-US" dirty="0"/>
          </a:p>
        </p:txBody>
      </p:sp>
      <p:sp>
        <p:nvSpPr>
          <p:cNvPr id="13" name="Text 11"/>
          <p:cNvSpPr/>
          <p:nvPr/>
        </p:nvSpPr>
        <p:spPr>
          <a:xfrm>
            <a:off x="697230" y="1455137"/>
            <a:ext cx="248602" cy="248602"/>
          </a:xfrm>
          <a:prstGeom prst="rect">
            <a:avLst/>
          </a:prstGeom>
          <a:noFill/>
          <a:ln/>
        </p:spPr>
        <p:txBody>
          <a:bodyPr wrap="none" lIns="0" tIns="0" rIns="0" bIns="0" rtlCol="0" anchor="ctr"/>
          <a:lstStyle/>
          <a:p>
            <a:pPr algn="ctr" indent="0" marL="0">
              <a:buNone/>
            </a:pPr>
            <a:r>
              <a:rPr lang="en-US" sz="1688" dirty="0">
                <a:solidFill>
                  <a:srgbClr val="91E500"/>
                </a:solidFill>
                <a:latin typeface="Segoe UI Symbol" pitchFamily="34" charset="0"/>
                <a:ea typeface="Segoe UI Symbol" pitchFamily="34" charset="-122"/>
                <a:cs typeface="Segoe UI Symbol" pitchFamily="34" charset="-120"/>
              </a:rPr>
              <a:t>✦</a:t>
            </a:r>
            <a:endParaRPr lang="en-US" sz="1688" dirty="0"/>
          </a:p>
        </p:txBody>
      </p:sp>
      <p:sp>
        <p:nvSpPr>
          <p:cNvPr id="14" name="Text 12"/>
          <p:cNvSpPr/>
          <p:nvPr/>
        </p:nvSpPr>
        <p:spPr>
          <a:xfrm>
            <a:off x="1092994" y="14669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Orchestrated, not chat</a:t>
            </a:r>
            <a:endParaRPr lang="en-US" sz="1181" dirty="0"/>
          </a:p>
        </p:txBody>
      </p:sp>
      <p:sp>
        <p:nvSpPr>
          <p:cNvPr id="15" name="Text 13"/>
          <p:cNvSpPr/>
          <p:nvPr/>
        </p:nvSpPr>
        <p:spPr>
          <a:xfrm>
            <a:off x="4632722" y="12186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6" name="Text 14"/>
          <p:cNvSpPr/>
          <p:nvPr/>
        </p:nvSpPr>
        <p:spPr>
          <a:xfrm>
            <a:off x="7449369" y="16937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02</a:t>
            </a:r>
            <a:endParaRPr lang="en-US" sz="10125" dirty="0"/>
          </a:p>
        </p:txBody>
      </p:sp>
      <p:sp>
        <p:nvSpPr>
          <p:cNvPr id="17" name="Text 15"/>
          <p:cNvSpPr/>
          <p:nvPr/>
        </p:nvSpPr>
        <p:spPr>
          <a:xfrm>
            <a:off x="4825603" y="1411560"/>
            <a:ext cx="335756" cy="335756"/>
          </a:xfrm>
          <a:prstGeom prst="roundRect">
            <a:avLst>
              <a:gd name="adj" fmla="val 34043"/>
            </a:avLst>
          </a:prstGeom>
          <a:solidFill>
            <a:srgbClr val="12BCFF">
              <a:alpha val="8000"/>
            </a:srgbClr>
          </a:solidFill>
          <a:ln w="7144">
            <a:solidFill>
              <a:srgbClr val="12BCFF"/>
            </a:solidFill>
            <a:prstDash val="solid"/>
          </a:ln>
        </p:spPr>
        <p:txBody>
          <a:bodyPr wrap="square" rtlCol="0" anchor="ctr"/>
          <a:lstStyle/>
          <a:p>
            <a:pPr indent="0" marL="0">
              <a:buNone/>
            </a:pPr>
            <a:endParaRPr lang="en-US" dirty="0"/>
          </a:p>
        </p:txBody>
      </p:sp>
      <p:sp>
        <p:nvSpPr>
          <p:cNvPr id="18" name="Text 16"/>
          <p:cNvSpPr/>
          <p:nvPr/>
        </p:nvSpPr>
        <p:spPr>
          <a:xfrm>
            <a:off x="4869180" y="1455137"/>
            <a:ext cx="248602" cy="248602"/>
          </a:xfrm>
          <a:prstGeom prst="rect">
            <a:avLst/>
          </a:prstGeom>
          <a:noFill/>
          <a:ln/>
        </p:spPr>
        <p:txBody>
          <a:bodyPr wrap="none" lIns="0" tIns="0" rIns="0" bIns="0" rtlCol="0" anchor="ctr"/>
          <a:lstStyle/>
          <a:p>
            <a:pPr algn="ctr" indent="0" marL="0">
              <a:buNone/>
            </a:pPr>
            <a:r>
              <a:rPr lang="en-US" sz="1688" dirty="0">
                <a:solidFill>
                  <a:srgbClr val="12BCFF"/>
                </a:solidFill>
                <a:latin typeface="Segoe UI Symbol" pitchFamily="34" charset="0"/>
                <a:ea typeface="Segoe UI Symbol" pitchFamily="34" charset="-122"/>
                <a:cs typeface="Segoe UI Symbol" pitchFamily="34" charset="-120"/>
              </a:rPr>
              <a:t>▤</a:t>
            </a:r>
            <a:endParaRPr lang="en-US" sz="1688" dirty="0"/>
          </a:p>
        </p:txBody>
      </p:sp>
      <p:sp>
        <p:nvSpPr>
          <p:cNvPr id="19" name="Text 17"/>
          <p:cNvSpPr/>
          <p:nvPr/>
        </p:nvSpPr>
        <p:spPr>
          <a:xfrm>
            <a:off x="5264944" y="14669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Structured workflows</a:t>
            </a:r>
            <a:endParaRPr lang="en-US" sz="1181" dirty="0"/>
          </a:p>
        </p:txBody>
      </p:sp>
      <p:sp>
        <p:nvSpPr>
          <p:cNvPr id="20" name="Text 18"/>
          <p:cNvSpPr/>
          <p:nvPr/>
        </p:nvSpPr>
        <p:spPr>
          <a:xfrm>
            <a:off x="460772" y="28188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1" name="Text 19"/>
          <p:cNvSpPr/>
          <p:nvPr/>
        </p:nvSpPr>
        <p:spPr>
          <a:xfrm>
            <a:off x="3277419" y="32939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03</a:t>
            </a:r>
            <a:endParaRPr lang="en-US" sz="10125" dirty="0"/>
          </a:p>
        </p:txBody>
      </p:sp>
      <p:sp>
        <p:nvSpPr>
          <p:cNvPr id="22" name="Text 20"/>
          <p:cNvSpPr/>
          <p:nvPr/>
        </p:nvSpPr>
        <p:spPr>
          <a:xfrm>
            <a:off x="653653" y="3011760"/>
            <a:ext cx="335756" cy="335756"/>
          </a:xfrm>
          <a:prstGeom prst="roundRect">
            <a:avLst>
              <a:gd name="adj" fmla="val 34043"/>
            </a:avLst>
          </a:prstGeom>
          <a:solidFill>
            <a:srgbClr val="2F44FF">
              <a:alpha val="8000"/>
            </a:srgbClr>
          </a:solidFill>
          <a:ln w="7144">
            <a:solidFill>
              <a:srgbClr val="2F44FF"/>
            </a:solidFill>
            <a:prstDash val="solid"/>
          </a:ln>
        </p:spPr>
        <p:txBody>
          <a:bodyPr wrap="square" rtlCol="0" anchor="ctr"/>
          <a:lstStyle/>
          <a:p>
            <a:pPr indent="0" marL="0">
              <a:buNone/>
            </a:pPr>
            <a:endParaRPr lang="en-US" dirty="0"/>
          </a:p>
        </p:txBody>
      </p:sp>
      <p:sp>
        <p:nvSpPr>
          <p:cNvPr id="23" name="Text 21"/>
          <p:cNvSpPr/>
          <p:nvPr/>
        </p:nvSpPr>
        <p:spPr>
          <a:xfrm>
            <a:off x="697230" y="3055337"/>
            <a:ext cx="248602" cy="248602"/>
          </a:xfrm>
          <a:prstGeom prst="rect">
            <a:avLst/>
          </a:prstGeom>
          <a:noFill/>
          <a:ln/>
        </p:spPr>
        <p:txBody>
          <a:bodyPr wrap="none" lIns="0" tIns="0" rIns="0" bIns="0" rtlCol="0" anchor="ctr"/>
          <a:lstStyle/>
          <a:p>
            <a:pPr algn="ctr" indent="0" marL="0">
              <a:buNone/>
            </a:pPr>
            <a:r>
              <a:rPr lang="en-US" sz="1688" dirty="0">
                <a:solidFill>
                  <a:srgbClr val="2F44FF"/>
                </a:solidFill>
                <a:latin typeface="Segoe UI Symbol" pitchFamily="34" charset="0"/>
                <a:ea typeface="Segoe UI Symbol" pitchFamily="34" charset="-122"/>
                <a:cs typeface="Segoe UI Symbol" pitchFamily="34" charset="-120"/>
              </a:rPr>
              <a:t>➤</a:t>
            </a:r>
            <a:endParaRPr lang="en-US" sz="1688" dirty="0"/>
          </a:p>
        </p:txBody>
      </p:sp>
      <p:sp>
        <p:nvSpPr>
          <p:cNvPr id="24" name="Text 22"/>
          <p:cNvSpPr/>
          <p:nvPr/>
        </p:nvSpPr>
        <p:spPr>
          <a:xfrm>
            <a:off x="1092994" y="30671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Real business outcomes</a:t>
            </a:r>
            <a:endParaRPr lang="en-US" sz="1181" dirty="0"/>
          </a:p>
        </p:txBody>
      </p:sp>
      <p:sp>
        <p:nvSpPr>
          <p:cNvPr id="25" name="Text 23"/>
          <p:cNvSpPr/>
          <p:nvPr/>
        </p:nvSpPr>
        <p:spPr>
          <a:xfrm>
            <a:off x="4632722" y="2818879"/>
            <a:ext cx="4050506" cy="1478756"/>
          </a:xfrm>
          <a:prstGeom prst="roundRect">
            <a:avLst>
              <a:gd name="adj" fmla="val 10306"/>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6" name="Text 24"/>
          <p:cNvSpPr/>
          <p:nvPr/>
        </p:nvSpPr>
        <p:spPr>
          <a:xfrm>
            <a:off x="7449369" y="3293938"/>
            <a:ext cx="1044550" cy="814388"/>
          </a:xfrm>
          <a:prstGeom prst="rect">
            <a:avLst/>
          </a:prstGeom>
          <a:noFill/>
          <a:ln/>
        </p:spPr>
        <p:txBody>
          <a:bodyPr wrap="square" lIns="0" tIns="0" rIns="0" bIns="0" rtlCol="0" anchor="t"/>
          <a:lstStyle/>
          <a:p>
            <a:pPr algn="l" indent="0" marL="0">
              <a:lnSpc>
                <a:spcPts val="10125"/>
              </a:lnSpc>
              <a:buNone/>
            </a:pPr>
            <a:r>
              <a:rPr lang="en-US" sz="10125" b="1" spc="-506" kern="0" dirty="0">
                <a:solidFill>
                  <a:srgbClr val="FFFFFF">
                    <a:alpha val="2000"/>
                  </a:srgbClr>
                </a:solidFill>
                <a:latin typeface="Liberation Sans Narrow" pitchFamily="34" charset="0"/>
                <a:ea typeface="Liberation Sans Narrow" pitchFamily="34" charset="-122"/>
                <a:cs typeface="Liberation Sans Narrow" pitchFamily="34" charset="-120"/>
              </a:rPr>
              <a:t>04</a:t>
            </a:r>
            <a:endParaRPr lang="en-US" sz="10125" dirty="0"/>
          </a:p>
        </p:txBody>
      </p:sp>
      <p:sp>
        <p:nvSpPr>
          <p:cNvPr id="27" name="Text 25"/>
          <p:cNvSpPr/>
          <p:nvPr/>
        </p:nvSpPr>
        <p:spPr>
          <a:xfrm>
            <a:off x="4825603" y="3011760"/>
            <a:ext cx="335756" cy="335756"/>
          </a:xfrm>
          <a:prstGeom prst="roundRect">
            <a:avLst>
              <a:gd name="adj" fmla="val 34043"/>
            </a:avLst>
          </a:prstGeom>
          <a:solidFill>
            <a:srgbClr val="8200DF">
              <a:alpha val="8000"/>
            </a:srgbClr>
          </a:solidFill>
          <a:ln w="7144">
            <a:solidFill>
              <a:srgbClr val="8200DF"/>
            </a:solidFill>
            <a:prstDash val="solid"/>
          </a:ln>
        </p:spPr>
        <p:txBody>
          <a:bodyPr wrap="square" rtlCol="0" anchor="ctr"/>
          <a:lstStyle/>
          <a:p>
            <a:pPr indent="0" marL="0">
              <a:buNone/>
            </a:pPr>
            <a:endParaRPr lang="en-US" dirty="0"/>
          </a:p>
        </p:txBody>
      </p:sp>
      <p:sp>
        <p:nvSpPr>
          <p:cNvPr id="28" name="Text 26"/>
          <p:cNvSpPr/>
          <p:nvPr/>
        </p:nvSpPr>
        <p:spPr>
          <a:xfrm>
            <a:off x="4869180" y="3055337"/>
            <a:ext cx="248602" cy="248602"/>
          </a:xfrm>
          <a:prstGeom prst="rect">
            <a:avLst/>
          </a:prstGeom>
          <a:noFill/>
          <a:ln/>
        </p:spPr>
        <p:txBody>
          <a:bodyPr wrap="none" lIns="0" tIns="0" rIns="0" bIns="0" rtlCol="0" anchor="ctr"/>
          <a:lstStyle/>
          <a:p>
            <a:pPr algn="ctr" indent="0" marL="0">
              <a:buNone/>
            </a:pPr>
            <a:r>
              <a:rPr lang="en-US" sz="1688" dirty="0">
                <a:solidFill>
                  <a:srgbClr val="8200DF"/>
                </a:solidFill>
                <a:latin typeface="Segoe UI Symbol" pitchFamily="34" charset="0"/>
                <a:ea typeface="Segoe UI Symbol" pitchFamily="34" charset="-122"/>
                <a:cs typeface="Segoe UI Symbol" pitchFamily="34" charset="-120"/>
              </a:rPr>
              <a:t>↗</a:t>
            </a:r>
            <a:endParaRPr lang="en-US" sz="1688" dirty="0"/>
          </a:p>
        </p:txBody>
      </p:sp>
      <p:sp>
        <p:nvSpPr>
          <p:cNvPr id="29" name="Text 27"/>
          <p:cNvSpPr/>
          <p:nvPr/>
        </p:nvSpPr>
        <p:spPr>
          <a:xfrm>
            <a:off x="5264944" y="3067124"/>
            <a:ext cx="3228975" cy="243030"/>
          </a:xfrm>
          <a:prstGeom prst="rect">
            <a:avLst/>
          </a:prstGeom>
          <a:noFill/>
          <a:ln/>
        </p:spPr>
        <p:txBody>
          <a:bodyPr wrap="none" lIns="0" tIns="0" rIns="0" bIns="0" rtlCol="0" anchor="t"/>
          <a:lstStyle/>
          <a:p>
            <a:pPr algn="l" indent="0" marL="0">
              <a:lnSpc>
                <a:spcPts val="1772"/>
              </a:lnSpc>
              <a:buNone/>
            </a:pPr>
            <a:r>
              <a:rPr lang="en-US" sz="1181" b="1" spc="-18" kern="0" dirty="0">
                <a:solidFill>
                  <a:srgbClr val="F2F1F1"/>
                </a:solidFill>
                <a:latin typeface="Carlito" pitchFamily="34" charset="0"/>
                <a:ea typeface="Carlito" pitchFamily="34" charset="-122"/>
                <a:cs typeface="Carlito" pitchFamily="34" charset="-120"/>
              </a:rPr>
              <a:t>Scale from day one</a:t>
            </a:r>
            <a:endParaRPr lang="en-US" sz="1181" dirty="0"/>
          </a:p>
        </p:txBody>
      </p:sp>
      <p:sp>
        <p:nvSpPr>
          <p:cNvPr id="30" name="Text 28"/>
          <p:cNvSpPr/>
          <p:nvPr/>
        </p:nvSpPr>
        <p:spPr>
          <a:xfrm>
            <a:off x="650081" y="18509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Multiple specialized agents coordinate as a single team — planning, coding, design, testing, deployment. You don't glue pieces together.</a:t>
            </a:r>
            <a:endParaRPr lang="en-US" sz="800" dirty="0"/>
          </a:p>
        </p:txBody>
      </p:sp>
      <p:sp>
        <p:nvSpPr>
          <p:cNvPr id="31" name="Text 29"/>
          <p:cNvSpPr/>
          <p:nvPr/>
        </p:nvSpPr>
        <p:spPr>
          <a:xfrm>
            <a:off x="4822031" y="18509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Every run produces evidence: deploy logs, scan findings, file diffs. Outcomes you can read, hand off, and act on — not just prose.</a:t>
            </a:r>
            <a:endParaRPr lang="en-US" sz="800" dirty="0"/>
          </a:p>
        </p:txBody>
      </p:sp>
      <p:sp>
        <p:nvSpPr>
          <p:cNvPr id="32" name="Text 30"/>
          <p:cNvSpPr/>
          <p:nvPr/>
        </p:nvSpPr>
        <p:spPr>
          <a:xfrm>
            <a:off x="650081" y="34511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From prompt to a live URL you can share, scan, and iterate on. Built for the launch moment, not the demo moment.</a:t>
            </a:r>
            <a:endParaRPr lang="en-US" sz="800" dirty="0"/>
          </a:p>
        </p:txBody>
      </p:sp>
      <p:sp>
        <p:nvSpPr>
          <p:cNvPr id="33" name="Text 31"/>
          <p:cNvSpPr/>
          <p:nvPr/>
        </p:nvSpPr>
        <p:spPr>
          <a:xfrm>
            <a:off x="4822031" y="3451101"/>
            <a:ext cx="3671888" cy="350983"/>
          </a:xfrm>
          <a:prstGeom prst="rect">
            <a:avLst/>
          </a:prstGeom>
          <a:noFill/>
          <a:ln/>
        </p:spPr>
        <p:txBody>
          <a:bodyPr wrap="square" lIns="0" tIns="0" rIns="0" bIns="0" rtlCol="0" anchor="t"/>
          <a:lstStyle/>
          <a:p>
            <a:pPr algn="l" indent="0" marL="0">
              <a:lnSpc>
                <a:spcPts val="1260"/>
              </a:lnSpc>
              <a:buNone/>
            </a:pPr>
            <a:r>
              <a:rPr lang="en-US" sz="800" dirty="0">
                <a:solidFill>
                  <a:srgbClr val="F2F1F1">
                    <a:alpha val="60000"/>
                  </a:srgbClr>
                </a:solidFill>
                <a:latin typeface="Carlito" pitchFamily="34" charset="0"/>
                <a:ea typeface="Carlito" pitchFamily="34" charset="-122"/>
                <a:cs typeface="Carlito" pitchFamily="34" charset="-120"/>
              </a:rPr>
              <a:t>Built on enterprise patterns — from Kubernetes to distributed systems. Startups deserve enterprise-grade tools.</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14 / 16</a:t>
            </a:r>
            <a:endParaRPr lang="en-US" sz="800" dirty="0"/>
          </a:p>
        </p:txBody>
      </p:sp>
      <p:sp>
        <p:nvSpPr>
          <p:cNvPr id="4" name="Text 2"/>
          <p:cNvSpPr/>
          <p:nvPr/>
        </p:nvSpPr>
        <p:spPr>
          <a:xfrm>
            <a:off x="-571500" y="3714750"/>
            <a:ext cx="2286000" cy="2286000"/>
          </a:xfrm>
          <a:prstGeom prst="ellipse">
            <a:avLst/>
          </a:prstGeom>
          <a:solidFill>
            <a:srgbClr val="91E500">
              <a:alpha val="4000"/>
            </a:srgbClr>
          </a:solidFill>
          <a:ln/>
        </p:spPr>
        <p:txBody>
          <a:bodyPr wrap="square" rtlCol="0" anchor="ctr"/>
          <a:lstStyle/>
          <a:p>
            <a:pPr indent="0" marL="0">
              <a:buNone/>
            </a:pPr>
            <a:endParaRPr lang="en-US" dirty="0"/>
          </a:p>
        </p:txBody>
      </p:sp>
      <p:sp>
        <p:nvSpPr>
          <p:cNvPr id="5" name="Text 3"/>
          <p:cNvSpPr/>
          <p:nvPr/>
        </p:nvSpPr>
        <p:spPr>
          <a:xfrm>
            <a:off x="7429500" y="-857250"/>
            <a:ext cx="2571750" cy="2571750"/>
          </a:xfrm>
          <a:prstGeom prst="ellipse">
            <a:avLst/>
          </a:prstGeom>
          <a:solidFill>
            <a:srgbClr val="8200DF">
              <a:alpha val="2000"/>
            </a:srgbClr>
          </a:solidFill>
          <a:ln/>
        </p:spPr>
        <p:txBody>
          <a:bodyPr wrap="square" rtlCol="0" anchor="ctr"/>
          <a:lstStyle/>
          <a:p>
            <a:pPr indent="0" marL="0">
              <a:buNone/>
            </a:pPr>
            <a:endParaRPr lang="en-US" dirty="0"/>
          </a:p>
        </p:txBody>
      </p:sp>
      <p:sp>
        <p:nvSpPr>
          <p:cNvPr id="6" name="Text 4"/>
          <p:cNvSpPr/>
          <p:nvPr/>
        </p:nvSpPr>
        <p:spPr>
          <a:xfrm>
            <a:off x="434340" y="1199180"/>
            <a:ext cx="788893"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7" name="Text 5"/>
          <p:cNvSpPr/>
          <p:nvPr/>
        </p:nvSpPr>
        <p:spPr>
          <a:xfrm>
            <a:off x="564356" y="1292349"/>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8" name="Text 6"/>
          <p:cNvSpPr/>
          <p:nvPr/>
        </p:nvSpPr>
        <p:spPr>
          <a:xfrm>
            <a:off x="457200" y="1211982"/>
            <a:ext cx="743173"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COMPANY</a:t>
            </a:r>
            <a:endParaRPr lang="en-US" sz="800" dirty="0"/>
          </a:p>
        </p:txBody>
      </p:sp>
      <p:sp>
        <p:nvSpPr>
          <p:cNvPr id="9" name="Text 7"/>
          <p:cNvSpPr/>
          <p:nvPr/>
        </p:nvSpPr>
        <p:spPr>
          <a:xfrm>
            <a:off x="457200" y="1529879"/>
            <a:ext cx="4337685" cy="610951"/>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Built by engineers</a:t>
            </a:r>
            <a:endParaRPr lang="en-US" sz="2025" dirty="0"/>
          </a:p>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who ship</a:t>
            </a:r>
            <a:endParaRPr lang="en-US" sz="2025" dirty="0"/>
          </a:p>
        </p:txBody>
      </p:sp>
      <p:sp>
        <p:nvSpPr>
          <p:cNvPr id="10" name="Text 8"/>
          <p:cNvSpPr/>
          <p:nvPr/>
        </p:nvSpPr>
        <p:spPr>
          <a:xfrm>
            <a:off x="457200" y="2209874"/>
            <a:ext cx="3286125" cy="763810"/>
          </a:xfrm>
          <a:prstGeom prst="rect">
            <a:avLst/>
          </a:prstGeom>
          <a:noFill/>
          <a:ln/>
        </p:spPr>
        <p:txBody>
          <a:bodyPr wrap="square" lIns="0" tIns="0" rIns="0" bIns="0" rtlCol="0" anchor="t"/>
          <a:lstStyle/>
          <a:p>
            <a:pPr algn="l" indent="0" marL="0">
              <a:lnSpc>
                <a:spcPts val="1392"/>
              </a:lnSpc>
              <a:buNone/>
            </a:pPr>
            <a:r>
              <a:rPr lang="en-US" sz="844" dirty="0">
                <a:solidFill>
                  <a:srgbClr val="F2F1F1">
                    <a:alpha val="60000"/>
                  </a:srgbClr>
                </a:solidFill>
                <a:latin typeface="Carlito" pitchFamily="34" charset="0"/>
                <a:ea typeface="Carlito" pitchFamily="34" charset="-122"/>
                <a:cs typeface="Carlito" pitchFamily="34" charset="-120"/>
              </a:rPr>
              <a:t>EKAM AI is built by a team of experienced engineers and entrepreneurs who have scaled products across fintech, AI, and enterprise systems. We are not building another AI wrapper — we are building the execution layer.</a:t>
            </a:r>
            <a:endParaRPr lang="en-US" sz="844" dirty="0"/>
          </a:p>
        </p:txBody>
      </p:sp>
      <p:sp>
        <p:nvSpPr>
          <p:cNvPr id="11" name="Text 9"/>
          <p:cNvSpPr/>
          <p:nvPr/>
        </p:nvSpPr>
        <p:spPr>
          <a:xfrm>
            <a:off x="457200" y="3124274"/>
            <a:ext cx="57150" cy="57150"/>
          </a:xfrm>
          <a:prstGeom prst="ellipse">
            <a:avLst/>
          </a:prstGeom>
          <a:solidFill>
            <a:srgbClr val="91E500"/>
          </a:solidFill>
          <a:ln/>
        </p:spPr>
        <p:txBody>
          <a:bodyPr wrap="square" rtlCol="0" anchor="ctr"/>
          <a:lstStyle/>
          <a:p>
            <a:pPr indent="0" marL="0">
              <a:buNone/>
            </a:pPr>
            <a:endParaRPr lang="en-US" dirty="0"/>
          </a:p>
        </p:txBody>
      </p:sp>
      <p:sp>
        <p:nvSpPr>
          <p:cNvPr id="12" name="Text 10"/>
          <p:cNvSpPr/>
          <p:nvPr/>
        </p:nvSpPr>
        <p:spPr>
          <a:xfrm>
            <a:off x="600075" y="3074268"/>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Ship to production — not demos or prototypes</a:t>
            </a:r>
            <a:endParaRPr lang="en-US" sz="800" dirty="0"/>
          </a:p>
        </p:txBody>
      </p:sp>
      <p:sp>
        <p:nvSpPr>
          <p:cNvPr id="13" name="Text 11"/>
          <p:cNvSpPr/>
          <p:nvPr/>
        </p:nvSpPr>
        <p:spPr>
          <a:xfrm>
            <a:off x="457200" y="3360018"/>
            <a:ext cx="57150" cy="57150"/>
          </a:xfrm>
          <a:prstGeom prst="ellipse">
            <a:avLst/>
          </a:prstGeom>
          <a:solidFill>
            <a:srgbClr val="12BCFF"/>
          </a:solidFill>
          <a:ln/>
        </p:spPr>
        <p:txBody>
          <a:bodyPr wrap="square" rtlCol="0" anchor="ctr"/>
          <a:lstStyle/>
          <a:p>
            <a:pPr indent="0" marL="0">
              <a:buNone/>
            </a:pPr>
            <a:endParaRPr lang="en-US" dirty="0"/>
          </a:p>
        </p:txBody>
      </p:sp>
      <p:sp>
        <p:nvSpPr>
          <p:cNvPr id="14" name="Text 12"/>
          <p:cNvSpPr/>
          <p:nvPr/>
        </p:nvSpPr>
        <p:spPr>
          <a:xfrm>
            <a:off x="600075" y="3310012"/>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AI as infrastructure — not another chatbot wrapper</a:t>
            </a:r>
            <a:endParaRPr lang="en-US" sz="800" dirty="0"/>
          </a:p>
        </p:txBody>
      </p:sp>
      <p:sp>
        <p:nvSpPr>
          <p:cNvPr id="15" name="Text 13"/>
          <p:cNvSpPr/>
          <p:nvPr/>
        </p:nvSpPr>
        <p:spPr>
          <a:xfrm>
            <a:off x="457200" y="3595762"/>
            <a:ext cx="57150" cy="57150"/>
          </a:xfrm>
          <a:prstGeom prst="ellipse">
            <a:avLst/>
          </a:prstGeom>
          <a:solidFill>
            <a:srgbClr val="2F44FF"/>
          </a:solidFill>
          <a:ln/>
        </p:spPr>
        <p:txBody>
          <a:bodyPr wrap="square" rtlCol="0" anchor="ctr"/>
          <a:lstStyle/>
          <a:p>
            <a:pPr indent="0" marL="0">
              <a:buNone/>
            </a:pPr>
            <a:endParaRPr lang="en-US" dirty="0"/>
          </a:p>
        </p:txBody>
      </p:sp>
      <p:sp>
        <p:nvSpPr>
          <p:cNvPr id="16" name="Text 14"/>
          <p:cNvSpPr/>
          <p:nvPr/>
        </p:nvSpPr>
        <p:spPr>
          <a:xfrm>
            <a:off x="600075" y="3545756"/>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Trust by default — registered company, real team</a:t>
            </a:r>
            <a:endParaRPr lang="en-US" sz="800" dirty="0"/>
          </a:p>
        </p:txBody>
      </p:sp>
      <p:sp>
        <p:nvSpPr>
          <p:cNvPr id="17" name="Text 15"/>
          <p:cNvSpPr/>
          <p:nvPr/>
        </p:nvSpPr>
        <p:spPr>
          <a:xfrm>
            <a:off x="457200" y="3831506"/>
            <a:ext cx="57150" cy="57150"/>
          </a:xfrm>
          <a:prstGeom prst="ellipse">
            <a:avLst/>
          </a:prstGeom>
          <a:solidFill>
            <a:srgbClr val="8200DF"/>
          </a:solidFill>
          <a:ln/>
        </p:spPr>
        <p:txBody>
          <a:bodyPr wrap="square" rtlCol="0" anchor="ctr"/>
          <a:lstStyle/>
          <a:p>
            <a:pPr indent="0" marL="0">
              <a:buNone/>
            </a:pPr>
            <a:endParaRPr lang="en-US" dirty="0"/>
          </a:p>
        </p:txBody>
      </p:sp>
      <p:sp>
        <p:nvSpPr>
          <p:cNvPr id="18" name="Text 16"/>
          <p:cNvSpPr/>
          <p:nvPr/>
        </p:nvSpPr>
        <p:spPr>
          <a:xfrm>
            <a:off x="600075" y="3781499"/>
            <a:ext cx="3800475" cy="164592"/>
          </a:xfrm>
          <a:prstGeom prst="rect">
            <a:avLst/>
          </a:prstGeom>
          <a:noFill/>
          <a:ln/>
        </p:spPr>
        <p:txBody>
          <a:bodyPr wrap="square" lIns="0" tIns="0" rIns="0" bIns="0" rtlCol="0" anchor="t"/>
          <a:lstStyle/>
          <a:p>
            <a:pPr algn="l" indent="0" marL="0">
              <a:lnSpc>
                <a:spcPts val="1181"/>
              </a:lnSpc>
              <a:buNone/>
            </a:pPr>
            <a:r>
              <a:rPr lang="en-US" sz="800" dirty="0">
                <a:solidFill>
                  <a:srgbClr val="F2F1F1"/>
                </a:solidFill>
                <a:latin typeface="Carlito" pitchFamily="34" charset="0"/>
                <a:ea typeface="Carlito" pitchFamily="34" charset="-122"/>
                <a:cs typeface="Carlito" pitchFamily="34" charset="-120"/>
              </a:rPr>
              <a:t>Scale from day one — enterprise patterns for startups</a:t>
            </a:r>
            <a:endParaRPr lang="en-US" sz="800" dirty="0"/>
          </a:p>
        </p:txBody>
      </p:sp>
      <p:sp>
        <p:nvSpPr>
          <p:cNvPr id="19" name="Text 17"/>
          <p:cNvSpPr/>
          <p:nvPr/>
        </p:nvSpPr>
        <p:spPr>
          <a:xfrm>
            <a:off x="4747022" y="1157288"/>
            <a:ext cx="3936206" cy="798314"/>
          </a:xfrm>
          <a:prstGeom prst="roundRect">
            <a:avLst>
              <a:gd name="adj" fmla="val 1670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0" name="Text 18"/>
          <p:cNvSpPr/>
          <p:nvPr/>
        </p:nvSpPr>
        <p:spPr>
          <a:xfrm>
            <a:off x="4879181" y="1289447"/>
            <a:ext cx="3671888"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COMPANY</a:t>
            </a:r>
            <a:endParaRPr lang="en-US" sz="800" dirty="0"/>
          </a:p>
        </p:txBody>
      </p:sp>
      <p:sp>
        <p:nvSpPr>
          <p:cNvPr id="21" name="Text 19"/>
          <p:cNvSpPr/>
          <p:nvPr/>
        </p:nvSpPr>
        <p:spPr>
          <a:xfrm>
            <a:off x="4879181" y="1459111"/>
            <a:ext cx="3671888" cy="173593"/>
          </a:xfrm>
          <a:prstGeom prst="rect">
            <a:avLst/>
          </a:prstGeom>
          <a:noFill/>
          <a:ln/>
        </p:spPr>
        <p:txBody>
          <a:bodyPr wrap="none" lIns="0" tIns="0" rIns="0" bIns="0" rtlCol="0" anchor="t"/>
          <a:lstStyle/>
          <a:p>
            <a:pPr algn="l" indent="0" marL="0">
              <a:lnSpc>
                <a:spcPts val="1266"/>
              </a:lnSpc>
              <a:buNone/>
            </a:pPr>
            <a:r>
              <a:rPr lang="en-US" sz="844" spc="-8" kern="0" dirty="0">
                <a:solidFill>
                  <a:srgbClr val="F2F1F1"/>
                </a:solidFill>
                <a:latin typeface="Carlito" pitchFamily="34" charset="0"/>
                <a:ea typeface="Carlito" pitchFamily="34" charset="-122"/>
                <a:cs typeface="Carlito" pitchFamily="34" charset="-120"/>
              </a:rPr>
              <a:t>EKAM INNOVATIONS LLP</a:t>
            </a:r>
            <a:endParaRPr lang="en-US" sz="844" dirty="0"/>
          </a:p>
        </p:txBody>
      </p:sp>
      <p:sp>
        <p:nvSpPr>
          <p:cNvPr id="22" name="Text 20"/>
          <p:cNvSpPr/>
          <p:nvPr/>
        </p:nvSpPr>
        <p:spPr>
          <a:xfrm>
            <a:off x="4879181" y="1735931"/>
            <a:ext cx="57150" cy="57150"/>
          </a:xfrm>
          <a:prstGeom prst="ellipse">
            <a:avLst/>
          </a:prstGeom>
          <a:solidFill>
            <a:srgbClr val="91E500"/>
          </a:solidFill>
          <a:ln/>
          <a:effectLst>
            <a:outerShdw sx="100000" sy="100000" kx="0" ky="0" algn="bl" rotWithShape="0" blurRad="101600" dist="50800" dir="16200000">
              <a:srgbClr val="91E500">
                <a:alpha val="44000"/>
              </a:srgbClr>
            </a:outerShdw>
          </a:effectLst>
        </p:spPr>
        <p:txBody>
          <a:bodyPr wrap="square" rtlCol="0" anchor="ctr"/>
          <a:lstStyle/>
          <a:p>
            <a:pPr indent="0" marL="0">
              <a:buNone/>
            </a:pPr>
            <a:endParaRPr lang="en-US" dirty="0"/>
          </a:p>
        </p:txBody>
      </p:sp>
      <p:sp>
        <p:nvSpPr>
          <p:cNvPr id="23" name="Text 21"/>
          <p:cNvSpPr/>
          <p:nvPr/>
        </p:nvSpPr>
        <p:spPr>
          <a:xfrm>
            <a:off x="4979194" y="1705570"/>
            <a:ext cx="3571875" cy="117872"/>
          </a:xfrm>
          <a:prstGeom prst="rect">
            <a:avLst/>
          </a:prstGeom>
          <a:noFill/>
          <a:ln/>
        </p:spPr>
        <p:txBody>
          <a:bodyPr wrap="none" lIns="0" tIns="0" rIns="0" bIns="0" rtlCol="0" anchor="t"/>
          <a:lstStyle/>
          <a:p>
            <a:pPr algn="l" indent="0" marL="0">
              <a:lnSpc>
                <a:spcPts val="928"/>
              </a:lnSpc>
              <a:buNone/>
            </a:pPr>
            <a:r>
              <a:rPr lang="en-US" sz="800" spc="50" kern="0" dirty="0">
                <a:solidFill>
                  <a:srgbClr val="F2F1F1">
                    <a:alpha val="60000"/>
                  </a:srgbClr>
                </a:solidFill>
                <a:latin typeface="Courier New" pitchFamily="34" charset="0"/>
                <a:ea typeface="Courier New" pitchFamily="34" charset="-122"/>
                <a:cs typeface="Courier New" pitchFamily="34" charset="-120"/>
              </a:rPr>
              <a:t>REGISTERED ENTITY</a:t>
            </a:r>
            <a:endParaRPr lang="en-US" sz="800" dirty="0"/>
          </a:p>
        </p:txBody>
      </p:sp>
      <p:sp>
        <p:nvSpPr>
          <p:cNvPr id="24" name="Text 22"/>
          <p:cNvSpPr/>
          <p:nvPr/>
        </p:nvSpPr>
        <p:spPr>
          <a:xfrm>
            <a:off x="4747022" y="2048470"/>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5" name="Text 23"/>
          <p:cNvSpPr/>
          <p:nvPr/>
        </p:nvSpPr>
        <p:spPr>
          <a:xfrm>
            <a:off x="4879181" y="218063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DOMAIN</a:t>
            </a:r>
            <a:endParaRPr lang="en-US" sz="800" dirty="0"/>
          </a:p>
        </p:txBody>
      </p:sp>
      <p:sp>
        <p:nvSpPr>
          <p:cNvPr id="26" name="Text 24"/>
          <p:cNvSpPr/>
          <p:nvPr/>
        </p:nvSpPr>
        <p:spPr>
          <a:xfrm>
            <a:off x="4879181" y="2350294"/>
            <a:ext cx="165735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Courier New" pitchFamily="34" charset="0"/>
                <a:ea typeface="Courier New" pitchFamily="34" charset="-122"/>
                <a:cs typeface="Courier New" pitchFamily="34" charset="-120"/>
              </a:rPr>
              <a:t>ekamai.in</a:t>
            </a:r>
            <a:endParaRPr lang="en-US" sz="800" dirty="0"/>
          </a:p>
        </p:txBody>
      </p:sp>
      <p:sp>
        <p:nvSpPr>
          <p:cNvPr id="27" name="Text 25"/>
          <p:cNvSpPr/>
          <p:nvPr/>
        </p:nvSpPr>
        <p:spPr>
          <a:xfrm>
            <a:off x="6761559" y="2048470"/>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8" name="Text 26"/>
          <p:cNvSpPr/>
          <p:nvPr/>
        </p:nvSpPr>
        <p:spPr>
          <a:xfrm>
            <a:off x="6893719" y="218063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EMAIL</a:t>
            </a:r>
            <a:endParaRPr lang="en-US" sz="800" dirty="0"/>
          </a:p>
        </p:txBody>
      </p:sp>
      <p:sp>
        <p:nvSpPr>
          <p:cNvPr id="29" name="Text 27"/>
          <p:cNvSpPr/>
          <p:nvPr/>
        </p:nvSpPr>
        <p:spPr>
          <a:xfrm>
            <a:off x="6893719" y="2350294"/>
            <a:ext cx="165735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Courier New" pitchFamily="34" charset="0"/>
                <a:ea typeface="Courier New" pitchFamily="34" charset="-122"/>
                <a:cs typeface="Courier New" pitchFamily="34" charset="-120"/>
              </a:rPr>
              <a:t>contact@ekamai.in</a:t>
            </a:r>
            <a:endParaRPr lang="en-US" sz="800" dirty="0"/>
          </a:p>
        </p:txBody>
      </p:sp>
      <p:sp>
        <p:nvSpPr>
          <p:cNvPr id="30" name="Text 28"/>
          <p:cNvSpPr/>
          <p:nvPr/>
        </p:nvSpPr>
        <p:spPr>
          <a:xfrm>
            <a:off x="4747022" y="2725341"/>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1" name="Text 29"/>
          <p:cNvSpPr/>
          <p:nvPr/>
        </p:nvSpPr>
        <p:spPr>
          <a:xfrm>
            <a:off x="4879181" y="285750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SOCIAL</a:t>
            </a:r>
            <a:endParaRPr lang="en-US" sz="800" dirty="0"/>
          </a:p>
        </p:txBody>
      </p:sp>
      <p:sp>
        <p:nvSpPr>
          <p:cNvPr id="32" name="Text 30"/>
          <p:cNvSpPr/>
          <p:nvPr/>
        </p:nvSpPr>
        <p:spPr>
          <a:xfrm>
            <a:off x="4879181" y="3027164"/>
            <a:ext cx="165735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Courier New" pitchFamily="34" charset="0"/>
                <a:ea typeface="Courier New" pitchFamily="34" charset="-122"/>
                <a:cs typeface="Courier New" pitchFamily="34" charset="-120"/>
              </a:rPr>
              <a:t>@ekam_ai</a:t>
            </a:r>
            <a:endParaRPr lang="en-US" sz="800" dirty="0"/>
          </a:p>
        </p:txBody>
      </p:sp>
      <p:sp>
        <p:nvSpPr>
          <p:cNvPr id="33" name="Text 31"/>
          <p:cNvSpPr/>
          <p:nvPr/>
        </p:nvSpPr>
        <p:spPr>
          <a:xfrm>
            <a:off x="6761559" y="2725341"/>
            <a:ext cx="1921669"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4" name="Text 32"/>
          <p:cNvSpPr/>
          <p:nvPr/>
        </p:nvSpPr>
        <p:spPr>
          <a:xfrm>
            <a:off x="6893719" y="2857500"/>
            <a:ext cx="1657350"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STATUS</a:t>
            </a:r>
            <a:endParaRPr lang="en-US" sz="800" dirty="0"/>
          </a:p>
        </p:txBody>
      </p:sp>
      <p:sp>
        <p:nvSpPr>
          <p:cNvPr id="35" name="Text 33"/>
          <p:cNvSpPr/>
          <p:nvPr/>
        </p:nvSpPr>
        <p:spPr>
          <a:xfrm>
            <a:off x="6893719" y="3070920"/>
            <a:ext cx="57150" cy="57150"/>
          </a:xfrm>
          <a:prstGeom prst="ellipse">
            <a:avLst/>
          </a:prstGeom>
          <a:solidFill>
            <a:srgbClr val="91E500"/>
          </a:solidFill>
          <a:ln/>
          <a:effectLst>
            <a:outerShdw sx="100000" sy="100000" kx="0" ky="0" algn="bl" rotWithShape="0" blurRad="101600" dist="50800" dir="16200000">
              <a:srgbClr val="91E500">
                <a:alpha val="44000"/>
              </a:srgbClr>
            </a:outerShdw>
          </a:effectLst>
        </p:spPr>
        <p:txBody>
          <a:bodyPr wrap="square" rtlCol="0" anchor="ctr"/>
          <a:lstStyle/>
          <a:p>
            <a:pPr indent="0" marL="0">
              <a:buNone/>
            </a:pPr>
            <a:endParaRPr lang="en-US" dirty="0"/>
          </a:p>
        </p:txBody>
      </p:sp>
      <p:sp>
        <p:nvSpPr>
          <p:cNvPr id="36" name="Text 34"/>
          <p:cNvSpPr/>
          <p:nvPr/>
        </p:nvSpPr>
        <p:spPr>
          <a:xfrm>
            <a:off x="7008019" y="3027164"/>
            <a:ext cx="1543050" cy="150019"/>
          </a:xfrm>
          <a:prstGeom prst="rect">
            <a:avLst/>
          </a:prstGeom>
          <a:noFill/>
          <a:ln/>
        </p:spPr>
        <p:txBody>
          <a:bodyPr wrap="none" lIns="0" tIns="0" rIns="0" bIns="0" rtlCol="0" anchor="t"/>
          <a:lstStyle/>
          <a:p>
            <a:pPr algn="l" indent="0" marL="0">
              <a:lnSpc>
                <a:spcPts val="1139"/>
              </a:lnSpc>
              <a:buNone/>
            </a:pPr>
            <a:r>
              <a:rPr lang="en-US" sz="800" spc="-8" kern="0" dirty="0">
                <a:solidFill>
                  <a:srgbClr val="F2F1F1"/>
                </a:solidFill>
                <a:latin typeface="Carlito" pitchFamily="34" charset="0"/>
                <a:ea typeface="Carlito" pitchFamily="34" charset="-122"/>
                <a:cs typeface="Carlito" pitchFamily="34" charset="-120"/>
              </a:rPr>
              <a:t>All systems operational</a:t>
            </a:r>
            <a:endParaRPr lang="en-US" sz="800" dirty="0"/>
          </a:p>
        </p:txBody>
      </p:sp>
      <p:sp>
        <p:nvSpPr>
          <p:cNvPr id="37" name="Text 35"/>
          <p:cNvSpPr/>
          <p:nvPr/>
        </p:nvSpPr>
        <p:spPr>
          <a:xfrm>
            <a:off x="4747022" y="3402211"/>
            <a:ext cx="3936206" cy="584002"/>
          </a:xfrm>
          <a:prstGeom prst="roundRect">
            <a:avLst>
              <a:gd name="adj" fmla="val 22834"/>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8" name="Text 36"/>
          <p:cNvSpPr/>
          <p:nvPr/>
        </p:nvSpPr>
        <p:spPr>
          <a:xfrm>
            <a:off x="4879181" y="3534370"/>
            <a:ext cx="3671888" cy="142232"/>
          </a:xfrm>
          <a:prstGeom prst="rect">
            <a:avLst/>
          </a:prstGeom>
          <a:noFill/>
          <a:ln/>
        </p:spPr>
        <p:txBody>
          <a:bodyPr wrap="none" lIns="0" tIns="0" rIns="0" bIns="0" rtlCol="0" anchor="t">
            <a:normAutofit/>
          </a:bodyPr>
          <a:lstStyle/>
          <a:p>
            <a:pPr algn="l" indent="0" marL="0">
              <a:lnSpc>
                <a:spcPts val="886"/>
              </a:lnSpc>
              <a:buNone/>
            </a:pPr>
            <a:r>
              <a:rPr lang="en-US" sz="800" spc="59" kern="0" dirty="0">
                <a:solidFill>
                  <a:srgbClr val="F2F1F1">
                    <a:alpha val="40000"/>
                  </a:srgbClr>
                </a:solidFill>
                <a:latin typeface="Courier New" pitchFamily="34" charset="0"/>
                <a:ea typeface="Courier New" pitchFamily="34" charset="-122"/>
                <a:cs typeface="Courier New" pitchFamily="34" charset="-120"/>
              </a:rPr>
              <a:t>RATING</a:t>
            </a:r>
            <a:endParaRPr lang="en-US" sz="800" dirty="0"/>
          </a:p>
        </p:txBody>
      </p:sp>
      <p:sp>
        <p:nvSpPr>
          <p:cNvPr id="39" name="Text 37"/>
          <p:cNvSpPr/>
          <p:nvPr/>
        </p:nvSpPr>
        <p:spPr>
          <a:xfrm>
            <a:off x="4879181"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0" name="Text 38"/>
          <p:cNvSpPr/>
          <p:nvPr/>
        </p:nvSpPr>
        <p:spPr>
          <a:xfrm>
            <a:off x="5007769"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1" name="Text 39"/>
          <p:cNvSpPr/>
          <p:nvPr/>
        </p:nvSpPr>
        <p:spPr>
          <a:xfrm>
            <a:off x="5136356"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2" name="Text 40"/>
          <p:cNvSpPr/>
          <p:nvPr/>
        </p:nvSpPr>
        <p:spPr>
          <a:xfrm>
            <a:off x="5264944"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3" name="Text 41"/>
          <p:cNvSpPr/>
          <p:nvPr/>
        </p:nvSpPr>
        <p:spPr>
          <a:xfrm>
            <a:off x="5393531" y="3721894"/>
            <a:ext cx="114300" cy="114300"/>
          </a:xfrm>
          <a:prstGeom prst="rect">
            <a:avLst/>
          </a:prstGeom>
          <a:noFill/>
          <a:ln/>
        </p:spPr>
        <p:txBody>
          <a:bodyPr wrap="none" lIns="0" tIns="0" rIns="0" bIns="0" rtlCol="0" anchor="ctr"/>
          <a:lstStyle/>
          <a:p>
            <a:pPr algn="ctr" indent="0" marL="0">
              <a:buNone/>
            </a:pPr>
            <a:r>
              <a:rPr lang="en-US" sz="1125" dirty="0">
                <a:solidFill>
                  <a:srgbClr val="FFB800"/>
                </a:solidFill>
                <a:latin typeface="Segoe UI Symbol" pitchFamily="34" charset="0"/>
                <a:ea typeface="Segoe UI Symbol" pitchFamily="34" charset="-122"/>
                <a:cs typeface="Segoe UI Symbol" pitchFamily="34" charset="-120"/>
              </a:rPr>
              <a:t>★</a:t>
            </a:r>
            <a:endParaRPr lang="en-US" sz="1125" dirty="0"/>
          </a:p>
        </p:txBody>
      </p:sp>
      <p:sp>
        <p:nvSpPr>
          <p:cNvPr id="44" name="Text 42"/>
          <p:cNvSpPr/>
          <p:nvPr/>
        </p:nvSpPr>
        <p:spPr>
          <a:xfrm>
            <a:off x="5579269" y="3704034"/>
            <a:ext cx="2971800" cy="150019"/>
          </a:xfrm>
          <a:prstGeom prst="rect">
            <a:avLst/>
          </a:prstGeom>
          <a:noFill/>
          <a:ln/>
        </p:spPr>
        <p:txBody>
          <a:bodyPr wrap="none" lIns="0" tIns="0" rIns="0" bIns="0" rtlCol="0" anchor="t"/>
          <a:lstStyle/>
          <a:p>
            <a:pPr algn="l" indent="0" marL="0">
              <a:lnSpc>
                <a:spcPts val="1181"/>
              </a:lnSpc>
              <a:buNone/>
            </a:pPr>
            <a:r>
              <a:rPr lang="en-US" sz="800" spc="-8" kern="0" dirty="0">
                <a:solidFill>
                  <a:srgbClr val="F2F1F1"/>
                </a:solidFill>
                <a:latin typeface="Liberation Sans Narrow" pitchFamily="34" charset="0"/>
                <a:ea typeface="Liberation Sans Narrow" pitchFamily="34" charset="-122"/>
                <a:cs typeface="Liberation Sans Narrow" pitchFamily="34" charset="-120"/>
              </a:rPr>
              <a:t>4.9/5 from 320+ founders</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15 / 16</a:t>
            </a:r>
            <a:endParaRPr lang="en-US" sz="800" dirty="0"/>
          </a:p>
        </p:txBody>
      </p:sp>
      <p:sp>
        <p:nvSpPr>
          <p:cNvPr id="4" name="Text 2"/>
          <p:cNvSpPr/>
          <p:nvPr/>
        </p:nvSpPr>
        <p:spPr>
          <a:xfrm>
            <a:off x="7286625" y="-857250"/>
            <a:ext cx="2571750" cy="2571750"/>
          </a:xfrm>
          <a:prstGeom prst="ellipse">
            <a:avLst/>
          </a:prstGeom>
          <a:solidFill>
            <a:srgbClr val="12BCFF">
              <a:alpha val="3000"/>
            </a:srgbClr>
          </a:solidFill>
          <a:ln/>
        </p:spPr>
        <p:txBody>
          <a:bodyPr wrap="square" rtlCol="0" anchor="ctr"/>
          <a:lstStyle/>
          <a:p>
            <a:pPr indent="0" marL="0">
              <a:buNone/>
            </a:pPr>
            <a:endParaRPr lang="en-US" dirty="0"/>
          </a:p>
        </p:txBody>
      </p:sp>
      <p:sp>
        <p:nvSpPr>
          <p:cNvPr id="5" name="Text 3"/>
          <p:cNvSpPr/>
          <p:nvPr/>
        </p:nvSpPr>
        <p:spPr>
          <a:xfrm>
            <a:off x="434340" y="444398"/>
            <a:ext cx="799051"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6" name="Text 4"/>
          <p:cNvSpPr/>
          <p:nvPr/>
        </p:nvSpPr>
        <p:spPr>
          <a:xfrm>
            <a:off x="564356" y="537567"/>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7" name="Text 5"/>
          <p:cNvSpPr/>
          <p:nvPr/>
        </p:nvSpPr>
        <p:spPr>
          <a:xfrm>
            <a:off x="457200" y="457200"/>
            <a:ext cx="753331"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ROADMAP</a:t>
            </a:r>
            <a:endParaRPr lang="en-US" sz="800" dirty="0"/>
          </a:p>
        </p:txBody>
      </p:sp>
      <p:sp>
        <p:nvSpPr>
          <p:cNvPr id="8" name="Text 6"/>
          <p:cNvSpPr/>
          <p:nvPr/>
        </p:nvSpPr>
        <p:spPr>
          <a:xfrm>
            <a:off x="457200" y="760809"/>
            <a:ext cx="3195751" cy="305476"/>
          </a:xfrm>
          <a:prstGeom prst="rect">
            <a:avLst/>
          </a:prstGeom>
          <a:noFill/>
          <a:ln/>
        </p:spPr>
        <p:txBody>
          <a:bodyPr wrap="none" lIns="0" tIns="0" rIns="0" bIns="0" rtlCol="0" anchor="t"/>
          <a:lstStyle/>
          <a:p>
            <a:pPr algn="l" indent="0" marL="0">
              <a:lnSpc>
                <a:spcPts val="2228"/>
              </a:lnSpc>
              <a:buNone/>
            </a:pPr>
            <a:r>
              <a:rPr lang="en-US" sz="2025" b="1" spc="-40" kern="0" dirty="0">
                <a:solidFill>
                  <a:srgbClr val="F2F1F1"/>
                </a:solidFill>
                <a:latin typeface="Carlito" pitchFamily="34" charset="0"/>
                <a:ea typeface="Carlito" pitchFamily="34" charset="-122"/>
                <a:cs typeface="Carlito" pitchFamily="34" charset="-120"/>
              </a:rPr>
              <a:t>What we are building next</a:t>
            </a:r>
            <a:endParaRPr lang="en-US" sz="2025" dirty="0"/>
          </a:p>
        </p:txBody>
      </p:sp>
      <p:sp>
        <p:nvSpPr>
          <p:cNvPr id="9" name="Text 7"/>
          <p:cNvSpPr/>
          <p:nvPr/>
        </p:nvSpPr>
        <p:spPr>
          <a:xfrm>
            <a:off x="7473032" y="868635"/>
            <a:ext cx="1429022" cy="244394"/>
          </a:xfrm>
          <a:prstGeom prst="rect">
            <a:avLst/>
          </a:prstGeom>
          <a:noFill/>
          <a:ln/>
        </p:spPr>
        <p:txBody>
          <a:bodyPr wrap="none" lIns="0" tIns="0" rIns="0" bIns="57150" rtlCol="0" anchor="t"/>
          <a:lstStyle/>
          <a:p>
            <a:pPr algn="l" indent="0" marL="0">
              <a:lnSpc>
                <a:spcPts val="928"/>
              </a:lnSpc>
              <a:buNone/>
            </a:pPr>
            <a:r>
              <a:rPr lang="en-US" sz="800" spc="62" kern="0" dirty="0">
                <a:solidFill>
                  <a:srgbClr val="F2F1F1">
                    <a:alpha val="40000"/>
                  </a:srgbClr>
                </a:solidFill>
                <a:latin typeface="Liberation Sans Narrow" pitchFamily="34" charset="0"/>
                <a:ea typeface="Liberation Sans Narrow" pitchFamily="34" charset="-122"/>
                <a:cs typeface="Liberation Sans Narrow" pitchFamily="34" charset="-120"/>
              </a:rPr>
              <a:t>2026 · SHIPPING WEEKLY</a:t>
            </a:r>
            <a:endParaRPr lang="en-US" sz="800" dirty="0"/>
          </a:p>
        </p:txBody>
      </p:sp>
      <p:pic>
        <p:nvPicPr>
          <p:cNvPr id="10" name="Image 0" descr="preencoded.png">    </p:cNvPr>
          <p:cNvPicPr>
            <a:picLocks noChangeAspect="1"/>
          </p:cNvPicPr>
          <p:nvPr/>
        </p:nvPicPr>
        <p:blipFill>
          <a:blip r:embed="rId1">
            <a:alphaModFix amt="50000"/>
          </a:blip>
          <a:stretch>
            <a:fillRect/>
          </a:stretch>
        </p:blipFill>
        <p:spPr>
          <a:xfrm>
            <a:off x="628650" y="1243682"/>
            <a:ext cx="7886700" cy="14288"/>
          </a:xfrm>
          <a:prstGeom prst="rect">
            <a:avLst/>
          </a:prstGeom>
        </p:spPr>
      </p:pic>
      <p:sp>
        <p:nvSpPr>
          <p:cNvPr id="11" name="Text 8"/>
          <p:cNvSpPr/>
          <p:nvPr/>
        </p:nvSpPr>
        <p:spPr>
          <a:xfrm>
            <a:off x="460772"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12" name="Text 9"/>
          <p:cNvSpPr/>
          <p:nvPr/>
        </p:nvSpPr>
        <p:spPr>
          <a:xfrm>
            <a:off x="625078" y="1697310"/>
            <a:ext cx="307181" cy="307181"/>
          </a:xfrm>
          <a:prstGeom prst="roundRect">
            <a:avLst>
              <a:gd name="adj" fmla="val 37209"/>
            </a:avLst>
          </a:prstGeom>
          <a:solidFill>
            <a:srgbClr val="91E500">
              <a:alpha val="8000"/>
            </a:srgbClr>
          </a:solidFill>
          <a:ln w="7144">
            <a:solidFill>
              <a:srgbClr val="91E500"/>
            </a:solidFill>
            <a:prstDash val="solid"/>
          </a:ln>
        </p:spPr>
        <p:txBody>
          <a:bodyPr wrap="square" rtlCol="0" anchor="ctr"/>
          <a:lstStyle/>
          <a:p>
            <a:pPr indent="0" marL="0">
              <a:buNone/>
            </a:pPr>
            <a:endParaRPr lang="en-US" dirty="0"/>
          </a:p>
        </p:txBody>
      </p:sp>
      <p:sp>
        <p:nvSpPr>
          <p:cNvPr id="13" name="Text 10"/>
          <p:cNvSpPr/>
          <p:nvPr/>
        </p:nvSpPr>
        <p:spPr>
          <a:xfrm>
            <a:off x="664726" y="1736958"/>
            <a:ext cx="227886" cy="227886"/>
          </a:xfrm>
          <a:prstGeom prst="rect">
            <a:avLst/>
          </a:prstGeom>
          <a:noFill/>
          <a:ln/>
        </p:spPr>
        <p:txBody>
          <a:bodyPr wrap="none" lIns="0" tIns="0" rIns="0" bIns="0" rtlCol="0" anchor="ctr"/>
          <a:lstStyle/>
          <a:p>
            <a:pPr algn="ctr" indent="0" marL="0">
              <a:buNone/>
            </a:pPr>
            <a:r>
              <a:rPr lang="en-US" sz="1547" dirty="0">
                <a:solidFill>
                  <a:srgbClr val="91E500"/>
                </a:solidFill>
                <a:latin typeface="Segoe UI Symbol" pitchFamily="34" charset="0"/>
                <a:ea typeface="Segoe UI Symbol" pitchFamily="34" charset="-122"/>
                <a:cs typeface="Segoe UI Symbol" pitchFamily="34" charset="-120"/>
              </a:rPr>
              <a:t>✓</a:t>
            </a:r>
            <a:endParaRPr lang="en-US" sz="1547" dirty="0"/>
          </a:p>
        </p:txBody>
      </p:sp>
      <p:sp>
        <p:nvSpPr>
          <p:cNvPr id="14" name="Text 11"/>
          <p:cNvSpPr/>
          <p:nvPr/>
        </p:nvSpPr>
        <p:spPr>
          <a:xfrm>
            <a:off x="1725350" y="1761890"/>
            <a:ext cx="559958" cy="178022"/>
          </a:xfrm>
          <a:prstGeom prst="roundRect">
            <a:avLst>
              <a:gd name="adj" fmla="val 53499273"/>
            </a:avLst>
          </a:prstGeom>
          <a:solidFill>
            <a:srgbClr val="91E500">
              <a:alpha val="15000"/>
            </a:srgbClr>
          </a:solidFill>
          <a:ln w="7144">
            <a:solidFill>
              <a:srgbClr val="91E500"/>
            </a:solidFill>
            <a:prstDash val="solid"/>
          </a:ln>
        </p:spPr>
        <p:txBody>
          <a:bodyPr wrap="square" rtlCol="0" anchor="ctr"/>
          <a:lstStyle/>
          <a:p>
            <a:pPr indent="0" marL="0">
              <a:buNone/>
            </a:pPr>
            <a:endParaRPr lang="en-US" dirty="0"/>
          </a:p>
        </p:txBody>
      </p:sp>
      <p:sp>
        <p:nvSpPr>
          <p:cNvPr id="15" name="Text 12"/>
          <p:cNvSpPr/>
          <p:nvPr/>
        </p:nvSpPr>
        <p:spPr>
          <a:xfrm>
            <a:off x="1746089" y="1771427"/>
            <a:ext cx="518480" cy="158948"/>
          </a:xfrm>
          <a:prstGeom prst="rect">
            <a:avLst/>
          </a:prstGeom>
          <a:noFill/>
          <a:ln/>
        </p:spPr>
        <p:txBody>
          <a:bodyPr wrap="none" lIns="0" tIns="0" rIns="0" bIns="0" rtlCol="0" anchor="ctr"/>
          <a:lstStyle/>
          <a:p>
            <a:pPr algn="ctr" indent="0" marL="0">
              <a:lnSpc>
                <a:spcPts val="802"/>
              </a:lnSpc>
              <a:buNone/>
            </a:pPr>
            <a:r>
              <a:rPr lang="en-US" sz="800" b="1" spc="53" kern="0" dirty="0">
                <a:solidFill>
                  <a:srgbClr val="91E500"/>
                </a:solidFill>
                <a:latin typeface="Carlito" pitchFamily="34" charset="0"/>
                <a:ea typeface="Carlito" pitchFamily="34" charset="-122"/>
                <a:cs typeface="Carlito" pitchFamily="34" charset="-120"/>
              </a:rPr>
              <a:t>LIVE NOW</a:t>
            </a:r>
            <a:endParaRPr lang="en-US" sz="800" dirty="0"/>
          </a:p>
        </p:txBody>
      </p:sp>
      <p:sp>
        <p:nvSpPr>
          <p:cNvPr id="16" name="Text 13"/>
          <p:cNvSpPr/>
          <p:nvPr/>
        </p:nvSpPr>
        <p:spPr>
          <a:xfrm>
            <a:off x="621506"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91E500"/>
                </a:solidFill>
                <a:latin typeface="Liberation Sans Narrow" pitchFamily="34" charset="0"/>
                <a:ea typeface="Liberation Sans Narrow" pitchFamily="34" charset="-122"/>
                <a:cs typeface="Liberation Sans Narrow" pitchFamily="34" charset="-120"/>
              </a:rPr>
              <a:t>Q1 2026</a:t>
            </a:r>
            <a:endParaRPr lang="en-US" sz="800" dirty="0"/>
          </a:p>
        </p:txBody>
      </p:sp>
      <p:sp>
        <p:nvSpPr>
          <p:cNvPr id="17" name="Text 14"/>
          <p:cNvSpPr/>
          <p:nvPr/>
        </p:nvSpPr>
        <p:spPr>
          <a:xfrm>
            <a:off x="621506"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Launch</a:t>
            </a:r>
            <a:endParaRPr lang="en-US" sz="1069" dirty="0"/>
          </a:p>
        </p:txBody>
      </p:sp>
      <p:sp>
        <p:nvSpPr>
          <p:cNvPr id="18" name="Text 15"/>
          <p:cNvSpPr/>
          <p:nvPr/>
        </p:nvSpPr>
        <p:spPr>
          <a:xfrm>
            <a:off x="621506"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Flow + Pentest + Search live. Public signup open. Discord community launched.</a:t>
            </a:r>
            <a:endParaRPr lang="en-US" sz="800" dirty="0"/>
          </a:p>
        </p:txBody>
      </p:sp>
      <p:sp>
        <p:nvSpPr>
          <p:cNvPr id="19" name="Text 16"/>
          <p:cNvSpPr/>
          <p:nvPr/>
        </p:nvSpPr>
        <p:spPr>
          <a:xfrm>
            <a:off x="2546747"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0" name="Text 17"/>
          <p:cNvSpPr/>
          <p:nvPr/>
        </p:nvSpPr>
        <p:spPr>
          <a:xfrm>
            <a:off x="2711053" y="1697310"/>
            <a:ext cx="307181" cy="307181"/>
          </a:xfrm>
          <a:prstGeom prst="roundRect">
            <a:avLst>
              <a:gd name="adj" fmla="val 37209"/>
            </a:avLst>
          </a:prstGeom>
          <a:solidFill>
            <a:srgbClr val="12BCFF">
              <a:alpha val="8000"/>
            </a:srgbClr>
          </a:solidFill>
          <a:ln w="7144">
            <a:solidFill>
              <a:srgbClr val="12BCFF"/>
            </a:solidFill>
            <a:prstDash val="solid"/>
          </a:ln>
        </p:spPr>
        <p:txBody>
          <a:bodyPr wrap="square" rtlCol="0" anchor="ctr"/>
          <a:lstStyle/>
          <a:p>
            <a:pPr indent="0" marL="0">
              <a:buNone/>
            </a:pPr>
            <a:endParaRPr lang="en-US" dirty="0"/>
          </a:p>
        </p:txBody>
      </p:sp>
      <p:sp>
        <p:nvSpPr>
          <p:cNvPr id="21" name="Text 18"/>
          <p:cNvSpPr/>
          <p:nvPr/>
        </p:nvSpPr>
        <p:spPr>
          <a:xfrm>
            <a:off x="2750701" y="1736958"/>
            <a:ext cx="227886" cy="227886"/>
          </a:xfrm>
          <a:prstGeom prst="rect">
            <a:avLst/>
          </a:prstGeom>
          <a:noFill/>
          <a:ln/>
        </p:spPr>
        <p:txBody>
          <a:bodyPr wrap="none" lIns="0" tIns="0" rIns="0" bIns="0" rtlCol="0" anchor="ctr"/>
          <a:lstStyle/>
          <a:p>
            <a:pPr algn="ctr" indent="0" marL="0">
              <a:buNone/>
            </a:pPr>
            <a:r>
              <a:rPr lang="en-US" sz="1547" dirty="0">
                <a:solidFill>
                  <a:srgbClr val="12BCFF"/>
                </a:solidFill>
                <a:latin typeface="Segoe UI Symbol" pitchFamily="34" charset="0"/>
                <a:ea typeface="Segoe UI Symbol" pitchFamily="34" charset="-122"/>
                <a:cs typeface="Segoe UI Symbol" pitchFamily="34" charset="-120"/>
              </a:rPr>
              <a:t>✦</a:t>
            </a:r>
            <a:endParaRPr lang="en-US" sz="1547" dirty="0"/>
          </a:p>
        </p:txBody>
      </p:sp>
      <p:sp>
        <p:nvSpPr>
          <p:cNvPr id="22" name="Text 19"/>
          <p:cNvSpPr/>
          <p:nvPr/>
        </p:nvSpPr>
        <p:spPr>
          <a:xfrm>
            <a:off x="4149849" y="1797323"/>
            <a:ext cx="200695"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Courier New" pitchFamily="34" charset="0"/>
                <a:ea typeface="Courier New" pitchFamily="34" charset="-122"/>
                <a:cs typeface="Courier New" pitchFamily="34" charset="-120"/>
              </a:rPr>
              <a:t>NEXT</a:t>
            </a:r>
            <a:endParaRPr lang="en-US" sz="800" dirty="0"/>
          </a:p>
        </p:txBody>
      </p:sp>
      <p:sp>
        <p:nvSpPr>
          <p:cNvPr id="23" name="Text 20"/>
          <p:cNvSpPr/>
          <p:nvPr/>
        </p:nvSpPr>
        <p:spPr>
          <a:xfrm>
            <a:off x="2707481"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12BCFF"/>
                </a:solidFill>
                <a:latin typeface="Liberation Sans Narrow" pitchFamily="34" charset="0"/>
                <a:ea typeface="Liberation Sans Narrow" pitchFamily="34" charset="-122"/>
                <a:cs typeface="Liberation Sans Narrow" pitchFamily="34" charset="-120"/>
              </a:rPr>
              <a:t>Q2 2026</a:t>
            </a:r>
            <a:endParaRPr lang="en-US" sz="800" dirty="0"/>
          </a:p>
        </p:txBody>
      </p:sp>
      <p:sp>
        <p:nvSpPr>
          <p:cNvPr id="24" name="Text 21"/>
          <p:cNvSpPr/>
          <p:nvPr/>
        </p:nvSpPr>
        <p:spPr>
          <a:xfrm>
            <a:off x="2707481"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Integrations</a:t>
            </a:r>
            <a:endParaRPr lang="en-US" sz="1069" dirty="0"/>
          </a:p>
        </p:txBody>
      </p:sp>
      <p:sp>
        <p:nvSpPr>
          <p:cNvPr id="25" name="Text 22"/>
          <p:cNvSpPr/>
          <p:nvPr/>
        </p:nvSpPr>
        <p:spPr>
          <a:xfrm>
            <a:off x="2707481"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Custom integrations, agency partner program, advanced Pentest vulnerability classes.</a:t>
            </a:r>
            <a:endParaRPr lang="en-US" sz="800" dirty="0"/>
          </a:p>
        </p:txBody>
      </p:sp>
      <p:sp>
        <p:nvSpPr>
          <p:cNvPr id="26" name="Text 23"/>
          <p:cNvSpPr/>
          <p:nvPr/>
        </p:nvSpPr>
        <p:spPr>
          <a:xfrm>
            <a:off x="4632722"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27" name="Text 24"/>
          <p:cNvSpPr/>
          <p:nvPr/>
        </p:nvSpPr>
        <p:spPr>
          <a:xfrm>
            <a:off x="4797028" y="1697310"/>
            <a:ext cx="307181" cy="307181"/>
          </a:xfrm>
          <a:prstGeom prst="roundRect">
            <a:avLst>
              <a:gd name="adj" fmla="val 37209"/>
            </a:avLst>
          </a:prstGeom>
          <a:solidFill>
            <a:srgbClr val="2F44FF">
              <a:alpha val="8000"/>
            </a:srgbClr>
          </a:solidFill>
          <a:ln w="7144">
            <a:solidFill>
              <a:srgbClr val="2F44FF"/>
            </a:solidFill>
            <a:prstDash val="solid"/>
          </a:ln>
        </p:spPr>
        <p:txBody>
          <a:bodyPr wrap="square" rtlCol="0" anchor="ctr"/>
          <a:lstStyle/>
          <a:p>
            <a:pPr indent="0" marL="0">
              <a:buNone/>
            </a:pPr>
            <a:endParaRPr lang="en-US" dirty="0"/>
          </a:p>
        </p:txBody>
      </p:sp>
      <p:sp>
        <p:nvSpPr>
          <p:cNvPr id="28" name="Text 25"/>
          <p:cNvSpPr/>
          <p:nvPr/>
        </p:nvSpPr>
        <p:spPr>
          <a:xfrm>
            <a:off x="4836676" y="1736958"/>
            <a:ext cx="227886" cy="227886"/>
          </a:xfrm>
          <a:prstGeom prst="rect">
            <a:avLst/>
          </a:prstGeom>
          <a:noFill/>
          <a:ln/>
        </p:spPr>
        <p:txBody>
          <a:bodyPr wrap="none" lIns="0" tIns="0" rIns="0" bIns="0" rtlCol="0" anchor="ctr"/>
          <a:lstStyle/>
          <a:p>
            <a:pPr algn="ctr" indent="0" marL="0">
              <a:buNone/>
            </a:pPr>
            <a:r>
              <a:rPr lang="en-US" sz="1547" dirty="0">
                <a:solidFill>
                  <a:srgbClr val="2F44FF"/>
                </a:solidFill>
                <a:latin typeface="Segoe UI Symbol" pitchFamily="34" charset="0"/>
                <a:ea typeface="Segoe UI Symbol" pitchFamily="34" charset="-122"/>
                <a:cs typeface="Segoe UI Symbol" pitchFamily="34" charset="-120"/>
              </a:rPr>
              <a:t>▯</a:t>
            </a:r>
            <a:endParaRPr lang="en-US" sz="1547" dirty="0"/>
          </a:p>
        </p:txBody>
      </p:sp>
      <p:sp>
        <p:nvSpPr>
          <p:cNvPr id="29" name="Text 26"/>
          <p:cNvSpPr/>
          <p:nvPr/>
        </p:nvSpPr>
        <p:spPr>
          <a:xfrm>
            <a:off x="6085359" y="1797323"/>
            <a:ext cx="351160"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Courier New" pitchFamily="34" charset="0"/>
                <a:ea typeface="Courier New" pitchFamily="34" charset="-122"/>
                <a:cs typeface="Courier New" pitchFamily="34" charset="-120"/>
              </a:rPr>
              <a:t>PLANNED</a:t>
            </a:r>
            <a:endParaRPr lang="en-US" sz="800" dirty="0"/>
          </a:p>
        </p:txBody>
      </p:sp>
      <p:sp>
        <p:nvSpPr>
          <p:cNvPr id="30" name="Text 27"/>
          <p:cNvSpPr/>
          <p:nvPr/>
        </p:nvSpPr>
        <p:spPr>
          <a:xfrm>
            <a:off x="4793456"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2F44FF"/>
                </a:solidFill>
                <a:latin typeface="Liberation Sans Narrow" pitchFamily="34" charset="0"/>
                <a:ea typeface="Liberation Sans Narrow" pitchFamily="34" charset="-122"/>
                <a:cs typeface="Liberation Sans Narrow" pitchFamily="34" charset="-120"/>
              </a:rPr>
              <a:t>Q3 2026</a:t>
            </a:r>
            <a:endParaRPr lang="en-US" sz="800" dirty="0"/>
          </a:p>
        </p:txBody>
      </p:sp>
      <p:sp>
        <p:nvSpPr>
          <p:cNvPr id="31" name="Text 28"/>
          <p:cNvSpPr/>
          <p:nvPr/>
        </p:nvSpPr>
        <p:spPr>
          <a:xfrm>
            <a:off x="4793456"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Mobile</a:t>
            </a:r>
            <a:endParaRPr lang="en-US" sz="1069" dirty="0"/>
          </a:p>
        </p:txBody>
      </p:sp>
      <p:sp>
        <p:nvSpPr>
          <p:cNvPr id="32" name="Text 29"/>
          <p:cNvSpPr/>
          <p:nvPr/>
        </p:nvSpPr>
        <p:spPr>
          <a:xfrm>
            <a:off x="4793456"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Mobile app builder via Flow, advanced pentest for APIs and staging environments.</a:t>
            </a:r>
            <a:endParaRPr lang="en-US" sz="800" dirty="0"/>
          </a:p>
        </p:txBody>
      </p:sp>
      <p:sp>
        <p:nvSpPr>
          <p:cNvPr id="33" name="Text 30"/>
          <p:cNvSpPr/>
          <p:nvPr/>
        </p:nvSpPr>
        <p:spPr>
          <a:xfrm>
            <a:off x="6718697" y="1533004"/>
            <a:ext cx="1964531" cy="1685367"/>
          </a:xfrm>
          <a:prstGeom prst="roundRect">
            <a:avLst>
              <a:gd name="adj" fmla="val 9043"/>
            </a:avLst>
          </a:prstGeom>
          <a:solidFill>
            <a:srgbClr val="16161E"/>
          </a:solidFill>
          <a:ln w="7144">
            <a:solidFill>
              <a:srgbClr val="FFFFFF"/>
            </a:solidFill>
            <a:prstDash val="solid"/>
          </a:ln>
        </p:spPr>
        <p:txBody>
          <a:bodyPr wrap="square" rtlCol="0" anchor="ctr"/>
          <a:lstStyle/>
          <a:p>
            <a:pPr indent="0" marL="0">
              <a:buNone/>
            </a:pPr>
            <a:endParaRPr lang="en-US" dirty="0"/>
          </a:p>
        </p:txBody>
      </p:sp>
      <p:sp>
        <p:nvSpPr>
          <p:cNvPr id="34" name="Text 31"/>
          <p:cNvSpPr/>
          <p:nvPr/>
        </p:nvSpPr>
        <p:spPr>
          <a:xfrm>
            <a:off x="6883003" y="1697310"/>
            <a:ext cx="307181" cy="307181"/>
          </a:xfrm>
          <a:prstGeom prst="roundRect">
            <a:avLst>
              <a:gd name="adj" fmla="val 37209"/>
            </a:avLst>
          </a:prstGeom>
          <a:solidFill>
            <a:srgbClr val="8200DF">
              <a:alpha val="8000"/>
            </a:srgbClr>
          </a:solidFill>
          <a:ln w="7144">
            <a:solidFill>
              <a:srgbClr val="8200DF"/>
            </a:solidFill>
            <a:prstDash val="solid"/>
          </a:ln>
        </p:spPr>
        <p:txBody>
          <a:bodyPr wrap="square" rtlCol="0" anchor="ctr"/>
          <a:lstStyle/>
          <a:p>
            <a:pPr indent="0" marL="0">
              <a:buNone/>
            </a:pPr>
            <a:endParaRPr lang="en-US" dirty="0"/>
          </a:p>
        </p:txBody>
      </p:sp>
      <p:sp>
        <p:nvSpPr>
          <p:cNvPr id="35" name="Text 32"/>
          <p:cNvSpPr/>
          <p:nvPr/>
        </p:nvSpPr>
        <p:spPr>
          <a:xfrm>
            <a:off x="6922651" y="1736958"/>
            <a:ext cx="227886" cy="227886"/>
          </a:xfrm>
          <a:prstGeom prst="rect">
            <a:avLst/>
          </a:prstGeom>
          <a:noFill/>
          <a:ln/>
        </p:spPr>
        <p:txBody>
          <a:bodyPr wrap="none" lIns="0" tIns="0" rIns="0" bIns="0" rtlCol="0" anchor="ctr"/>
          <a:lstStyle/>
          <a:p>
            <a:pPr algn="ctr" indent="0" marL="0">
              <a:buNone/>
            </a:pPr>
            <a:r>
              <a:rPr lang="en-US" sz="1547" dirty="0">
                <a:solidFill>
                  <a:srgbClr val="8200DF"/>
                </a:solidFill>
                <a:latin typeface="Segoe UI Symbol" pitchFamily="34" charset="0"/>
                <a:ea typeface="Segoe UI Symbol" pitchFamily="34" charset="-122"/>
                <a:cs typeface="Segoe UI Symbol" pitchFamily="34" charset="-120"/>
              </a:rPr>
              <a:t>⛨</a:t>
            </a:r>
            <a:endParaRPr lang="en-US" sz="1547" dirty="0"/>
          </a:p>
        </p:txBody>
      </p:sp>
      <p:sp>
        <p:nvSpPr>
          <p:cNvPr id="36" name="Text 33"/>
          <p:cNvSpPr/>
          <p:nvPr/>
        </p:nvSpPr>
        <p:spPr>
          <a:xfrm>
            <a:off x="8171334" y="1797323"/>
            <a:ext cx="351160" cy="164592"/>
          </a:xfrm>
          <a:prstGeom prst="rect">
            <a:avLst/>
          </a:prstGeom>
          <a:noFill/>
          <a:ln/>
        </p:spPr>
        <p:txBody>
          <a:bodyPr wrap="square" lIns="0" tIns="0" rIns="0" bIns="0" rtlCol="0" anchor="t"/>
          <a:lstStyle/>
          <a:p>
            <a:pPr algn="l" indent="0" marL="0">
              <a:lnSpc>
                <a:spcPts val="844"/>
              </a:lnSpc>
              <a:buNone/>
            </a:pPr>
            <a:r>
              <a:rPr lang="en-US" sz="800" spc="56" kern="0" dirty="0">
                <a:solidFill>
                  <a:srgbClr val="F2F1F1">
                    <a:alpha val="40000"/>
                  </a:srgbClr>
                </a:solidFill>
                <a:latin typeface="Courier New" pitchFamily="34" charset="0"/>
                <a:ea typeface="Courier New" pitchFamily="34" charset="-122"/>
                <a:cs typeface="Courier New" pitchFamily="34" charset="-120"/>
              </a:rPr>
              <a:t>PLANNED</a:t>
            </a:r>
            <a:endParaRPr lang="en-US" sz="800" dirty="0"/>
          </a:p>
        </p:txBody>
      </p:sp>
      <p:sp>
        <p:nvSpPr>
          <p:cNvPr id="37" name="Text 34"/>
          <p:cNvSpPr/>
          <p:nvPr/>
        </p:nvSpPr>
        <p:spPr>
          <a:xfrm>
            <a:off x="6879431" y="2093788"/>
            <a:ext cx="1643063" cy="164592"/>
          </a:xfrm>
          <a:prstGeom prst="rect">
            <a:avLst/>
          </a:prstGeom>
          <a:noFill/>
          <a:ln/>
        </p:spPr>
        <p:txBody>
          <a:bodyPr wrap="none" lIns="0" tIns="0" rIns="0" bIns="0" rtlCol="0" anchor="t"/>
          <a:lstStyle/>
          <a:p>
            <a:pPr algn="l" indent="0" marL="0">
              <a:lnSpc>
                <a:spcPts val="1013"/>
              </a:lnSpc>
              <a:buNone/>
            </a:pPr>
            <a:r>
              <a:rPr lang="en-US" sz="800" b="1" spc="54" kern="0" dirty="0">
                <a:solidFill>
                  <a:srgbClr val="8200DF"/>
                </a:solidFill>
                <a:latin typeface="Liberation Sans Narrow" pitchFamily="34" charset="0"/>
                <a:ea typeface="Liberation Sans Narrow" pitchFamily="34" charset="-122"/>
                <a:cs typeface="Liberation Sans Narrow" pitchFamily="34" charset="-120"/>
              </a:rPr>
              <a:t>Q4 2026</a:t>
            </a:r>
            <a:endParaRPr lang="en-US" sz="800" dirty="0"/>
          </a:p>
        </p:txBody>
      </p:sp>
      <p:sp>
        <p:nvSpPr>
          <p:cNvPr id="38" name="Text 35"/>
          <p:cNvSpPr/>
          <p:nvPr/>
        </p:nvSpPr>
        <p:spPr>
          <a:xfrm>
            <a:off x="6879431" y="2336676"/>
            <a:ext cx="1643063" cy="219885"/>
          </a:xfrm>
          <a:prstGeom prst="rect">
            <a:avLst/>
          </a:prstGeom>
          <a:noFill/>
          <a:ln/>
        </p:spPr>
        <p:txBody>
          <a:bodyPr wrap="none" lIns="0" tIns="0" rIns="0" bIns="0" rtlCol="0" anchor="t"/>
          <a:lstStyle/>
          <a:p>
            <a:pPr algn="l" indent="0" marL="0">
              <a:lnSpc>
                <a:spcPts val="1603"/>
              </a:lnSpc>
              <a:buNone/>
            </a:pPr>
            <a:r>
              <a:rPr lang="en-US" sz="1069" b="1" spc="-16" kern="0" dirty="0">
                <a:solidFill>
                  <a:srgbClr val="F2F1F1"/>
                </a:solidFill>
                <a:latin typeface="Carlito" pitchFamily="34" charset="0"/>
                <a:ea typeface="Carlito" pitchFamily="34" charset="-122"/>
                <a:cs typeface="Carlito" pitchFamily="34" charset="-120"/>
              </a:rPr>
              <a:t>Enterprise</a:t>
            </a:r>
            <a:endParaRPr lang="en-US" sz="1069" dirty="0"/>
          </a:p>
        </p:txBody>
      </p:sp>
      <p:sp>
        <p:nvSpPr>
          <p:cNvPr id="39" name="Text 36"/>
          <p:cNvSpPr/>
          <p:nvPr/>
        </p:nvSpPr>
        <p:spPr>
          <a:xfrm>
            <a:off x="6879431" y="2625998"/>
            <a:ext cx="1643063" cy="431639"/>
          </a:xfrm>
          <a:prstGeom prst="rect">
            <a:avLst/>
          </a:prstGeom>
          <a:noFill/>
          <a:ln/>
        </p:spPr>
        <p:txBody>
          <a:bodyPr wrap="square" lIns="0" tIns="0" rIns="0" bIns="0" rtlCol="0" anchor="t"/>
          <a:lstStyle/>
          <a:p>
            <a:pPr algn="l" indent="0" marL="0">
              <a:lnSpc>
                <a:spcPts val="1133"/>
              </a:lnSpc>
              <a:buNone/>
            </a:pPr>
            <a:r>
              <a:rPr lang="en-US" sz="800" dirty="0">
                <a:solidFill>
                  <a:srgbClr val="F2F1F1">
                    <a:alpha val="60000"/>
                  </a:srgbClr>
                </a:solidFill>
                <a:latin typeface="Carlito" pitchFamily="34" charset="0"/>
                <a:ea typeface="Carlito" pitchFamily="34" charset="-122"/>
                <a:cs typeface="Carlito" pitchFamily="34" charset="-120"/>
              </a:rPr>
              <a:t>Enterprise SSO, SLA, audit logs, custom onboarding, dedicated success engineer.</a:t>
            </a:r>
            <a:endParaRPr lang="en-US" sz="800" dirty="0"/>
          </a:p>
        </p:txBody>
      </p:sp>
      <p:pic>
        <p:nvPicPr>
          <p:cNvPr id="40" name="Image 1" descr="preencoded.png">    </p:cNvPr>
          <p:cNvPicPr>
            <a:picLocks noChangeAspect="1"/>
          </p:cNvPicPr>
          <p:nvPr/>
        </p:nvPicPr>
        <p:blipFill>
          <a:blip r:embed="rId2"/>
          <a:stretch>
            <a:fillRect/>
          </a:stretch>
        </p:blipFill>
        <p:spPr>
          <a:xfrm>
            <a:off x="2514600" y="3479118"/>
            <a:ext cx="4114800" cy="21431"/>
          </a:xfrm>
          <a:prstGeom prst="rect">
            <a:avLst/>
          </a:prstGeom>
        </p:spPr>
      </p:pic>
      <p:sp>
        <p:nvSpPr>
          <p:cNvPr id="41" name="Text 37"/>
          <p:cNvSpPr/>
          <p:nvPr/>
        </p:nvSpPr>
        <p:spPr>
          <a:xfrm>
            <a:off x="3245607"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91E500"/>
                </a:solidFill>
                <a:latin typeface="Liberation Sans Narrow" pitchFamily="34" charset="0"/>
                <a:ea typeface="Liberation Sans Narrow" pitchFamily="34" charset="-122"/>
                <a:cs typeface="Liberation Sans Narrow" pitchFamily="34" charset="-120"/>
              </a:rPr>
              <a:t>Q1</a:t>
            </a:r>
            <a:endParaRPr lang="en-US" sz="800" dirty="0"/>
          </a:p>
        </p:txBody>
      </p:sp>
      <p:sp>
        <p:nvSpPr>
          <p:cNvPr id="42" name="Text 38"/>
          <p:cNvSpPr/>
          <p:nvPr/>
        </p:nvSpPr>
        <p:spPr>
          <a:xfrm>
            <a:off x="3480792" y="3607705"/>
            <a:ext cx="91440" cy="100013"/>
          </a:xfrm>
          <a:prstGeom prst="rect">
            <a:avLst/>
          </a:prstGeom>
          <a:noFill/>
          <a:ln/>
        </p:spPr>
        <p:txBody>
          <a:bodyPr wrap="none" lIns="0" tIns="0" rIns="0" bIns="0" rtlCol="0" anchor="ctr"/>
          <a:lstStyle/>
          <a:p>
            <a:pPr algn="ctr" indent="0" marL="0">
              <a:buNone/>
            </a:pPr>
            <a:r>
              <a:rPr lang="en-US" sz="800" spc="78" kern="0" dirty="0">
                <a:solidFill>
                  <a:srgbClr val="F2F1F1">
                    <a:alpha val="40000"/>
                  </a:srgbClr>
                </a:solidFill>
                <a:latin typeface="Segoe UI Symbol" pitchFamily="34" charset="0"/>
                <a:ea typeface="Segoe UI Symbol" pitchFamily="34" charset="-122"/>
                <a:cs typeface="Segoe UI Symbol" pitchFamily="34" charset="-120"/>
              </a:rPr>
              <a:t>→</a:t>
            </a:r>
            <a:endParaRPr lang="en-US" sz="800" dirty="0"/>
          </a:p>
        </p:txBody>
      </p:sp>
      <p:sp>
        <p:nvSpPr>
          <p:cNvPr id="43" name="Text 39"/>
          <p:cNvSpPr/>
          <p:nvPr/>
        </p:nvSpPr>
        <p:spPr>
          <a:xfrm>
            <a:off x="3656707"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12BCFF"/>
                </a:solidFill>
                <a:latin typeface="Liberation Sans Narrow" pitchFamily="34" charset="0"/>
                <a:ea typeface="Liberation Sans Narrow" pitchFamily="34" charset="-122"/>
                <a:cs typeface="Liberation Sans Narrow" pitchFamily="34" charset="-120"/>
              </a:rPr>
              <a:t>Q2</a:t>
            </a:r>
            <a:endParaRPr lang="en-US" sz="800" dirty="0"/>
          </a:p>
        </p:txBody>
      </p:sp>
      <p:sp>
        <p:nvSpPr>
          <p:cNvPr id="44" name="Text 40"/>
          <p:cNvSpPr/>
          <p:nvPr/>
        </p:nvSpPr>
        <p:spPr>
          <a:xfrm>
            <a:off x="3891893" y="3607705"/>
            <a:ext cx="91440" cy="100013"/>
          </a:xfrm>
          <a:prstGeom prst="rect">
            <a:avLst/>
          </a:prstGeom>
          <a:noFill/>
          <a:ln/>
        </p:spPr>
        <p:txBody>
          <a:bodyPr wrap="none" lIns="0" tIns="0" rIns="0" bIns="0" rtlCol="0" anchor="ctr"/>
          <a:lstStyle/>
          <a:p>
            <a:pPr algn="ctr" indent="0" marL="0">
              <a:buNone/>
            </a:pPr>
            <a:r>
              <a:rPr lang="en-US" sz="800" spc="78" kern="0" dirty="0">
                <a:solidFill>
                  <a:srgbClr val="F2F1F1">
                    <a:alpha val="40000"/>
                  </a:srgbClr>
                </a:solidFill>
                <a:latin typeface="Segoe UI Symbol" pitchFamily="34" charset="0"/>
                <a:ea typeface="Segoe UI Symbol" pitchFamily="34" charset="-122"/>
                <a:cs typeface="Segoe UI Symbol" pitchFamily="34" charset="-120"/>
              </a:rPr>
              <a:t>→</a:t>
            </a:r>
            <a:endParaRPr lang="en-US" sz="800" dirty="0"/>
          </a:p>
        </p:txBody>
      </p:sp>
      <p:sp>
        <p:nvSpPr>
          <p:cNvPr id="45" name="Text 41"/>
          <p:cNvSpPr/>
          <p:nvPr/>
        </p:nvSpPr>
        <p:spPr>
          <a:xfrm>
            <a:off x="4067808"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2F44FF"/>
                </a:solidFill>
                <a:latin typeface="Liberation Sans Narrow" pitchFamily="34" charset="0"/>
                <a:ea typeface="Liberation Sans Narrow" pitchFamily="34" charset="-122"/>
                <a:cs typeface="Liberation Sans Narrow" pitchFamily="34" charset="-120"/>
              </a:rPr>
              <a:t>Q3</a:t>
            </a:r>
            <a:endParaRPr lang="en-US" sz="800" dirty="0"/>
          </a:p>
        </p:txBody>
      </p:sp>
      <p:sp>
        <p:nvSpPr>
          <p:cNvPr id="46" name="Text 42"/>
          <p:cNvSpPr/>
          <p:nvPr/>
        </p:nvSpPr>
        <p:spPr>
          <a:xfrm>
            <a:off x="4302993" y="3607705"/>
            <a:ext cx="91440" cy="100013"/>
          </a:xfrm>
          <a:prstGeom prst="rect">
            <a:avLst/>
          </a:prstGeom>
          <a:noFill/>
          <a:ln/>
        </p:spPr>
        <p:txBody>
          <a:bodyPr wrap="none" lIns="0" tIns="0" rIns="0" bIns="0" rtlCol="0" anchor="ctr"/>
          <a:lstStyle/>
          <a:p>
            <a:pPr algn="ctr" indent="0" marL="0">
              <a:buNone/>
            </a:pPr>
            <a:r>
              <a:rPr lang="en-US" sz="800" spc="78" kern="0" dirty="0">
                <a:solidFill>
                  <a:srgbClr val="F2F1F1">
                    <a:alpha val="40000"/>
                  </a:srgbClr>
                </a:solidFill>
                <a:latin typeface="Segoe UI Symbol" pitchFamily="34" charset="0"/>
                <a:ea typeface="Segoe UI Symbol" pitchFamily="34" charset="-122"/>
                <a:cs typeface="Segoe UI Symbol" pitchFamily="34" charset="-120"/>
              </a:rPr>
              <a:t>→</a:t>
            </a:r>
            <a:endParaRPr lang="en-US" sz="800" dirty="0"/>
          </a:p>
        </p:txBody>
      </p:sp>
      <p:sp>
        <p:nvSpPr>
          <p:cNvPr id="47" name="Text 43"/>
          <p:cNvSpPr/>
          <p:nvPr/>
        </p:nvSpPr>
        <p:spPr>
          <a:xfrm>
            <a:off x="4478908" y="3607705"/>
            <a:ext cx="189845"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8200DF"/>
                </a:solidFill>
                <a:latin typeface="Liberation Sans Narrow" pitchFamily="34" charset="0"/>
                <a:ea typeface="Liberation Sans Narrow" pitchFamily="34" charset="-122"/>
                <a:cs typeface="Liberation Sans Narrow" pitchFamily="34" charset="-120"/>
              </a:rPr>
              <a:t>Q4</a:t>
            </a:r>
            <a:endParaRPr lang="en-US" sz="800" dirty="0"/>
          </a:p>
        </p:txBody>
      </p:sp>
      <p:sp>
        <p:nvSpPr>
          <p:cNvPr id="48" name="Text 44"/>
          <p:cNvSpPr/>
          <p:nvPr/>
        </p:nvSpPr>
        <p:spPr>
          <a:xfrm>
            <a:off x="4771244" y="3607705"/>
            <a:ext cx="1430388" cy="133582"/>
          </a:xfrm>
          <a:prstGeom prst="rect">
            <a:avLst/>
          </a:prstGeom>
          <a:noFill/>
          <a:ln/>
        </p:spPr>
        <p:txBody>
          <a:bodyPr wrap="none" lIns="0" tIns="0" rIns="0" bIns="0" rtlCol="0" anchor="t"/>
          <a:lstStyle/>
          <a:p>
            <a:pPr algn="l" indent="0" marL="0">
              <a:lnSpc>
                <a:spcPts val="970"/>
              </a:lnSpc>
              <a:buNone/>
            </a:pPr>
            <a:r>
              <a:rPr lang="en-US" sz="800" spc="78" kern="0" dirty="0">
                <a:solidFill>
                  <a:srgbClr val="F2F1F1">
                    <a:alpha val="60000"/>
                  </a:srgbClr>
                </a:solidFill>
                <a:latin typeface="Courier New" pitchFamily="34" charset="0"/>
                <a:ea typeface="Courier New" pitchFamily="34" charset="-122"/>
                <a:cs typeface="Courier New" pitchFamily="34" charset="-120"/>
              </a:rPr>
              <a:t>SHIPPING EVERY WEEK</a:t>
            </a:r>
            <a:endParaRPr lang="en-US" sz="800" dirty="0"/>
          </a:p>
        </p:txBody>
      </p:sp>
      <p:sp>
        <p:nvSpPr>
          <p:cNvPr id="49" name="Text 45"/>
          <p:cNvSpPr/>
          <p:nvPr/>
        </p:nvSpPr>
        <p:spPr>
          <a:xfrm>
            <a:off x="1414463" y="1372270"/>
            <a:ext cx="57150" cy="57150"/>
          </a:xfrm>
          <a:prstGeom prst="ellipse">
            <a:avLst/>
          </a:prstGeom>
          <a:solidFill>
            <a:srgbClr val="0A0A0F"/>
          </a:solidFill>
          <a:ln w="14288">
            <a:solidFill>
              <a:srgbClr val="91E500"/>
            </a:solidFill>
            <a:prstDash val="solid"/>
          </a:ln>
        </p:spPr>
        <p:txBody>
          <a:bodyPr wrap="square" rtlCol="0" anchor="ctr"/>
          <a:lstStyle/>
          <a:p>
            <a:pPr indent="0" marL="0">
              <a:buNone/>
            </a:pPr>
            <a:endParaRPr lang="en-US" dirty="0"/>
          </a:p>
        </p:txBody>
      </p:sp>
      <p:sp>
        <p:nvSpPr>
          <p:cNvPr id="50" name="Text 46"/>
          <p:cNvSpPr/>
          <p:nvPr/>
        </p:nvSpPr>
        <p:spPr>
          <a:xfrm>
            <a:off x="3500438" y="1372270"/>
            <a:ext cx="57150" cy="57150"/>
          </a:xfrm>
          <a:prstGeom prst="ellipse">
            <a:avLst/>
          </a:prstGeom>
          <a:solidFill>
            <a:srgbClr val="0A0A0F"/>
          </a:solidFill>
          <a:ln w="14288">
            <a:solidFill>
              <a:srgbClr val="12BCFF"/>
            </a:solidFill>
            <a:prstDash val="solid"/>
          </a:ln>
        </p:spPr>
        <p:txBody>
          <a:bodyPr wrap="square" rtlCol="0" anchor="ctr"/>
          <a:lstStyle/>
          <a:p>
            <a:pPr indent="0" marL="0">
              <a:buNone/>
            </a:pPr>
            <a:endParaRPr lang="en-US" dirty="0"/>
          </a:p>
        </p:txBody>
      </p:sp>
      <p:sp>
        <p:nvSpPr>
          <p:cNvPr id="51" name="Text 47"/>
          <p:cNvSpPr/>
          <p:nvPr/>
        </p:nvSpPr>
        <p:spPr>
          <a:xfrm>
            <a:off x="5586413" y="1372270"/>
            <a:ext cx="57150" cy="57150"/>
          </a:xfrm>
          <a:prstGeom prst="ellipse">
            <a:avLst/>
          </a:prstGeom>
          <a:solidFill>
            <a:srgbClr val="0A0A0F"/>
          </a:solidFill>
          <a:ln w="14288">
            <a:solidFill>
              <a:srgbClr val="2F44FF"/>
            </a:solidFill>
            <a:prstDash val="solid"/>
          </a:ln>
        </p:spPr>
        <p:txBody>
          <a:bodyPr wrap="square" rtlCol="0" anchor="ctr"/>
          <a:lstStyle/>
          <a:p>
            <a:pPr indent="0" marL="0">
              <a:buNone/>
            </a:pPr>
            <a:endParaRPr lang="en-US" dirty="0"/>
          </a:p>
        </p:txBody>
      </p:sp>
      <p:sp>
        <p:nvSpPr>
          <p:cNvPr id="52" name="Text 48"/>
          <p:cNvSpPr/>
          <p:nvPr/>
        </p:nvSpPr>
        <p:spPr>
          <a:xfrm>
            <a:off x="7672388" y="1372270"/>
            <a:ext cx="57150" cy="57150"/>
          </a:xfrm>
          <a:prstGeom prst="ellipse">
            <a:avLst/>
          </a:prstGeom>
          <a:solidFill>
            <a:srgbClr val="0A0A0F"/>
          </a:solidFill>
          <a:ln w="14288">
            <a:solidFill>
              <a:srgbClr val="8200DF"/>
            </a:solidFill>
            <a:prstDash val="solid"/>
          </a:ln>
        </p:spPr>
        <p:txBody>
          <a:bodyPr wrap="square" rtlCol="0" anchor="ctr"/>
          <a:lstStyle/>
          <a:p>
            <a:pPr indent="0" marL="0">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A0F"/>
        </a:solidFill>
      </p:bgPr>
    </p:bg>
    <p:spTree>
      <p:nvGrpSpPr>
        <p:cNvPr id="1" name=""/>
        <p:cNvGrpSpPr/>
        <p:nvPr/>
      </p:nvGrpSpPr>
      <p:grpSpPr>
        <a:xfrm>
          <a:off x="0" y="0"/>
          <a:ext cx="0" cy="0"/>
          <a:chOff x="0" y="0"/>
          <a:chExt cx="0" cy="0"/>
        </a:xfrm>
      </p:grpSpPr>
      <p:sp>
        <p:nvSpPr>
          <p:cNvPr id="2" name="Text 0"/>
          <p:cNvSpPr/>
          <p:nvPr/>
        </p:nvSpPr>
        <p:spPr>
          <a:xfrm>
            <a:off x="457200" y="228600"/>
            <a:ext cx="716518" cy="164592"/>
          </a:xfrm>
          <a:prstGeom prst="rect">
            <a:avLst/>
          </a:prstGeom>
          <a:noFill/>
          <a:ln/>
        </p:spPr>
        <p:txBody>
          <a:bodyPr wrap="none" lIns="0" tIns="0" rIns="0" bIns="0" rtlCol="0" anchor="t"/>
          <a:lstStyle/>
          <a:p>
            <a:pPr algn="l" indent="0" marL="0">
              <a:lnSpc>
                <a:spcPts val="1181"/>
              </a:lnSpc>
              <a:buNone/>
            </a:pPr>
            <a:r>
              <a:rPr lang="en-US" sz="800" b="1" spc="-16" kern="0" dirty="0">
                <a:solidFill>
                  <a:srgbClr val="F2F1F1"/>
                </a:solidFill>
                <a:latin typeface="Carlito" pitchFamily="34" charset="0"/>
                <a:ea typeface="Carlito" pitchFamily="34" charset="-122"/>
                <a:cs typeface="Carlito" pitchFamily="34" charset="-120"/>
              </a:rPr>
              <a:t>ekam</a:t>
            </a:r>
            <a:endParaRPr lang="en-US" sz="800" dirty="0"/>
          </a:p>
        </p:txBody>
      </p:sp>
      <p:sp>
        <p:nvSpPr>
          <p:cNvPr id="3" name="Text 1"/>
          <p:cNvSpPr/>
          <p:nvPr/>
        </p:nvSpPr>
        <p:spPr>
          <a:xfrm>
            <a:off x="8355620" y="4797028"/>
            <a:ext cx="450405" cy="164592"/>
          </a:xfrm>
          <a:prstGeom prst="rect">
            <a:avLst/>
          </a:prstGeom>
          <a:noFill/>
          <a:ln/>
        </p:spPr>
        <p:txBody>
          <a:bodyPr wrap="none" lIns="0" tIns="0" rIns="0" bIns="0" rtlCol="0" anchor="t"/>
          <a:lstStyle/>
          <a:p>
            <a:pPr algn="l" indent="0" marL="0">
              <a:lnSpc>
                <a:spcPts val="928"/>
              </a:lnSpc>
              <a:buNone/>
            </a:pPr>
            <a:r>
              <a:rPr lang="en-US" sz="800" dirty="0">
                <a:solidFill>
                  <a:srgbClr val="F2F1F1">
                    <a:alpha val="40000"/>
                  </a:srgbClr>
                </a:solidFill>
                <a:latin typeface="Liberation Sans Narrow" pitchFamily="34" charset="0"/>
                <a:ea typeface="Liberation Sans Narrow" pitchFamily="34" charset="-122"/>
                <a:cs typeface="Liberation Sans Narrow" pitchFamily="34" charset="-120"/>
              </a:rPr>
              <a:t>16 / 16</a:t>
            </a:r>
            <a:endParaRPr lang="en-US" sz="800" dirty="0"/>
          </a:p>
        </p:txBody>
      </p:sp>
      <p:sp>
        <p:nvSpPr>
          <p:cNvPr id="4" name="Text 2"/>
          <p:cNvSpPr/>
          <p:nvPr/>
        </p:nvSpPr>
        <p:spPr>
          <a:xfrm>
            <a:off x="5429250" y="-1857375"/>
            <a:ext cx="5143500" cy="5143500"/>
          </a:xfrm>
          <a:prstGeom prst="ellipse">
            <a:avLst/>
          </a:prstGeom>
          <a:solidFill>
            <a:srgbClr val="91E500">
              <a:alpha val="7000"/>
            </a:srgbClr>
          </a:solidFill>
          <a:ln/>
        </p:spPr>
        <p:txBody>
          <a:bodyPr wrap="square" rtlCol="0" anchor="ctr"/>
          <a:lstStyle/>
          <a:p>
            <a:pPr indent="0" marL="0">
              <a:buNone/>
            </a:pPr>
            <a:endParaRPr lang="en-US" dirty="0"/>
          </a:p>
        </p:txBody>
      </p:sp>
      <p:sp>
        <p:nvSpPr>
          <p:cNvPr id="5" name="Text 3"/>
          <p:cNvSpPr/>
          <p:nvPr/>
        </p:nvSpPr>
        <p:spPr>
          <a:xfrm>
            <a:off x="-1285875" y="2286000"/>
            <a:ext cx="4286250" cy="4286250"/>
          </a:xfrm>
          <a:prstGeom prst="ellipse">
            <a:avLst/>
          </a:prstGeom>
          <a:solidFill>
            <a:srgbClr val="8200DF">
              <a:alpha val="4000"/>
            </a:srgbClr>
          </a:solidFill>
          <a:ln/>
        </p:spPr>
        <p:txBody>
          <a:bodyPr wrap="square" rtlCol="0" anchor="ctr"/>
          <a:lstStyle/>
          <a:p>
            <a:pPr indent="0" marL="0">
              <a:buNone/>
            </a:pPr>
            <a:endParaRPr lang="en-US" dirty="0"/>
          </a:p>
        </p:txBody>
      </p:sp>
      <p:sp>
        <p:nvSpPr>
          <p:cNvPr id="6" name="Text 4"/>
          <p:cNvSpPr/>
          <p:nvPr/>
        </p:nvSpPr>
        <p:spPr>
          <a:xfrm>
            <a:off x="3143250" y="628650"/>
            <a:ext cx="2857500" cy="2857500"/>
          </a:xfrm>
          <a:prstGeom prst="ellipse">
            <a:avLst/>
          </a:prstGeom>
          <a:solidFill>
            <a:srgbClr val="12BCFF">
              <a:alpha val="3000"/>
            </a:srgbClr>
          </a:solidFill>
          <a:ln/>
        </p:spPr>
        <p:txBody>
          <a:bodyPr wrap="square" rtlCol="0" anchor="ctr"/>
          <a:lstStyle/>
          <a:p>
            <a:pPr indent="0" marL="0">
              <a:buNone/>
            </a:pPr>
            <a:endParaRPr lang="en-US" dirty="0"/>
          </a:p>
        </p:txBody>
      </p:sp>
      <p:sp>
        <p:nvSpPr>
          <p:cNvPr id="7" name="Text 5"/>
          <p:cNvSpPr/>
          <p:nvPr/>
        </p:nvSpPr>
        <p:spPr>
          <a:xfrm>
            <a:off x="0" y="4825603"/>
            <a:ext cx="8636000" cy="164592"/>
          </a:xfrm>
          <a:prstGeom prst="rect">
            <a:avLst/>
          </a:prstGeom>
          <a:noFill/>
          <a:ln/>
        </p:spPr>
        <p:txBody>
          <a:bodyPr wrap="square" lIns="0" tIns="0" rIns="0" bIns="0" rtlCol="0" anchor="t"/>
          <a:lstStyle/>
          <a:p>
            <a:pPr algn="ctr" indent="0" marL="0">
              <a:lnSpc>
                <a:spcPts val="928"/>
              </a:lnSpc>
              <a:buNone/>
            </a:pPr>
            <a:r>
              <a:rPr lang="en-US" sz="800" spc="62" kern="0" dirty="0">
                <a:solidFill>
                  <a:srgbClr val="F2F1F1">
                    <a:alpha val="40000"/>
                  </a:srgbClr>
                </a:solidFill>
                <a:latin typeface="Courier New" pitchFamily="34" charset="0"/>
                <a:ea typeface="Courier New" pitchFamily="34" charset="-122"/>
                <a:cs typeface="Courier New" pitchFamily="34" charset="-120"/>
              </a:rPr>
              <a:t>EKAM INNOVATIONS LLP · EKAMAI.IN</a:t>
            </a:r>
            <a:endParaRPr lang="en-US" sz="800" dirty="0"/>
          </a:p>
        </p:txBody>
      </p:sp>
      <p:sp>
        <p:nvSpPr>
          <p:cNvPr id="8" name="Text 6"/>
          <p:cNvSpPr/>
          <p:nvPr/>
        </p:nvSpPr>
        <p:spPr>
          <a:xfrm>
            <a:off x="4091717" y="1039227"/>
            <a:ext cx="960566" cy="243488"/>
          </a:xfrm>
          <a:prstGeom prst="roundRect">
            <a:avLst>
              <a:gd name="adj" fmla="val 39115059"/>
            </a:avLst>
          </a:prstGeom>
          <a:solidFill>
            <a:srgbClr val="FFFFFF">
              <a:alpha val="5000"/>
            </a:srgbClr>
          </a:solidFill>
          <a:ln w="7144">
            <a:solidFill>
              <a:srgbClr val="FFFFFF"/>
            </a:solidFill>
            <a:prstDash val="solid"/>
          </a:ln>
        </p:spPr>
        <p:txBody>
          <a:bodyPr wrap="square" rtlCol="0" anchor="ctr"/>
          <a:lstStyle/>
          <a:p>
            <a:pPr indent="0" marL="0">
              <a:buNone/>
            </a:pPr>
            <a:endParaRPr lang="en-US" dirty="0"/>
          </a:p>
        </p:txBody>
      </p:sp>
      <p:sp>
        <p:nvSpPr>
          <p:cNvPr id="9" name="Text 7"/>
          <p:cNvSpPr/>
          <p:nvPr/>
        </p:nvSpPr>
        <p:spPr>
          <a:xfrm>
            <a:off x="4221733" y="1132396"/>
            <a:ext cx="57150" cy="57150"/>
          </a:xfrm>
          <a:prstGeom prst="roundRect">
            <a:avLst>
              <a:gd name="adj" fmla="val 66667"/>
            </a:avLst>
          </a:prstGeom>
          <a:solidFill>
            <a:srgbClr val="91E500"/>
          </a:solidFill>
          <a:ln/>
        </p:spPr>
        <p:txBody>
          <a:bodyPr wrap="square" rtlCol="0" anchor="ctr"/>
          <a:lstStyle/>
          <a:p>
            <a:pPr indent="0" marL="0">
              <a:buNone/>
            </a:pPr>
            <a:endParaRPr lang="en-US" dirty="0"/>
          </a:p>
        </p:txBody>
      </p:sp>
      <p:sp>
        <p:nvSpPr>
          <p:cNvPr id="10" name="Text 8"/>
          <p:cNvSpPr/>
          <p:nvPr/>
        </p:nvSpPr>
        <p:spPr>
          <a:xfrm>
            <a:off x="4114577" y="1052029"/>
            <a:ext cx="914846" cy="217884"/>
          </a:xfrm>
          <a:prstGeom prst="rect">
            <a:avLst/>
          </a:prstGeom>
          <a:noFill/>
          <a:ln/>
        </p:spPr>
        <p:txBody>
          <a:bodyPr wrap="none" lIns="0" tIns="0" rIns="0" bIns="0" rtlCol="0" anchor="ctr"/>
          <a:lstStyle/>
          <a:p>
            <a:pPr algn="ctr" indent="0" marL="0">
              <a:lnSpc>
                <a:spcPts val="928"/>
              </a:lnSpc>
              <a:buNone/>
            </a:pPr>
            <a:r>
              <a:rPr lang="en-US" sz="800" spc="37" kern="0" dirty="0">
                <a:solidFill>
                  <a:srgbClr val="F2F1F1">
                    <a:alpha val="60000"/>
                  </a:srgbClr>
                </a:solidFill>
                <a:latin typeface="Carlito" pitchFamily="34" charset="0"/>
                <a:ea typeface="Carlito" pitchFamily="34" charset="-122"/>
                <a:cs typeface="Carlito" pitchFamily="34" charset="-120"/>
              </a:rPr>
              <a:t>GET STARTED</a:t>
            </a:r>
            <a:endParaRPr lang="en-US" sz="800" dirty="0"/>
          </a:p>
        </p:txBody>
      </p:sp>
      <p:sp>
        <p:nvSpPr>
          <p:cNvPr id="11" name="Text 9"/>
          <p:cNvSpPr/>
          <p:nvPr/>
        </p:nvSpPr>
        <p:spPr>
          <a:xfrm>
            <a:off x="274320" y="1427076"/>
            <a:ext cx="8595248" cy="842409"/>
          </a:xfrm>
          <a:prstGeom prst="rect">
            <a:avLst/>
          </a:prstGeom>
          <a:noFill/>
          <a:ln/>
        </p:spPr>
        <p:txBody>
          <a:bodyPr wrap="none" lIns="0" tIns="0" rIns="0" bIns="0" rtlCol="0" anchor="t"/>
          <a:lstStyle/>
          <a:p>
            <a:pPr algn="ctr" indent="0" marL="0">
              <a:lnSpc>
                <a:spcPts val="3071"/>
              </a:lnSpc>
              <a:buNone/>
            </a:pPr>
            <a:r>
              <a:rPr lang="en-US" sz="2925" b="1" spc="-73" kern="0" dirty="0">
                <a:solidFill>
                  <a:srgbClr val="F2F1F1"/>
                </a:solidFill>
                <a:latin typeface="Carlito" pitchFamily="34" charset="0"/>
                <a:ea typeface="Carlito" pitchFamily="34" charset="-122"/>
                <a:cs typeface="Carlito" pitchFamily="34" charset="-120"/>
              </a:rPr>
              <a:t>Create your account and start</a:t>
            </a:r>
            <a:endParaRPr lang="en-US" sz="2925" dirty="0"/>
          </a:p>
          <a:p>
            <a:pPr algn="ctr" indent="0" marL="0">
              <a:lnSpc>
                <a:spcPts val="3071"/>
              </a:lnSpc>
              <a:buNone/>
            </a:pPr>
            <a:r>
              <a:rPr lang="en-US" sz="2925" b="1" spc="-73" kern="0" dirty="0">
                <a:solidFill>
                  <a:srgbClr val="2F44FF"/>
                </a:solidFill>
                <a:latin typeface="Carlito" pitchFamily="34" charset="0"/>
                <a:ea typeface="Carlito" pitchFamily="34" charset="-122"/>
                <a:cs typeface="Carlito" pitchFamily="34" charset="-120"/>
              </a:rPr>
              <a:t>using EKAM AI today.</a:t>
            </a:r>
            <a:endParaRPr lang="en-US" sz="2925" dirty="0"/>
          </a:p>
        </p:txBody>
      </p:sp>
      <p:sp>
        <p:nvSpPr>
          <p:cNvPr id="12" name="Text 10"/>
          <p:cNvSpPr/>
          <p:nvPr/>
        </p:nvSpPr>
        <p:spPr>
          <a:xfrm>
            <a:off x="2071688" y="2364246"/>
            <a:ext cx="5000625" cy="430366"/>
          </a:xfrm>
          <a:prstGeom prst="rect">
            <a:avLst/>
          </a:prstGeom>
          <a:noFill/>
          <a:ln/>
        </p:spPr>
        <p:txBody>
          <a:bodyPr wrap="square" lIns="0" tIns="0" rIns="0" bIns="0" rtlCol="0" anchor="t"/>
          <a:lstStyle/>
          <a:p>
            <a:pPr algn="ctr" indent="0" marL="0">
              <a:lnSpc>
                <a:spcPts val="1569"/>
              </a:lnSpc>
              <a:buNone/>
            </a:pPr>
            <a:r>
              <a:rPr lang="en-US" sz="1013" dirty="0">
                <a:solidFill>
                  <a:srgbClr val="F2F1F1">
                    <a:alpha val="60000"/>
                  </a:srgbClr>
                </a:solidFill>
                <a:latin typeface="Carlito" pitchFamily="34" charset="0"/>
                <a:ea typeface="Carlito" pitchFamily="34" charset="-122"/>
                <a:cs typeface="Carlito" pitchFamily="34" charset="-120"/>
              </a:rPr>
              <a:t>No waitlist, no delays. Spin up a launch page, run a pre-launch scan, and ship — all in one workflow.</a:t>
            </a:r>
            <a:endParaRPr lang="en-US" sz="1013" dirty="0"/>
          </a:p>
        </p:txBody>
      </p:sp>
      <p:sp>
        <p:nvSpPr>
          <p:cNvPr id="13" name="Text 11"/>
          <p:cNvSpPr/>
          <p:nvPr/>
        </p:nvSpPr>
        <p:spPr>
          <a:xfrm>
            <a:off x="3414266" y="2977046"/>
            <a:ext cx="1468710" cy="400050"/>
          </a:xfrm>
          <a:prstGeom prst="roundRect">
            <a:avLst>
              <a:gd name="adj" fmla="val 23807143"/>
            </a:avLst>
          </a:prstGeom>
          <a:solidFill>
            <a:srgbClr val="F2F1F1"/>
          </a:solidFill>
          <a:ln/>
        </p:spPr>
        <p:txBody>
          <a:bodyPr wrap="square" rtlCol="0" anchor="ctr"/>
          <a:lstStyle/>
          <a:p>
            <a:pPr indent="0" marL="0">
              <a:buNone/>
            </a:pPr>
            <a:endParaRPr lang="en-US" dirty="0"/>
          </a:p>
        </p:txBody>
      </p:sp>
      <p:sp>
        <p:nvSpPr>
          <p:cNvPr id="14" name="Text 12"/>
          <p:cNvSpPr/>
          <p:nvPr/>
        </p:nvSpPr>
        <p:spPr>
          <a:xfrm>
            <a:off x="3642866" y="3112777"/>
            <a:ext cx="825773" cy="121444"/>
          </a:xfrm>
          <a:prstGeom prst="rect">
            <a:avLst/>
          </a:prstGeom>
          <a:noFill/>
          <a:ln/>
        </p:spPr>
        <p:txBody>
          <a:bodyPr wrap="none" lIns="0" tIns="0" rIns="0" bIns="0" rtlCol="0" anchor="ctr"/>
          <a:lstStyle/>
          <a:p>
            <a:pPr algn="ctr" indent="0" marL="0">
              <a:lnSpc>
                <a:spcPts val="1350"/>
              </a:lnSpc>
              <a:buNone/>
            </a:pPr>
            <a:r>
              <a:rPr lang="en-US" sz="900" dirty="0">
                <a:solidFill>
                  <a:srgbClr val="0A0A0F"/>
                </a:solidFill>
                <a:latin typeface="Carlito" pitchFamily="34" charset="0"/>
                <a:ea typeface="Carlito" pitchFamily="34" charset="-122"/>
                <a:cs typeface="Carlito" pitchFamily="34" charset="-120"/>
              </a:rPr>
              <a:t>Create account</a:t>
            </a:r>
            <a:endParaRPr lang="en-US" sz="900" dirty="0"/>
          </a:p>
        </p:txBody>
      </p:sp>
      <p:sp>
        <p:nvSpPr>
          <p:cNvPr id="15" name="Text 13"/>
          <p:cNvSpPr/>
          <p:nvPr/>
        </p:nvSpPr>
        <p:spPr>
          <a:xfrm>
            <a:off x="4525789" y="3112777"/>
            <a:ext cx="128588" cy="128588"/>
          </a:xfrm>
          <a:prstGeom prst="rect">
            <a:avLst/>
          </a:prstGeom>
          <a:noFill/>
          <a:ln/>
        </p:spPr>
        <p:txBody>
          <a:bodyPr wrap="none" lIns="0" tIns="0" rIns="0" bIns="0" rtlCol="0" anchor="ctr"/>
          <a:lstStyle/>
          <a:p>
            <a:pPr algn="ctr" indent="0" marL="0">
              <a:buNone/>
            </a:pPr>
            <a:r>
              <a:rPr lang="en-US" sz="1266" dirty="0">
                <a:solidFill>
                  <a:srgbClr val="0A0A0F"/>
                </a:solidFill>
                <a:latin typeface="Segoe UI Symbol" pitchFamily="34" charset="0"/>
                <a:ea typeface="Segoe UI Symbol" pitchFamily="34" charset="-122"/>
                <a:cs typeface="Segoe UI Symbol" pitchFamily="34" charset="-120"/>
              </a:rPr>
              <a:t>→</a:t>
            </a:r>
            <a:endParaRPr lang="en-US" sz="1266" dirty="0"/>
          </a:p>
        </p:txBody>
      </p:sp>
      <p:sp>
        <p:nvSpPr>
          <p:cNvPr id="16" name="Text 14"/>
          <p:cNvSpPr/>
          <p:nvPr/>
        </p:nvSpPr>
        <p:spPr>
          <a:xfrm>
            <a:off x="5025851" y="2996692"/>
            <a:ext cx="703883" cy="389620"/>
          </a:xfrm>
          <a:prstGeom prst="rect">
            <a:avLst/>
          </a:prstGeom>
          <a:noFill/>
          <a:ln/>
        </p:spPr>
        <p:txBody>
          <a:bodyPr wrap="none" lIns="57150" tIns="100013" rIns="57150" bIns="100013" rtlCol="0" anchor="t"/>
          <a:lstStyle/>
          <a:p>
            <a:pPr algn="ctr" indent="0" marL="0">
              <a:lnSpc>
                <a:spcPts val="1266"/>
              </a:lnSpc>
              <a:buNone/>
            </a:pPr>
            <a:r>
              <a:rPr lang="en-US" sz="844" dirty="0">
                <a:solidFill>
                  <a:srgbClr val="F2F1F1">
                    <a:alpha val="60000"/>
                  </a:srgbClr>
                </a:solidFill>
                <a:latin typeface="Carlito" pitchFamily="34" charset="0"/>
                <a:ea typeface="Carlito" pitchFamily="34" charset="-122"/>
                <a:cs typeface="Carlito" pitchFamily="34" charset="-120"/>
              </a:rPr>
              <a:t>Talk to us →</a:t>
            </a:r>
            <a:endParaRPr lang="en-US" sz="844" dirty="0"/>
          </a:p>
        </p:txBody>
      </p:sp>
      <p:sp>
        <p:nvSpPr>
          <p:cNvPr id="17" name="Text 15"/>
          <p:cNvSpPr/>
          <p:nvPr/>
        </p:nvSpPr>
        <p:spPr>
          <a:xfrm>
            <a:off x="3621212" y="3577121"/>
            <a:ext cx="1901465" cy="164592"/>
          </a:xfrm>
          <a:prstGeom prst="rect">
            <a:avLst/>
          </a:prstGeom>
          <a:noFill/>
          <a:ln/>
        </p:spPr>
        <p:txBody>
          <a:bodyPr wrap="square" lIns="0" tIns="0" rIns="0" bIns="0" rtlCol="0" anchor="t"/>
          <a:lstStyle/>
          <a:p>
            <a:pPr algn="ctr" indent="0" marL="0">
              <a:lnSpc>
                <a:spcPts val="928"/>
              </a:lnSpc>
              <a:buNone/>
            </a:pPr>
            <a:r>
              <a:rPr lang="en-US" sz="800" dirty="0">
                <a:solidFill>
                  <a:srgbClr val="F2F1F1">
                    <a:alpha val="40000"/>
                  </a:srgbClr>
                </a:solidFill>
                <a:latin typeface="Carlito" pitchFamily="34" charset="0"/>
                <a:ea typeface="Carlito" pitchFamily="34" charset="-122"/>
                <a:cs typeface="Carlito" pitchFamily="34" charset="-120"/>
              </a:rPr>
              <a:t>By continuing you agree to our Terms &amp; Privacy Policy.</a:t>
            </a:r>
            <a:endParaRPr lang="en-US" sz="800" dirty="0"/>
          </a:p>
        </p:txBody>
      </p:sp>
      <p:sp>
        <p:nvSpPr>
          <p:cNvPr id="18" name="Text 16"/>
          <p:cNvSpPr/>
          <p:nvPr/>
        </p:nvSpPr>
        <p:spPr>
          <a:xfrm>
            <a:off x="3294914" y="3952168"/>
            <a:ext cx="644223"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ekamai.in</a:t>
            </a:r>
            <a:endParaRPr lang="en-US" sz="800" dirty="0"/>
          </a:p>
        </p:txBody>
      </p:sp>
      <p:sp>
        <p:nvSpPr>
          <p:cNvPr id="19" name="Text 17"/>
          <p:cNvSpPr/>
          <p:nvPr/>
        </p:nvSpPr>
        <p:spPr>
          <a:xfrm>
            <a:off x="3952471" y="3952168"/>
            <a:ext cx="91440"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40000"/>
                  </a:srgbClr>
                </a:solidFill>
                <a:latin typeface="Courier New" pitchFamily="34" charset="0"/>
                <a:ea typeface="Courier New" pitchFamily="34" charset="-122"/>
                <a:cs typeface="Courier New" pitchFamily="34" charset="-120"/>
              </a:rPr>
              <a:t>·</a:t>
            </a:r>
            <a:endParaRPr lang="en-US" sz="800" dirty="0"/>
          </a:p>
        </p:txBody>
      </p:sp>
      <p:sp>
        <p:nvSpPr>
          <p:cNvPr id="20" name="Text 18"/>
          <p:cNvSpPr/>
          <p:nvPr/>
        </p:nvSpPr>
        <p:spPr>
          <a:xfrm>
            <a:off x="4042874" y="3952168"/>
            <a:ext cx="1114062"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contact@ekamai.in</a:t>
            </a:r>
            <a:endParaRPr lang="en-US" sz="800" dirty="0"/>
          </a:p>
        </p:txBody>
      </p:sp>
      <p:sp>
        <p:nvSpPr>
          <p:cNvPr id="21" name="Text 19"/>
          <p:cNvSpPr/>
          <p:nvPr/>
        </p:nvSpPr>
        <p:spPr>
          <a:xfrm>
            <a:off x="5158983" y="3952168"/>
            <a:ext cx="91440"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40000"/>
                  </a:srgbClr>
                </a:solidFill>
                <a:latin typeface="Courier New" pitchFamily="34" charset="0"/>
                <a:ea typeface="Courier New" pitchFamily="34" charset="-122"/>
                <a:cs typeface="Courier New" pitchFamily="34" charset="-120"/>
              </a:rPr>
              <a:t>·</a:t>
            </a:r>
            <a:endParaRPr lang="en-US" sz="800" dirty="0"/>
          </a:p>
        </p:txBody>
      </p:sp>
      <p:sp>
        <p:nvSpPr>
          <p:cNvPr id="22" name="Text 20"/>
          <p:cNvSpPr/>
          <p:nvPr/>
        </p:nvSpPr>
        <p:spPr>
          <a:xfrm>
            <a:off x="5268502" y="3952168"/>
            <a:ext cx="572643" cy="164592"/>
          </a:xfrm>
          <a:prstGeom prst="rect">
            <a:avLst/>
          </a:prstGeom>
          <a:noFill/>
          <a:ln/>
        </p:spPr>
        <p:txBody>
          <a:bodyPr wrap="none" lIns="0" tIns="0" rIns="0" bIns="0" rtlCol="0" anchor="t"/>
          <a:lstStyle/>
          <a:p>
            <a:pPr algn="ctr" indent="0" marL="0">
              <a:lnSpc>
                <a:spcPts val="1097"/>
              </a:lnSpc>
              <a:buNone/>
            </a:pPr>
            <a:r>
              <a:rPr lang="en-US" sz="800" dirty="0">
                <a:solidFill>
                  <a:srgbClr val="F2F1F1">
                    <a:alpha val="60000"/>
                  </a:srgbClr>
                </a:solidFill>
                <a:latin typeface="Courier New" pitchFamily="34" charset="0"/>
                <a:ea typeface="Courier New" pitchFamily="34" charset="-122"/>
                <a:cs typeface="Courier New" pitchFamily="34" charset="-120"/>
              </a:rPr>
              <a:t>@ekam_ai</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2026-07-06T11:50:27Z</dcterms:created>
  <dcterms:modified xsi:type="dcterms:W3CDTF">2026-07-06T11:50:27Z</dcterms:modified>
</cp:coreProperties>
</file>