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731520"/>
            <a:ext cx="310896" cy="91440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9304" y="62179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40">
                <a:solidFill>
                  <a:srgbClr val="1D1D1F"/>
                </a:solidFill>
                <a:latin typeface="SF Pro Display"/>
              </a:rPr>
              <a:t>EKAM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98122" y="713232"/>
            <a:ext cx="4224893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150" b="1" spc="100">
                <a:solidFill>
                  <a:srgbClr val="1D1D1F"/>
                </a:solidFill>
                <a:latin typeface="SF Pro Text"/>
              </a:rPr>
              <a:t>Early access · Flow · Pentest ·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EKAM INNOVATIONS LLP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6000" b="1" spc="-160">
                <a:solidFill>
                  <a:srgbClr val="1D1D1F"/>
                </a:solidFill>
                <a:latin typeface="SF Pro Display"/>
              </a:rPr>
              <a:t>Launch your site.</a:t>
            </a:r>
          </a:p>
          <a:p>
            <a:pPr algn="l">
              <a:lnSpc>
                <a:spcPct val="104000"/>
              </a:lnSpc>
            </a:pPr>
            <a:r>
              <a:rPr sz="6000" b="1" spc="-160">
                <a:solidFill>
                  <a:srgbClr val="1D1D1F"/>
                </a:solidFill>
                <a:latin typeface="SF Pro Display"/>
              </a:rPr>
              <a:t>Scan before go-live.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617720"/>
            <a:ext cx="2560320" cy="128016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8046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EKAM AI turns a prompt into a deployed launch page — then runs an authorized pre-launch security scan so you ship with confidence. No coding, no DevOps, no waitlist.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The launch moment is where most teams stall.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412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Founders stitch together a page builder, a copy tool, a deploy pipeline, and a security scanner — then hope nothing breaks before the announce.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32918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343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91E500"/>
                </a:solidFill>
                <a:latin typeface="SF Pro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18888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30">
                <a:solidFill>
                  <a:srgbClr val="1D1D1F"/>
                </a:solidFill>
                <a:latin typeface="SF Pro Display"/>
              </a:rPr>
              <a:t>Three tools too many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42239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Design, copy, and deploy live in different apps. Each handoff is a day lost.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069080"/>
            <a:ext cx="32918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343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12BCFF"/>
                </a:solidFill>
                <a:latin typeface="SF Pro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818888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30">
                <a:solidFill>
                  <a:srgbClr val="1D1D1F"/>
                </a:solidFill>
                <a:latin typeface="SF Pro Display"/>
              </a:rPr>
              <a:t>Security is an afterthought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42239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Scanning gets bolted on after launch — when it's already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069080"/>
            <a:ext cx="32918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34340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2F44FF"/>
                </a:solidFill>
                <a:latin typeface="SF Pro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818888"/>
            <a:ext cx="28346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spc="-30">
                <a:solidFill>
                  <a:srgbClr val="1D1D1F"/>
                </a:solidFill>
                <a:latin typeface="SF Pro Display"/>
              </a:rPr>
              <a:t>Every handoff costs a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422392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Idea to page to deploy to scan is a chain of waiting on other people.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Prompt to deployed. Then scan before go-live.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Three suites, one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40480"/>
            <a:ext cx="32918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3840480"/>
            <a:ext cx="3291840" cy="91440"/>
          </a:xfrm>
          <a:prstGeom prst="rect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4142232"/>
            <a:ext cx="2706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30">
                <a:solidFill>
                  <a:srgbClr val="1D1D1F"/>
                </a:solidFill>
                <a:latin typeface="SF Pro Display"/>
              </a:rP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553712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Pages and apps, built from a prompt.</a:t>
            </a:r>
          </a:p>
        </p:txBody>
      </p:sp>
      <p:sp>
        <p:nvSpPr>
          <p:cNvPr id="9" name="Oval 8"/>
          <p:cNvSpPr/>
          <p:nvPr/>
        </p:nvSpPr>
        <p:spPr>
          <a:xfrm>
            <a:off x="1161288" y="5198364"/>
            <a:ext cx="77724" cy="7772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5074920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Prompt-based pages &amp; apps</a:t>
            </a:r>
          </a:p>
        </p:txBody>
      </p:sp>
      <p:sp>
        <p:nvSpPr>
          <p:cNvPr id="11" name="Oval 10"/>
          <p:cNvSpPr/>
          <p:nvPr/>
        </p:nvSpPr>
        <p:spPr>
          <a:xfrm>
            <a:off x="1161288" y="5582412"/>
            <a:ext cx="77724" cy="7772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9032" y="5458968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Live deploy + custom domains</a:t>
            </a:r>
          </a:p>
        </p:txBody>
      </p:sp>
      <p:sp>
        <p:nvSpPr>
          <p:cNvPr id="13" name="Oval 12"/>
          <p:cNvSpPr/>
          <p:nvPr/>
        </p:nvSpPr>
        <p:spPr>
          <a:xfrm>
            <a:off x="1161288" y="5966460"/>
            <a:ext cx="77724" cy="7772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9032" y="5843016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Frontend + backend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840480"/>
            <a:ext cx="32918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840480"/>
            <a:ext cx="3291840" cy="91440"/>
          </a:xfrm>
          <a:prstGeom prst="rect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4142232"/>
            <a:ext cx="2706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30">
                <a:solidFill>
                  <a:srgbClr val="1D1D1F"/>
                </a:solidFill>
                <a:latin typeface="SF Pro Display"/>
              </a:rPr>
              <a:t>Pentest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553712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Pre-launch security scan.</a:t>
            </a:r>
          </a:p>
        </p:txBody>
      </p:sp>
      <p:sp>
        <p:nvSpPr>
          <p:cNvPr id="19" name="Oval 18"/>
          <p:cNvSpPr/>
          <p:nvPr/>
        </p:nvSpPr>
        <p:spPr>
          <a:xfrm>
            <a:off x="4727448" y="5198364"/>
            <a:ext cx="77724" cy="7772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5074920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Authorized targets only</a:t>
            </a:r>
          </a:p>
        </p:txBody>
      </p:sp>
      <p:sp>
        <p:nvSpPr>
          <p:cNvPr id="21" name="Oval 20"/>
          <p:cNvSpPr/>
          <p:nvPr/>
        </p:nvSpPr>
        <p:spPr>
          <a:xfrm>
            <a:off x="4727448" y="5582412"/>
            <a:ext cx="77724" cy="7772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65192" y="5458968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Evidence-backed findings</a:t>
            </a:r>
          </a:p>
        </p:txBody>
      </p:sp>
      <p:sp>
        <p:nvSpPr>
          <p:cNvPr id="23" name="Oval 22"/>
          <p:cNvSpPr/>
          <p:nvPr/>
        </p:nvSpPr>
        <p:spPr>
          <a:xfrm>
            <a:off x="4727448" y="5966460"/>
            <a:ext cx="77724" cy="7772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5192" y="5843016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OWASP Top 10 coverage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840480"/>
            <a:ext cx="32918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840480"/>
            <a:ext cx="3291840" cy="91440"/>
          </a:xfrm>
          <a:prstGeom prst="rect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4142232"/>
            <a:ext cx="2706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spc="-30">
                <a:solidFill>
                  <a:srgbClr val="1D1D1F"/>
                </a:solidFill>
                <a:latin typeface="SF Pro Display"/>
              </a:rPr>
              <a:t>Search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553712"/>
            <a:ext cx="27066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Market research for your launch.</a:t>
            </a:r>
          </a:p>
        </p:txBody>
      </p:sp>
      <p:sp>
        <p:nvSpPr>
          <p:cNvPr id="29" name="Oval 28"/>
          <p:cNvSpPr/>
          <p:nvPr/>
        </p:nvSpPr>
        <p:spPr>
          <a:xfrm>
            <a:off x="8293608" y="5198364"/>
            <a:ext cx="77724" cy="7772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5074920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Competitor map</a:t>
            </a:r>
          </a:p>
        </p:txBody>
      </p:sp>
      <p:sp>
        <p:nvSpPr>
          <p:cNvPr id="31" name="Oval 30"/>
          <p:cNvSpPr/>
          <p:nvPr/>
        </p:nvSpPr>
        <p:spPr>
          <a:xfrm>
            <a:off x="8293608" y="5582412"/>
            <a:ext cx="77724" cy="7772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5458968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Launch angles</a:t>
            </a:r>
          </a:p>
        </p:txBody>
      </p:sp>
      <p:sp>
        <p:nvSpPr>
          <p:cNvPr id="33" name="Oval 32"/>
          <p:cNvSpPr/>
          <p:nvPr/>
        </p:nvSpPr>
        <p:spPr>
          <a:xfrm>
            <a:off x="8293608" y="5966460"/>
            <a:ext cx="77724" cy="7772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5843016"/>
            <a:ext cx="26426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D1D1F"/>
                </a:solidFill>
                <a:latin typeface="SF Pro Text"/>
              </a:rPr>
              <a:t>Hand-off to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Built for the public launch moment.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Go from idea to a live launch page, then validate the obvious risks before you drive traffic.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91E500"/>
                </a:solidFill>
                <a:latin typeface="SF Pro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Describe your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Share what you're building and for whom. No coding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12BCFF"/>
                </a:solidFill>
                <a:latin typeface="SF Pro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Add references &amp;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Drop in screenshots, copy fragments, brand colors, or a Figma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2F44FF"/>
                </a:solidFill>
                <a:latin typeface="SF Pro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Pair launch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Create the page, then run a pre-launch scan in one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069080"/>
            <a:ext cx="25146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4325112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spc="-50">
                <a:solidFill>
                  <a:srgbClr val="8200DF"/>
                </a:solidFill>
                <a:latin typeface="SF Pro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4800600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Go live with one 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5367528"/>
            <a:ext cx="1965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Publish, redeploy edits, hand the URL to Pentest. Hosting included.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An execution layer, not a chatbot.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EKAM AI orchestrates the best models into agents that plan, build, scan, and ship.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4041647"/>
            <a:ext cx="146304" cy="14630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39776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Playbook +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30682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Coordinated multi-step execution.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4041647"/>
            <a:ext cx="146304" cy="146304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3977639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Templates gallery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4306823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Start from a proven agent.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818888"/>
            <a:ext cx="146304" cy="146304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4754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Scheduling &amp; cron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5084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Runs that fire on a cadence.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4818888"/>
            <a:ext cx="146304" cy="146304"/>
          </a:xfrm>
          <a:prstGeom prst="ellipse">
            <a:avLst/>
          </a:prstGeom>
          <a:solidFill>
            <a:srgbClr val="82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47548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Programmatic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928" y="508406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eai_ keys, /api/v1, JSON in/out.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5596128"/>
            <a:ext cx="146304" cy="146304"/>
          </a:xfrm>
          <a:prstGeom prst="ellipse">
            <a:avLst/>
          </a:prstGeom>
          <a:solidFill>
            <a:srgbClr val="DF0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Analytics &amp; artifacts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58613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Per-run steps, artifacts, and spend.</a:t>
            </a:r>
          </a:p>
        </p:txBody>
      </p:sp>
      <p:sp>
        <p:nvSpPr>
          <p:cNvPr id="20" name="Oval 19"/>
          <p:cNvSpPr/>
          <p:nvPr/>
        </p:nvSpPr>
        <p:spPr>
          <a:xfrm>
            <a:off x="5989320" y="5596128"/>
            <a:ext cx="146304" cy="146304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5532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spc="-20">
                <a:solidFill>
                  <a:srgbClr val="1D1D1F"/>
                </a:solidFill>
                <a:latin typeface="SF Pro Display"/>
              </a:rPr>
              <a:t>Secrets vault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5861304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A3A3C"/>
                </a:solidFill>
                <a:latin typeface="SF Pro Text"/>
              </a:rPr>
              <a:t>Encrypted keys, never exposed.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Shipped, scanned, and live — at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EKAM AI teams ship real launches — and validate the obvious risks before announcing.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12,400+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PAGES SHIPPED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47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AVG TIME TO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3,200+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PRE-LAUNCH SCANS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657600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spc="-120">
                <a:solidFill>
                  <a:srgbClr val="1D1D1F"/>
                </a:solidFill>
                <a:latin typeface="SF Pro Display"/>
              </a:rPr>
              <a:t>99.2%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526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86868B"/>
                </a:solidFill>
                <a:latin typeface="SF Pro Text"/>
              </a:rPr>
              <a:t>CLEAN LAUNCHES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983480"/>
            <a:ext cx="10454335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5230368"/>
            <a:ext cx="54864" cy="868680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5193792"/>
            <a:ext cx="958565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1D1D1F"/>
                </a:solidFill>
                <a:latin typeface="SF Pro Text"/>
              </a:rPr>
              <a:t>We shipped our launch page in an afternoon and ran a pre-launch scan before announcing. Zero criticals at launch — that's the only reason we slept that night.</a:t>
            </a:r>
          </a:p>
          <a:p>
            <a:pPr algn="l">
              <a:lnSpc>
                <a:spcPct val="100000"/>
              </a:lnSpc>
            </a:pPr>
            <a:r>
              <a:rPr sz="1300" b="1" spc="40">
                <a:solidFill>
                  <a:srgbClr val="86868B"/>
                </a:solidFill>
                <a:latin typeface="SF Pro Text"/>
              </a:rPr>
              <a:t>Anya Petrova — Founder, Northwind 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Start free. Scale when it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Start free for 14 days — every suite included. Scale when it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84048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FREE TRIAL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/14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Every suite, 5 generations. No card.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1 seat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84048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STARTER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Ship one polished site or small MVP per month.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75 credits · 2 seats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703320"/>
            <a:ext cx="251460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703320"/>
            <a:ext cx="2514600" cy="109728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Build a full product or agency 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350 credits · 10 seats · production deploy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840480"/>
            <a:ext cx="25146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4133087"/>
            <a:ext cx="1965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86868B"/>
                </a:solidFill>
                <a:latin typeface="SF Pro Text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407407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$299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4608575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A3A3C"/>
                </a:solidFill>
                <a:latin typeface="SF Pro Text"/>
              </a:rPr>
              <a:t>/month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5047487"/>
            <a:ext cx="1965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3A3A3C"/>
                </a:solidFill>
                <a:latin typeface="SF Pro Text"/>
              </a:rPr>
              <a:t>Flow + Pentest + Search, unlimited seats.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5687567"/>
            <a:ext cx="1965960" cy="10972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5797295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D1D1F"/>
                </a:solidFill>
                <a:latin typeface="SF Pro Text"/>
              </a:rPr>
              <a:t>1,200 credits · priority · custom integrations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TEAM &amp;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737360"/>
            <a:ext cx="1045433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4000" b="1" spc="-100">
                <a:solidFill>
                  <a:srgbClr val="1D1D1F"/>
                </a:solidFill>
                <a:latin typeface="SF Pro Display"/>
              </a:rPr>
              <a:t>A real company. Built for the launch moment.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840480"/>
            <a:ext cx="49377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4069080"/>
            <a:ext cx="640080" cy="640080"/>
          </a:xfrm>
          <a:prstGeom prst="ellipse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408736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F Pro Display"/>
              </a:rPr>
              <a:t>BV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0507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Bhargav Vyas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61104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20">
                <a:solidFill>
                  <a:srgbClr val="86868B"/>
                </a:solidFill>
                <a:latin typeface="SF Pro Text"/>
              </a:rPr>
              <a:t>CO-FOUNDER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48056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A3A3C"/>
                </a:solidFill>
                <a:latin typeface="SF Pro Text"/>
              </a:rPr>
              <a:t>Product direction and go-to-market. The best launch tool ships and secures in the same motion.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74920"/>
            <a:ext cx="49377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5303520"/>
            <a:ext cx="640080" cy="640080"/>
          </a:xfrm>
          <a:prstGeom prst="ellipse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2180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F Pro Display"/>
              </a:rPr>
              <a:t>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39512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-30">
                <a:solidFill>
                  <a:srgbClr val="1D1D1F"/>
                </a:solidFill>
                <a:latin typeface="SF Pro Display"/>
              </a:rPr>
              <a:t>Meet Savaliya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495544"/>
            <a:ext cx="3566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20">
                <a:solidFill>
                  <a:srgbClr val="86868B"/>
                </a:solidFill>
                <a:latin typeface="SF Pro Text"/>
              </a:rPr>
              <a:t>CO-FOUNDER &amp; 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715000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A3A3C"/>
                </a:solidFill>
                <a:latin typeface="SF Pro Text"/>
              </a:rPr>
              <a:t>Engineering and the agent orchestration behind Flow, Pentest, and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840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86868B"/>
                </a:solidFill>
                <a:latin typeface="SF Pro Text"/>
              </a:rPr>
              <a:t>VALUES</a:t>
            </a:r>
          </a:p>
        </p:txBody>
      </p:sp>
      <p:sp>
        <p:nvSpPr>
          <p:cNvPr id="17" name="Oval 16"/>
          <p:cNvSpPr/>
          <p:nvPr/>
        </p:nvSpPr>
        <p:spPr>
          <a:xfrm>
            <a:off x="6080760" y="4379976"/>
            <a:ext cx="118872" cy="118872"/>
          </a:xfrm>
          <a:prstGeom prst="ellipse">
            <a:avLst/>
          </a:prstGeom>
          <a:solidFill>
            <a:srgbClr val="91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34340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Ship to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61772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Outcomes, not demos.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4379976"/>
            <a:ext cx="118872" cy="118872"/>
          </a:xfrm>
          <a:prstGeom prst="ellipse">
            <a:avLst/>
          </a:prstGeom>
          <a:solidFill>
            <a:srgbClr val="12B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34340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AI as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61772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Execution layer, not a chatbot.</a:t>
            </a:r>
          </a:p>
        </p:txBody>
      </p:sp>
      <p:sp>
        <p:nvSpPr>
          <p:cNvPr id="23" name="Oval 22"/>
          <p:cNvSpPr/>
          <p:nvPr/>
        </p:nvSpPr>
        <p:spPr>
          <a:xfrm>
            <a:off x="6080760" y="5248656"/>
            <a:ext cx="118872" cy="118872"/>
          </a:xfrm>
          <a:prstGeom prst="ellipse">
            <a:avLst/>
          </a:prstGeom>
          <a:solidFill>
            <a:srgbClr val="2F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21208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Trust by default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4864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Your data stays yours.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5248656"/>
            <a:ext cx="118872" cy="118872"/>
          </a:xfrm>
          <a:prstGeom prst="ellipse">
            <a:avLst/>
          </a:prstGeom>
          <a:solidFill>
            <a:srgbClr val="820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5212080"/>
            <a:ext cx="19659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-20">
                <a:solidFill>
                  <a:srgbClr val="1D1D1F"/>
                </a:solidFill>
                <a:latin typeface="SF Pro Display"/>
              </a:rPr>
              <a:t>Scale from day 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4864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A3A3C"/>
                </a:solidFill>
                <a:latin typeface="SF Pro Text"/>
              </a:rPr>
              <a:t>Enterprise patterns from the start.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60">
                <a:solidFill>
                  <a:srgbClr val="A1A1A6"/>
                </a:solidFill>
                <a:latin typeface="SF Pro Text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45433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5400" b="1" spc="-140">
                <a:solidFill>
                  <a:srgbClr val="F5F5F7"/>
                </a:solidFill>
                <a:latin typeface="SF Pro Display"/>
              </a:rPr>
              <a:t>The model is the commodity.</a:t>
            </a:r>
          </a:p>
          <a:p>
            <a:pPr algn="l">
              <a:lnSpc>
                <a:spcPct val="106000"/>
              </a:lnSpc>
            </a:pPr>
            <a:r>
              <a:rPr sz="5400" b="1" spc="-140">
                <a:solidFill>
                  <a:srgbClr val="F5F5F7"/>
                </a:solidFill>
                <a:latin typeface="SF Pro Display"/>
              </a:rPr>
              <a:t>Execution is the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160520"/>
            <a:ext cx="2560320" cy="128016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8412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A1A1A6"/>
                </a:solidFill>
                <a:latin typeface="SF Pro Text"/>
              </a:rPr>
              <a:t>EKAM AI is the execution layer — turn a prompt into a live, scanned, shippable launch in an afternoon, not a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A1A1A6"/>
                </a:solidFill>
                <a:latin typeface="SF Pro Text"/>
              </a:rPr>
              <a:t>EKAM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A1A1A6"/>
                </a:solidFill>
                <a:latin typeface="SF Pro Text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148840"/>
            <a:ext cx="104543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4000"/>
              </a:lnSpc>
            </a:pPr>
            <a:r>
              <a:rPr sz="6000" b="1" spc="-160">
                <a:solidFill>
                  <a:srgbClr val="1D1D1F"/>
                </a:solidFill>
                <a:latin typeface="SF Pro Display"/>
              </a:rPr>
              <a:t>Launch with EKAM AI.</a:t>
            </a:r>
          </a:p>
        </p:txBody>
      </p:sp>
      <p:sp>
        <p:nvSpPr>
          <p:cNvPr id="3" name="Rectangle 2"/>
          <p:cNvSpPr/>
          <p:nvPr/>
        </p:nvSpPr>
        <p:spPr>
          <a:xfrm>
            <a:off x="4724247" y="3520440"/>
            <a:ext cx="2743200" cy="128016"/>
          </a:xfrm>
          <a:prstGeom prst="rect">
            <a:avLst/>
          </a:prstGeom>
          <a:gradFill>
            <a:gsLst>
              <a:gs pos="0">
                <a:srgbClr val="91e500"/>
              </a:gs>
              <a:gs pos="25000">
                <a:srgbClr val="12bcff"/>
              </a:gs>
              <a:gs pos="50000">
                <a:srgbClr val="2f44ff"/>
              </a:gs>
              <a:gs pos="75000">
                <a:srgbClr val="8200df"/>
              </a:gs>
              <a:gs pos="100000">
                <a:srgbClr val="df006c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3A3A3C"/>
                </a:solidFill>
                <a:latin typeface="SF Pro Text"/>
              </a:rPr>
              <a:t>Start free — no card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10454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60">
                <a:solidFill>
                  <a:srgbClr val="1D1D1F"/>
                </a:solidFill>
                <a:latin typeface="SF Pro Text"/>
              </a:rPr>
              <a:t>ekam.ai  ·  ekamai.in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454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spc="100">
                <a:solidFill>
                  <a:srgbClr val="86868B"/>
                </a:solidFill>
                <a:latin typeface="SF Pro Text"/>
              </a:rPr>
              <a:t>EKAM INNOVATIONS LLP · GIFT City, Gandhinagar,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3737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86868B"/>
                </a:solidFill>
                <a:latin typeface="SF Pro Text"/>
              </a:rPr>
              <a:t>EKAM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25735" y="64373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20">
                <a:solidFill>
                  <a:srgbClr val="86868B"/>
                </a:solidFill>
                <a:latin typeface="SF Pro Text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